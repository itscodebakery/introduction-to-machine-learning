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sldIdLst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95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4" userDrawn="1">
          <p15:clr>
            <a:srgbClr val="A4A3A4"/>
          </p15:clr>
        </p15:guide>
        <p15:guide id="2" pos="2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4"/>
        <p:guide pos="2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71494" y="3759"/>
            <a:ext cx="504901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sng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010" y="6230358"/>
            <a:ext cx="1341168" cy="4939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81800"/>
            <a:ext cx="12191999" cy="761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5753" y="3759"/>
            <a:ext cx="546049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473" y="2652102"/>
            <a:ext cx="10263505" cy="339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sng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5.jpeg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Relationship Id="rId3" Type="http://schemas.openxmlformats.org/officeDocument/2006/relationships/image" Target="../media/image61.jpeg"/><Relationship Id="rId2" Type="http://schemas.openxmlformats.org/officeDocument/2006/relationships/image" Target="../media/image11.jpe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dirty="0"/>
              <a:t>Machine Learning: Overview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/>
              <a:t>Syed Shayan Ali Shah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50391" y="2662555"/>
            <a:ext cx="1629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1-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ML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Overview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50665" y="2275713"/>
          <a:ext cx="8004809" cy="977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0509"/>
              </a:tblGrid>
              <a:tr h="461645"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Course</a:t>
                      </a:r>
                      <a:r>
                        <a:rPr sz="1800" spc="-6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2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Overview,</a:t>
                      </a:r>
                      <a:r>
                        <a:rPr sz="1800" spc="-6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notation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Supervised</a:t>
                      </a:r>
                      <a:r>
                        <a:rPr sz="1800" spc="-6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Learning</a:t>
                      </a:r>
                      <a:r>
                        <a:rPr sz="1800" spc="-3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Setup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975" y="3789933"/>
            <a:ext cx="6717665" cy="147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1,2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30200" indent="-28702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330200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1: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Intro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Python,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Setting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up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Environment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0579" y="2662555"/>
            <a:ext cx="16706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2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Classification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1793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3053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Classification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6405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KNN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Evaluation</a:t>
                      </a:r>
                      <a:r>
                        <a:rPr sz="1800" spc="-4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Metrics,</a:t>
                      </a:r>
                      <a:r>
                        <a:rPr sz="1800" spc="-3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Curse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800" spc="-4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Dimensionality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Multi-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class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Classification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975" y="3789933"/>
            <a:ext cx="5421630" cy="1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3,4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2: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KNN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(Using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Images)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Homework</a:t>
            </a:r>
            <a:r>
              <a:rPr sz="1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1A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40358" y="2662555"/>
            <a:ext cx="14490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3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Regression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2533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3053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Linear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Regression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Gradient</a:t>
                      </a:r>
                      <a:r>
                        <a:rPr sz="1800" spc="-4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Descent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Multi-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variate</a:t>
                      </a:r>
                      <a:r>
                        <a:rPr sz="1800" spc="-7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Regression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68580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Polynomial</a:t>
                      </a: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Regression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68580">
                        <a:lnSpc>
                          <a:spcPts val="2060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Bias-Variance</a:t>
                      </a:r>
                      <a:r>
                        <a:rPr sz="1800" spc="-3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3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Trade-</a:t>
                      </a:r>
                      <a:r>
                        <a:rPr sz="1800" spc="-2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off,</a:t>
                      </a:r>
                      <a:r>
                        <a:rPr sz="1800" spc="-3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Regularization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975" y="4158742"/>
            <a:ext cx="3983354" cy="180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4,5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3: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Regression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Homework</a:t>
            </a:r>
            <a:r>
              <a:rPr sz="1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1B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01902" y="2525395"/>
            <a:ext cx="113030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1206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4</a:t>
            </a:r>
            <a:r>
              <a:rPr sz="2000" spc="-1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Logistic Regression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19550" y="1332357"/>
            <a:ext cx="7213600" cy="456565"/>
            <a:chOff x="4019550" y="1332357"/>
            <a:chExt cx="7213600" cy="456565"/>
          </a:xfrm>
        </p:grpSpPr>
        <p:sp>
          <p:nvSpPr>
            <p:cNvPr id="8" name="object 8"/>
            <p:cNvSpPr/>
            <p:nvPr/>
          </p:nvSpPr>
          <p:spPr>
            <a:xfrm>
              <a:off x="4038600" y="1332357"/>
              <a:ext cx="0" cy="456565"/>
            </a:xfrm>
            <a:custGeom>
              <a:avLst/>
              <a:gdLst/>
              <a:ahLst/>
              <a:cxnLst/>
              <a:rect l="l" t="t" r="r" b="b"/>
              <a:pathLst>
                <a:path h="456564">
                  <a:moveTo>
                    <a:pt x="0" y="0"/>
                  </a:moveTo>
                  <a:lnTo>
                    <a:pt x="0" y="45605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226800" y="1332357"/>
              <a:ext cx="0" cy="456565"/>
            </a:xfrm>
            <a:custGeom>
              <a:avLst/>
              <a:gdLst/>
              <a:ahLst/>
              <a:cxnLst/>
              <a:rect l="l" t="t" r="r" b="b"/>
              <a:pathLst>
                <a:path h="456564">
                  <a:moveTo>
                    <a:pt x="0" y="0"/>
                  </a:moveTo>
                  <a:lnTo>
                    <a:pt x="0" y="45605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19550" y="1351407"/>
              <a:ext cx="7213600" cy="0"/>
            </a:xfrm>
            <a:custGeom>
              <a:avLst/>
              <a:gdLst/>
              <a:ahLst/>
              <a:cxnLst/>
              <a:rect l="l" t="t" r="r" b="b"/>
              <a:pathLst>
                <a:path w="7213600">
                  <a:moveTo>
                    <a:pt x="0" y="0"/>
                  </a:moveTo>
                  <a:lnTo>
                    <a:pt x="72136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19550" y="1782064"/>
              <a:ext cx="7213600" cy="0"/>
            </a:xfrm>
            <a:custGeom>
              <a:avLst/>
              <a:gdLst/>
              <a:ahLst/>
              <a:cxnLst/>
              <a:rect l="l" t="t" r="r" b="b"/>
              <a:pathLst>
                <a:path w="7213600">
                  <a:moveTo>
                    <a:pt x="0" y="0"/>
                  </a:moveTo>
                  <a:lnTo>
                    <a:pt x="72136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057650" y="1325371"/>
            <a:ext cx="716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Logistic</a:t>
            </a:r>
            <a:r>
              <a:rPr sz="1800" spc="-8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Regression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3182" y="4158742"/>
            <a:ext cx="4725670" cy="152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6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4: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Logistic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Regression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21130" y="2525395"/>
            <a:ext cx="129159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5405" marR="5080" indent="-5334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5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–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Bayesian Framework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3053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Bayes</a:t>
                      </a:r>
                      <a:r>
                        <a:rPr sz="1800" spc="-9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Theorem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Naive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Bayes</a:t>
                      </a:r>
                      <a:r>
                        <a:rPr sz="1800" spc="-5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Classification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3182" y="4158742"/>
            <a:ext cx="4973320" cy="207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0760" algn="l"/>
              </a:tabLst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7,8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5080" indent="286385">
              <a:lnSpc>
                <a:spcPct val="100000"/>
              </a:lnSpc>
              <a:spcBef>
                <a:spcPts val="112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5: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Naïve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Bayes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Classifier </a:t>
            </a:r>
            <a:r>
              <a:rPr sz="1800" dirty="0">
                <a:latin typeface="Calibri" panose="020F0502020204030204"/>
                <a:cs typeface="Calibri" panose="020F0502020204030204"/>
              </a:rPr>
              <a:t>(may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merged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4)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Homework</a:t>
            </a:r>
            <a:r>
              <a:rPr sz="1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0579" y="2388235"/>
            <a:ext cx="1672589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indent="-3810" algn="ctr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6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–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Perceptron,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SVM</a:t>
            </a:r>
            <a:r>
              <a:rPr sz="2000" spc="-2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Neural Network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1347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3053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Perceptron</a:t>
                      </a:r>
                      <a:r>
                        <a:rPr sz="1800" spc="-8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Algorithm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2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SVM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Neural</a:t>
                      </a:r>
                      <a:r>
                        <a:rPr sz="1800" spc="-8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Networks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3182" y="4824679"/>
            <a:ext cx="4541520" cy="11353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Programming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Assignment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6: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Neural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Networks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Homework</a:t>
            </a:r>
            <a:r>
              <a:rPr sz="1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1877" y="4158742"/>
            <a:ext cx="1005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9,10,11,12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3182" y="4158742"/>
            <a:ext cx="718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55597" y="2662555"/>
            <a:ext cx="14204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7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–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Clustering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3053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Unsupervised</a:t>
                      </a:r>
                      <a:r>
                        <a:rPr sz="1800" spc="-7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Learning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Overview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Clustering</a:t>
                      </a:r>
                      <a:r>
                        <a:rPr sz="1800" spc="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(k-means)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3182" y="4824679"/>
            <a:ext cx="1504315" cy="8610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Components: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Homework</a:t>
            </a:r>
            <a:r>
              <a:rPr sz="1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17084" y="4158742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13,14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3182" y="4158742"/>
            <a:ext cx="718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Weeks: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013585" cy="6858000"/>
            </a:xfrm>
            <a:custGeom>
              <a:avLst/>
              <a:gdLst/>
              <a:ahLst/>
              <a:cxnLst/>
              <a:rect l="l" t="t" r="r" b="b"/>
              <a:pathLst>
                <a:path w="2013585" h="6858000">
                  <a:moveTo>
                    <a:pt x="20132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013204" y="6858000"/>
                  </a:lnTo>
                  <a:lnTo>
                    <a:pt x="2013204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8393" y="1410080"/>
              <a:ext cx="2917507" cy="29083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83613" y="2525395"/>
            <a:ext cx="116395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6700" marR="5080" indent="-25463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8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–</a:t>
            </a:r>
            <a:r>
              <a:rPr sz="2000" spc="-5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 Light" panose="020F0302020204030204"/>
                <a:cs typeface="Calibri Light" panose="020F0302020204030204"/>
              </a:rPr>
              <a:t>Further Topics</a:t>
            </a:r>
            <a:endParaRPr sz="2000">
              <a:latin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19550" y="1332357"/>
          <a:ext cx="7302500" cy="95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8200"/>
              </a:tblGrid>
              <a:tr h="493395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Feature</a:t>
                      </a:r>
                      <a:r>
                        <a:rPr sz="1800" spc="-8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Engineering,</a:t>
                      </a:r>
                      <a:r>
                        <a:rPr sz="1800" spc="-7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Dimensionality</a:t>
                      </a:r>
                      <a:r>
                        <a:rPr sz="1800" spc="-6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Reduction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8470">
                <a:tc>
                  <a:txBody>
                    <a:bodyPr/>
                    <a:lstStyle/>
                    <a:p>
                      <a:pPr marL="68580">
                        <a:lnSpc>
                          <a:spcPts val="2055"/>
                        </a:lnSpc>
                      </a:pP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Kernel</a:t>
                      </a:r>
                      <a:r>
                        <a:rPr sz="1800" spc="-6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Methods</a:t>
                      </a:r>
                      <a:r>
                        <a:rPr sz="1800" spc="-5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and</a:t>
                      </a:r>
                      <a:r>
                        <a:rPr sz="1800" spc="-5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Gaussian</a:t>
                      </a:r>
                      <a:r>
                        <a:rPr sz="1800" spc="-75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800" spc="-10" dirty="0">
                          <a:solidFill>
                            <a:srgbClr val="0000FF"/>
                          </a:solidFill>
                          <a:latin typeface="Calibri" panose="020F0502020204030204"/>
                          <a:cs typeface="Calibri" panose="020F0502020204030204"/>
                        </a:rPr>
                        <a:t>Process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669" rIns="0" bIns="0" rtlCol="0">
            <a:spAutoFit/>
          </a:bodyPr>
          <a:lstStyle/>
          <a:p>
            <a:pPr marL="241681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solidFill>
                  <a:srgbClr val="000000"/>
                </a:solidFill>
                <a:latin typeface="Calibri Light" panose="020F0302020204030204"/>
                <a:cs typeface="Calibri Light" panose="020F0302020204030204"/>
              </a:rPr>
              <a:t>Modules</a:t>
            </a:r>
            <a:endParaRPr sz="4400">
              <a:latin typeface="Calibri Light" panose="020F0302020204030204"/>
              <a:cs typeface="Calibri Light" panose="020F03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580" y="918972"/>
            <a:ext cx="2129028" cy="30281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1551" y="958596"/>
            <a:ext cx="2269236" cy="30038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7132" y="961644"/>
            <a:ext cx="2074164" cy="30830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1628" y="949452"/>
            <a:ext cx="2072639" cy="31165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06583" y="963167"/>
            <a:ext cx="2072639" cy="3110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6939" y="4146041"/>
            <a:ext cx="10317480" cy="247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(CB)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Pattern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Recognition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and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Machine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Learning,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Christopher</a:t>
            </a:r>
            <a:r>
              <a:rPr sz="20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M.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Bishop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(KM)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Machine</a:t>
            </a:r>
            <a:r>
              <a:rPr sz="20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Learning: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Probabilistic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Perspective,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Kevin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Murphy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(TM)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Machine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Learning,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Tom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Mitchell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299085" marR="69977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(HTF)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Elements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Statistical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Learning: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Data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mining,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Inference,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and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Prediction,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by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Hastie,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Tibshirani,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Friedman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(DM)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Information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Theory,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Inference,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and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Learning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Algorithms,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David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Mackay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Lecture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Notes/Slides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will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be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shared.</a:t>
            </a:r>
            <a:endParaRPr sz="2000" spc="-10" dirty="0">
              <a:latin typeface="Segoe Print" panose="02000600000000000000"/>
              <a:cs typeface="Segoe Print" panose="0200060000000000000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lang="en-US" altLang="" sz="2000">
                <a:latin typeface="Segoe Print" panose="02000600000000000000"/>
                <a:cs typeface="Segoe Print" panose="02000600000000000000"/>
              </a:rPr>
              <a:t>Slides Credit (LUMS)</a:t>
            </a:r>
            <a:endParaRPr lang="en-US" altLang=""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32969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Suggested</a:t>
            </a:r>
            <a:r>
              <a:rPr spc="-125" dirty="0"/>
              <a:t> </a:t>
            </a:r>
            <a:r>
              <a:rPr spc="-20" dirty="0"/>
              <a:t>Reference</a:t>
            </a:r>
            <a:r>
              <a:rPr spc="-160" dirty="0"/>
              <a:t> </a:t>
            </a:r>
            <a:r>
              <a:rPr spc="-10" dirty="0"/>
              <a:t>Books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09640" y="1752555"/>
            <a:ext cx="10800000" cy="7200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35"/>
              </a:spcBef>
            </a:pPr>
            <a:r>
              <a:rPr sz="3200" b="0" i="1" spc="-10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“As</a:t>
            </a:r>
            <a:r>
              <a:rPr sz="3200" b="0" i="1" spc="-4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to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methods,</a:t>
            </a:r>
            <a:r>
              <a:rPr sz="3200" b="0" i="1" spc="-3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there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may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be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a</a:t>
            </a:r>
            <a:r>
              <a:rPr sz="3200" b="0" i="1" spc="-4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million</a:t>
            </a:r>
            <a:r>
              <a:rPr sz="3200" b="0" i="1" spc="-5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and</a:t>
            </a:r>
            <a:r>
              <a:rPr sz="3200" b="0" i="1" spc="-3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spc="-2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then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some,</a:t>
            </a:r>
            <a:r>
              <a:rPr sz="3200" b="0" i="1" spc="-8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but</a:t>
            </a:r>
            <a:r>
              <a:rPr sz="3200" b="0" i="1" spc="-10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principles</a:t>
            </a:r>
            <a:r>
              <a:rPr sz="3200" b="0" i="1" spc="-9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are</a:t>
            </a:r>
            <a:r>
              <a:rPr sz="3200" b="0" i="1" spc="-8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few.</a:t>
            </a:r>
            <a:r>
              <a:rPr sz="3200" b="0" i="1" spc="-8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The</a:t>
            </a:r>
            <a:r>
              <a:rPr sz="3200" b="0" i="1" spc="-8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man</a:t>
            </a:r>
            <a:r>
              <a:rPr sz="3200" b="0" i="1" spc="-8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who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grasps</a:t>
            </a:r>
            <a:r>
              <a:rPr sz="3200" b="0" i="1" spc="-8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principles</a:t>
            </a:r>
            <a:r>
              <a:rPr sz="3200" b="0" i="1" spc="-90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can</a:t>
            </a:r>
            <a:r>
              <a:rPr sz="3200" b="0" i="1" spc="-8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successfully</a:t>
            </a:r>
            <a:r>
              <a:rPr sz="3200" b="0" i="1" spc="-5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select</a:t>
            </a:r>
            <a:r>
              <a:rPr sz="3200" b="0" i="1" spc="-7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his</a:t>
            </a:r>
            <a:r>
              <a:rPr sz="3200" b="0" i="1" spc="-10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 </a:t>
            </a:r>
            <a:r>
              <a:rPr sz="3200" b="0" i="1" spc="-2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own </a:t>
            </a:r>
            <a:r>
              <a:rPr sz="3200" b="0" i="1" spc="5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methods</a:t>
            </a:r>
            <a:r>
              <a:rPr sz="3200" b="0" i="1" spc="-53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.</a:t>
            </a:r>
            <a:r>
              <a:rPr sz="3200" b="0" i="1" spc="55" dirty="0">
                <a:solidFill>
                  <a:srgbClr val="0000FF"/>
                </a:solidFill>
                <a:latin typeface="Segoe UI" panose="020B0502040204020203"/>
                <a:cs typeface="Segoe UI" panose="020B0502040204020203"/>
              </a:rPr>
              <a:t>”</a:t>
            </a:r>
            <a:endParaRPr sz="3200">
              <a:latin typeface="Segoe UI" panose="020B0502040204020203"/>
              <a:cs typeface="Segoe UI" panose="020B050204020402020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2534" y="4235577"/>
            <a:ext cx="26422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Segoe UI" panose="020B0502040204020203"/>
                <a:cs typeface="Segoe UI" panose="020B0502040204020203"/>
              </a:rPr>
              <a:t>Ralph</a:t>
            </a:r>
            <a:r>
              <a:rPr sz="2000" b="1" spc="-100" dirty="0">
                <a:latin typeface="Segoe UI" panose="020B0502040204020203"/>
                <a:cs typeface="Segoe UI" panose="020B0502040204020203"/>
              </a:rPr>
              <a:t> </a:t>
            </a:r>
            <a:r>
              <a:rPr sz="2000" b="1" dirty="0">
                <a:latin typeface="Segoe UI" panose="020B0502040204020203"/>
                <a:cs typeface="Segoe UI" panose="020B0502040204020203"/>
              </a:rPr>
              <a:t>Waldo</a:t>
            </a:r>
            <a:r>
              <a:rPr sz="2000" b="1" spc="-75" dirty="0">
                <a:latin typeface="Segoe UI" panose="020B0502040204020203"/>
                <a:cs typeface="Segoe UI" panose="020B0502040204020203"/>
              </a:rPr>
              <a:t> </a:t>
            </a:r>
            <a:r>
              <a:rPr sz="2000" b="1" spc="-10" dirty="0">
                <a:latin typeface="Segoe UI" panose="020B0502040204020203"/>
                <a:cs typeface="Segoe UI" panose="020B0502040204020203"/>
              </a:rPr>
              <a:t>Emerson</a:t>
            </a:r>
            <a:endParaRPr sz="2000">
              <a:latin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155" dirty="0"/>
              <a:t> </a:t>
            </a:r>
            <a:r>
              <a:rPr dirty="0"/>
              <a:t>Learning:</a:t>
            </a:r>
            <a:r>
              <a:rPr spc="-150" dirty="0"/>
              <a:t> </a:t>
            </a:r>
            <a:r>
              <a:rPr spc="-10" dirty="0"/>
              <a:t>Overview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912614" y="2986277"/>
            <a:ext cx="2819400" cy="1981200"/>
          </a:xfrm>
          <a:custGeom>
            <a:avLst/>
            <a:gdLst/>
            <a:ahLst/>
            <a:cxnLst/>
            <a:rect l="l" t="t" r="r" b="b"/>
            <a:pathLst>
              <a:path w="2819400" h="1981200">
                <a:moveTo>
                  <a:pt x="2489200" y="0"/>
                </a:moveTo>
                <a:lnTo>
                  <a:pt x="330200" y="0"/>
                </a:lnTo>
                <a:lnTo>
                  <a:pt x="281403" y="3580"/>
                </a:lnTo>
                <a:lnTo>
                  <a:pt x="234831" y="13979"/>
                </a:lnTo>
                <a:lnTo>
                  <a:pt x="190992" y="30688"/>
                </a:lnTo>
                <a:lnTo>
                  <a:pt x="150399" y="53195"/>
                </a:lnTo>
                <a:lnTo>
                  <a:pt x="113561" y="80989"/>
                </a:lnTo>
                <a:lnTo>
                  <a:pt x="80989" y="113561"/>
                </a:lnTo>
                <a:lnTo>
                  <a:pt x="53195" y="150399"/>
                </a:lnTo>
                <a:lnTo>
                  <a:pt x="30688" y="190992"/>
                </a:lnTo>
                <a:lnTo>
                  <a:pt x="13979" y="234831"/>
                </a:lnTo>
                <a:lnTo>
                  <a:pt x="3580" y="281403"/>
                </a:lnTo>
                <a:lnTo>
                  <a:pt x="0" y="330200"/>
                </a:lnTo>
                <a:lnTo>
                  <a:pt x="0" y="1651000"/>
                </a:lnTo>
                <a:lnTo>
                  <a:pt x="3580" y="1699796"/>
                </a:lnTo>
                <a:lnTo>
                  <a:pt x="13979" y="1746368"/>
                </a:lnTo>
                <a:lnTo>
                  <a:pt x="30688" y="1790207"/>
                </a:lnTo>
                <a:lnTo>
                  <a:pt x="53195" y="1830800"/>
                </a:lnTo>
                <a:lnTo>
                  <a:pt x="80989" y="1867638"/>
                </a:lnTo>
                <a:lnTo>
                  <a:pt x="113561" y="1900210"/>
                </a:lnTo>
                <a:lnTo>
                  <a:pt x="150399" y="1928004"/>
                </a:lnTo>
                <a:lnTo>
                  <a:pt x="190992" y="1950511"/>
                </a:lnTo>
                <a:lnTo>
                  <a:pt x="234831" y="1967220"/>
                </a:lnTo>
                <a:lnTo>
                  <a:pt x="281403" y="1977619"/>
                </a:lnTo>
                <a:lnTo>
                  <a:pt x="330200" y="1981200"/>
                </a:lnTo>
                <a:lnTo>
                  <a:pt x="2489200" y="1981200"/>
                </a:lnTo>
                <a:lnTo>
                  <a:pt x="2537996" y="1977619"/>
                </a:lnTo>
                <a:lnTo>
                  <a:pt x="2584568" y="1967220"/>
                </a:lnTo>
                <a:lnTo>
                  <a:pt x="2628407" y="1950511"/>
                </a:lnTo>
                <a:lnTo>
                  <a:pt x="2669000" y="1928004"/>
                </a:lnTo>
                <a:lnTo>
                  <a:pt x="2705838" y="1900210"/>
                </a:lnTo>
                <a:lnTo>
                  <a:pt x="2738410" y="1867638"/>
                </a:lnTo>
                <a:lnTo>
                  <a:pt x="2766204" y="1830800"/>
                </a:lnTo>
                <a:lnTo>
                  <a:pt x="2788711" y="1790207"/>
                </a:lnTo>
                <a:lnTo>
                  <a:pt x="2805420" y="1746368"/>
                </a:lnTo>
                <a:lnTo>
                  <a:pt x="2815819" y="1699796"/>
                </a:lnTo>
                <a:lnTo>
                  <a:pt x="2819400" y="1651000"/>
                </a:lnTo>
                <a:lnTo>
                  <a:pt x="2819400" y="330200"/>
                </a:lnTo>
                <a:lnTo>
                  <a:pt x="2815819" y="281403"/>
                </a:lnTo>
                <a:lnTo>
                  <a:pt x="2805420" y="234831"/>
                </a:lnTo>
                <a:lnTo>
                  <a:pt x="2788711" y="190992"/>
                </a:lnTo>
                <a:lnTo>
                  <a:pt x="2766204" y="150399"/>
                </a:lnTo>
                <a:lnTo>
                  <a:pt x="2738410" y="113561"/>
                </a:lnTo>
                <a:lnTo>
                  <a:pt x="2705838" y="80989"/>
                </a:lnTo>
                <a:lnTo>
                  <a:pt x="2669000" y="53195"/>
                </a:lnTo>
                <a:lnTo>
                  <a:pt x="2628407" y="30688"/>
                </a:lnTo>
                <a:lnTo>
                  <a:pt x="2584568" y="13979"/>
                </a:lnTo>
                <a:lnTo>
                  <a:pt x="2537996" y="3580"/>
                </a:lnTo>
                <a:lnTo>
                  <a:pt x="2489200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10529" y="3710127"/>
            <a:ext cx="1499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Algorithm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40543" y="2726512"/>
            <a:ext cx="982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AF50"/>
                </a:solidFill>
                <a:latin typeface="Calibri" panose="020F0502020204030204"/>
                <a:cs typeface="Calibri" panose="020F0502020204030204"/>
              </a:rPr>
              <a:t>Model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8431" y="2993135"/>
            <a:ext cx="4352290" cy="2891790"/>
            <a:chOff x="408431" y="2993135"/>
            <a:chExt cx="4352290" cy="2891790"/>
          </a:xfrm>
        </p:grpSpPr>
        <p:sp>
          <p:nvSpPr>
            <p:cNvPr id="7" name="object 7"/>
            <p:cNvSpPr/>
            <p:nvPr/>
          </p:nvSpPr>
          <p:spPr>
            <a:xfrm>
              <a:off x="3464814" y="3947921"/>
              <a:ext cx="1295400" cy="219710"/>
            </a:xfrm>
            <a:custGeom>
              <a:avLst/>
              <a:gdLst/>
              <a:ahLst/>
              <a:cxnLst/>
              <a:rect l="l" t="t" r="r" b="b"/>
              <a:pathLst>
                <a:path w="1295400" h="219710">
                  <a:moveTo>
                    <a:pt x="1185672" y="0"/>
                  </a:moveTo>
                  <a:lnTo>
                    <a:pt x="1185672" y="54863"/>
                  </a:lnTo>
                  <a:lnTo>
                    <a:pt x="0" y="54863"/>
                  </a:lnTo>
                  <a:lnTo>
                    <a:pt x="0" y="164591"/>
                  </a:lnTo>
                  <a:lnTo>
                    <a:pt x="1185672" y="164591"/>
                  </a:lnTo>
                  <a:lnTo>
                    <a:pt x="1185672" y="219455"/>
                  </a:lnTo>
                  <a:lnTo>
                    <a:pt x="1295400" y="109727"/>
                  </a:lnTo>
                  <a:lnTo>
                    <a:pt x="11856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55876" y="5591555"/>
              <a:ext cx="161925" cy="287020"/>
            </a:xfrm>
            <a:custGeom>
              <a:avLst/>
              <a:gdLst/>
              <a:ahLst/>
              <a:cxnLst/>
              <a:rect l="l" t="t" r="r" b="b"/>
              <a:pathLst>
                <a:path w="161925" h="287020">
                  <a:moveTo>
                    <a:pt x="121157" y="0"/>
                  </a:moveTo>
                  <a:lnTo>
                    <a:pt x="40386" y="0"/>
                  </a:lnTo>
                  <a:lnTo>
                    <a:pt x="40386" y="205740"/>
                  </a:lnTo>
                  <a:lnTo>
                    <a:pt x="0" y="205740"/>
                  </a:lnTo>
                  <a:lnTo>
                    <a:pt x="80772" y="286512"/>
                  </a:lnTo>
                  <a:lnTo>
                    <a:pt x="161544" y="205740"/>
                  </a:lnTo>
                  <a:lnTo>
                    <a:pt x="121157" y="205740"/>
                  </a:lnTo>
                  <a:lnTo>
                    <a:pt x="121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55876" y="5591555"/>
              <a:ext cx="161925" cy="287020"/>
            </a:xfrm>
            <a:custGeom>
              <a:avLst/>
              <a:gdLst/>
              <a:ahLst/>
              <a:cxnLst/>
              <a:rect l="l" t="t" r="r" b="b"/>
              <a:pathLst>
                <a:path w="161925" h="287020">
                  <a:moveTo>
                    <a:pt x="0" y="205740"/>
                  </a:moveTo>
                  <a:lnTo>
                    <a:pt x="40386" y="205740"/>
                  </a:lnTo>
                  <a:lnTo>
                    <a:pt x="40386" y="0"/>
                  </a:lnTo>
                  <a:lnTo>
                    <a:pt x="121157" y="0"/>
                  </a:lnTo>
                  <a:lnTo>
                    <a:pt x="121157" y="205740"/>
                  </a:lnTo>
                  <a:lnTo>
                    <a:pt x="161544" y="205740"/>
                  </a:lnTo>
                  <a:lnTo>
                    <a:pt x="80772" y="286512"/>
                  </a:lnTo>
                  <a:lnTo>
                    <a:pt x="0" y="2057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431" y="2993135"/>
              <a:ext cx="3186684" cy="261518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884414" y="3867150"/>
            <a:ext cx="1295400" cy="219710"/>
          </a:xfrm>
          <a:custGeom>
            <a:avLst/>
            <a:gdLst/>
            <a:ahLst/>
            <a:cxnLst/>
            <a:rect l="l" t="t" r="r" b="b"/>
            <a:pathLst>
              <a:path w="1295400" h="219710">
                <a:moveTo>
                  <a:pt x="1185671" y="0"/>
                </a:moveTo>
                <a:lnTo>
                  <a:pt x="1185671" y="54863"/>
                </a:lnTo>
                <a:lnTo>
                  <a:pt x="0" y="54863"/>
                </a:lnTo>
                <a:lnTo>
                  <a:pt x="0" y="164592"/>
                </a:lnTo>
                <a:lnTo>
                  <a:pt x="1185671" y="164592"/>
                </a:lnTo>
                <a:lnTo>
                  <a:pt x="1185671" y="219456"/>
                </a:lnTo>
                <a:lnTo>
                  <a:pt x="1295400" y="109727"/>
                </a:lnTo>
                <a:lnTo>
                  <a:pt x="118567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89075" y="5895238"/>
            <a:ext cx="1206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Given</a:t>
            </a:r>
            <a:r>
              <a:rPr sz="20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5" dirty="0">
                <a:latin typeface="Calibri" panose="020F0502020204030204"/>
                <a:cs typeface="Calibri" panose="020F0502020204030204"/>
              </a:rPr>
              <a:t>us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34429" y="5092953"/>
            <a:ext cx="132080" cy="791845"/>
            <a:chOff x="6234429" y="5092953"/>
            <a:chExt cx="132080" cy="791845"/>
          </a:xfrm>
        </p:grpSpPr>
        <p:sp>
          <p:nvSpPr>
            <p:cNvPr id="14" name="object 14"/>
            <p:cNvSpPr/>
            <p:nvPr/>
          </p:nvSpPr>
          <p:spPr>
            <a:xfrm>
              <a:off x="6240779" y="5099303"/>
              <a:ext cx="119380" cy="779145"/>
            </a:xfrm>
            <a:custGeom>
              <a:avLst/>
              <a:gdLst/>
              <a:ahLst/>
              <a:cxnLst/>
              <a:rect l="l" t="t" r="r" b="b"/>
              <a:pathLst>
                <a:path w="119379" h="779145">
                  <a:moveTo>
                    <a:pt x="89154" y="0"/>
                  </a:moveTo>
                  <a:lnTo>
                    <a:pt x="29718" y="0"/>
                  </a:lnTo>
                  <a:lnTo>
                    <a:pt x="29718" y="719328"/>
                  </a:lnTo>
                  <a:lnTo>
                    <a:pt x="0" y="719328"/>
                  </a:lnTo>
                  <a:lnTo>
                    <a:pt x="59436" y="778764"/>
                  </a:lnTo>
                  <a:lnTo>
                    <a:pt x="118872" y="719328"/>
                  </a:lnTo>
                  <a:lnTo>
                    <a:pt x="89154" y="719328"/>
                  </a:lnTo>
                  <a:lnTo>
                    <a:pt x="89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40779" y="5099303"/>
              <a:ext cx="119380" cy="779145"/>
            </a:xfrm>
            <a:custGeom>
              <a:avLst/>
              <a:gdLst/>
              <a:ahLst/>
              <a:cxnLst/>
              <a:rect l="l" t="t" r="r" b="b"/>
              <a:pathLst>
                <a:path w="119379" h="779145">
                  <a:moveTo>
                    <a:pt x="0" y="719328"/>
                  </a:moveTo>
                  <a:lnTo>
                    <a:pt x="29718" y="719328"/>
                  </a:lnTo>
                  <a:lnTo>
                    <a:pt x="29718" y="0"/>
                  </a:lnTo>
                  <a:lnTo>
                    <a:pt x="89154" y="0"/>
                  </a:lnTo>
                  <a:lnTo>
                    <a:pt x="89154" y="719328"/>
                  </a:lnTo>
                  <a:lnTo>
                    <a:pt x="118872" y="719328"/>
                  </a:lnTo>
                  <a:lnTo>
                    <a:pt x="59436" y="778764"/>
                  </a:lnTo>
                  <a:lnTo>
                    <a:pt x="0" y="7193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143627" y="5910783"/>
            <a:ext cx="2192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We</a:t>
            </a:r>
            <a:r>
              <a:rPr sz="20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need</a:t>
            </a:r>
            <a:r>
              <a:rPr sz="20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design</a:t>
            </a:r>
            <a:r>
              <a:rPr sz="20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5" dirty="0">
                <a:latin typeface="Calibri" panose="020F0502020204030204"/>
                <a:cs typeface="Calibri" panose="020F0502020204030204"/>
              </a:rPr>
              <a:t>it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239502" y="4684521"/>
            <a:ext cx="132080" cy="497840"/>
            <a:chOff x="10239502" y="4684521"/>
            <a:chExt cx="132080" cy="497840"/>
          </a:xfrm>
        </p:grpSpPr>
        <p:sp>
          <p:nvSpPr>
            <p:cNvPr id="18" name="object 18"/>
            <p:cNvSpPr/>
            <p:nvPr/>
          </p:nvSpPr>
          <p:spPr>
            <a:xfrm>
              <a:off x="10245852" y="4690871"/>
              <a:ext cx="119380" cy="485140"/>
            </a:xfrm>
            <a:custGeom>
              <a:avLst/>
              <a:gdLst/>
              <a:ahLst/>
              <a:cxnLst/>
              <a:rect l="l" t="t" r="r" b="b"/>
              <a:pathLst>
                <a:path w="119379" h="485139">
                  <a:moveTo>
                    <a:pt x="89153" y="0"/>
                  </a:moveTo>
                  <a:lnTo>
                    <a:pt x="29718" y="0"/>
                  </a:lnTo>
                  <a:lnTo>
                    <a:pt x="29718" y="425195"/>
                  </a:lnTo>
                  <a:lnTo>
                    <a:pt x="0" y="425195"/>
                  </a:lnTo>
                  <a:lnTo>
                    <a:pt x="59436" y="484631"/>
                  </a:lnTo>
                  <a:lnTo>
                    <a:pt x="118872" y="425195"/>
                  </a:lnTo>
                  <a:lnTo>
                    <a:pt x="89153" y="425195"/>
                  </a:lnTo>
                  <a:lnTo>
                    <a:pt x="89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245852" y="4690871"/>
              <a:ext cx="119380" cy="485140"/>
            </a:xfrm>
            <a:custGeom>
              <a:avLst/>
              <a:gdLst/>
              <a:ahLst/>
              <a:cxnLst/>
              <a:rect l="l" t="t" r="r" b="b"/>
              <a:pathLst>
                <a:path w="119379" h="485139">
                  <a:moveTo>
                    <a:pt x="0" y="425195"/>
                  </a:moveTo>
                  <a:lnTo>
                    <a:pt x="29718" y="425195"/>
                  </a:lnTo>
                  <a:lnTo>
                    <a:pt x="29718" y="0"/>
                  </a:lnTo>
                  <a:lnTo>
                    <a:pt x="89153" y="0"/>
                  </a:lnTo>
                  <a:lnTo>
                    <a:pt x="89153" y="425195"/>
                  </a:lnTo>
                  <a:lnTo>
                    <a:pt x="118872" y="425195"/>
                  </a:lnTo>
                  <a:lnTo>
                    <a:pt x="59436" y="484631"/>
                  </a:lnTo>
                  <a:lnTo>
                    <a:pt x="0" y="42519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107169" y="5268848"/>
            <a:ext cx="20491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 panose="020F0502020204030204"/>
                <a:cs typeface="Calibri" panose="020F0502020204030204"/>
              </a:rPr>
              <a:t>Final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output</a:t>
            </a:r>
            <a:r>
              <a:rPr sz="20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which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enables</a:t>
            </a:r>
            <a:r>
              <a:rPr sz="20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us</a:t>
            </a:r>
            <a:r>
              <a:rPr sz="20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20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latin typeface="Calibri" panose="020F0502020204030204"/>
                <a:cs typeface="Calibri" panose="020F0502020204030204"/>
              </a:rPr>
              <a:t>make </a:t>
            </a:r>
            <a:r>
              <a:rPr sz="2000" b="1" spc="-10" dirty="0">
                <a:latin typeface="Calibri" panose="020F0502020204030204"/>
                <a:cs typeface="Calibri" panose="020F0502020204030204"/>
              </a:rPr>
              <a:t>predictions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485376" y="3422903"/>
            <a:ext cx="1640205" cy="1156970"/>
          </a:xfrm>
          <a:custGeom>
            <a:avLst/>
            <a:gdLst/>
            <a:ahLst/>
            <a:cxnLst/>
            <a:rect l="l" t="t" r="r" b="b"/>
            <a:pathLst>
              <a:path w="1640204" h="1156970">
                <a:moveTo>
                  <a:pt x="1639824" y="0"/>
                </a:moveTo>
                <a:lnTo>
                  <a:pt x="0" y="0"/>
                </a:lnTo>
                <a:lnTo>
                  <a:pt x="0" y="1156716"/>
                </a:lnTo>
                <a:lnTo>
                  <a:pt x="1639824" y="1156716"/>
                </a:lnTo>
                <a:lnTo>
                  <a:pt x="1639824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683739" y="3110471"/>
            <a:ext cx="1408430" cy="1252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450" i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6450" i="1" spc="254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75" spc="-944" baseline="-6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</a:t>
            </a:r>
            <a:r>
              <a:rPr sz="6450" b="1" spc="-6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12075" spc="-944" baseline="-6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</a:t>
            </a:r>
            <a:endParaRPr sz="12075" baseline="-6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7787" y="920242"/>
            <a:ext cx="10580370" cy="19538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What</a:t>
            </a:r>
            <a:r>
              <a:rPr sz="2400" b="1" spc="-6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400" b="1" spc="-6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2400" b="1" spc="-6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Learning?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48380" marR="5080" indent="-2529205">
              <a:lnSpc>
                <a:spcPct val="100000"/>
              </a:lnSpc>
              <a:spcBef>
                <a:spcPts val="485"/>
              </a:spcBef>
            </a:pPr>
            <a:r>
              <a:rPr sz="2400" b="1" dirty="0">
                <a:latin typeface="Segoe Print" panose="02000600000000000000"/>
                <a:cs typeface="Segoe Print" panose="02000600000000000000"/>
              </a:rPr>
              <a:t>Given</a:t>
            </a:r>
            <a:r>
              <a:rPr sz="2400" b="1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examples</a:t>
            </a:r>
            <a:r>
              <a:rPr sz="2400" b="1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(training</a:t>
            </a:r>
            <a:r>
              <a:rPr sz="2400" b="1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data),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make</a:t>
            </a:r>
            <a:r>
              <a:rPr sz="2400" b="1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b="1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machine</a:t>
            </a:r>
            <a:r>
              <a:rPr sz="2400" b="1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learn</a:t>
            </a:r>
            <a:r>
              <a:rPr sz="2400" b="1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spc="-10" dirty="0">
                <a:latin typeface="Segoe Print" panose="02000600000000000000"/>
                <a:cs typeface="Segoe Print" panose="02000600000000000000"/>
              </a:rPr>
              <a:t>system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behavior</a:t>
            </a:r>
            <a:r>
              <a:rPr sz="2400" b="1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discover</a:t>
            </a:r>
            <a:r>
              <a:rPr sz="2400" b="1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spc="-10" dirty="0">
                <a:latin typeface="Segoe Print" panose="02000600000000000000"/>
                <a:cs typeface="Segoe Print" panose="02000600000000000000"/>
              </a:rPr>
              <a:t>patterns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1453515">
              <a:lnSpc>
                <a:spcPct val="100000"/>
              </a:lnSpc>
              <a:spcBef>
                <a:spcPts val="2210"/>
              </a:spcBef>
            </a:pPr>
            <a:r>
              <a:rPr sz="280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Data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9610" y="1148333"/>
            <a:ext cx="70485" cy="20320"/>
          </a:xfrm>
          <a:custGeom>
            <a:avLst/>
            <a:gdLst/>
            <a:ahLst/>
            <a:cxnLst/>
            <a:rect l="l" t="t" r="r" b="b"/>
            <a:pathLst>
              <a:path w="70485" h="20319">
                <a:moveTo>
                  <a:pt x="70104" y="0"/>
                </a:moveTo>
                <a:lnTo>
                  <a:pt x="0" y="0"/>
                </a:lnTo>
                <a:lnTo>
                  <a:pt x="0" y="19812"/>
                </a:lnTo>
                <a:lnTo>
                  <a:pt x="70104" y="19812"/>
                </a:lnTo>
                <a:lnTo>
                  <a:pt x="7010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7787" y="795604"/>
            <a:ext cx="11771630" cy="487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Algorithms</a:t>
            </a:r>
            <a:r>
              <a:rPr sz="2400" b="1" u="sng" spc="-55" dirty="0">
                <a:solidFill>
                  <a:srgbClr val="006FC0"/>
                </a:solidFill>
                <a:uFill>
                  <a:solidFill>
                    <a:srgbClr val="5B9BD4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vs</a:t>
            </a:r>
            <a:r>
              <a:rPr sz="24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libri" panose="020F0502020204030204"/>
                <a:cs typeface="Calibri" panose="020F0502020204030204"/>
              </a:rPr>
              <a:t>Model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5600" marR="184785" indent="-343535">
              <a:lnSpc>
                <a:spcPct val="150000"/>
              </a:lnSpc>
              <a:spcBef>
                <a:spcPts val="735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Linear</a:t>
            </a:r>
            <a:r>
              <a:rPr sz="2400" spc="-5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regression</a:t>
            </a:r>
            <a:r>
              <a:rPr sz="2400" spc="-6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algorithm</a:t>
            </a:r>
            <a:r>
              <a:rPr sz="2400" spc="-4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produces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model,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that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is,</a:t>
            </a:r>
            <a:r>
              <a:rPr sz="24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vector</a:t>
            </a:r>
            <a:r>
              <a:rPr sz="2400" spc="-5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values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3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coefficients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2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model.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buClr>
                <a:srgbClr val="006FC0"/>
              </a:buClr>
              <a:buFont typeface="Segoe Print" panose="02000600000000000000"/>
              <a:buChar char="-"/>
            </a:pP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indent="-342900">
              <a:lnSpc>
                <a:spcPct val="100000"/>
              </a:lnSpc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Decision</a:t>
            </a:r>
            <a:r>
              <a:rPr sz="2400" spc="-4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tree</a:t>
            </a:r>
            <a:r>
              <a:rPr sz="2400" spc="-4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algorithm</a:t>
            </a:r>
            <a:r>
              <a:rPr sz="2400" spc="-4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produces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comprised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tree</a:t>
            </a:r>
            <a:r>
              <a:rPr sz="2400" spc="-4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if-</a:t>
            </a:r>
            <a:r>
              <a:rPr sz="2400" spc="-2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then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statements</a:t>
            </a:r>
            <a:r>
              <a:rPr sz="2400" spc="-7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with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specific</a:t>
            </a:r>
            <a:r>
              <a:rPr sz="2400" spc="-3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values.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marR="5080" indent="-343535">
              <a:lnSpc>
                <a:spcPct val="150000"/>
              </a:lnSpc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Neural</a:t>
            </a:r>
            <a:r>
              <a:rPr sz="2400" spc="-8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network</a:t>
            </a:r>
            <a:r>
              <a:rPr sz="2400" spc="-7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along</a:t>
            </a:r>
            <a:r>
              <a:rPr sz="2400" spc="-8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with</a:t>
            </a:r>
            <a:r>
              <a:rPr sz="2400" spc="-7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backpropagation</a:t>
            </a:r>
            <a:r>
              <a:rPr sz="2400" spc="-3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+</a:t>
            </a:r>
            <a:r>
              <a:rPr sz="2400" spc="-8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gradient</a:t>
            </a:r>
            <a:r>
              <a:rPr sz="2400" spc="-6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descent:</a:t>
            </a:r>
            <a:r>
              <a:rPr sz="2400" spc="-85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produces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</a:t>
            </a:r>
            <a:r>
              <a:rPr sz="24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comprised</a:t>
            </a:r>
            <a:r>
              <a:rPr sz="24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6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trained</a:t>
            </a:r>
            <a:r>
              <a:rPr sz="2400" spc="-6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(weights</a:t>
            </a:r>
            <a:r>
              <a:rPr sz="2400" spc="-7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assigned)</a:t>
            </a:r>
            <a:r>
              <a:rPr sz="2400" spc="-8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neural</a:t>
            </a:r>
            <a:r>
              <a:rPr sz="2400" spc="-6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network.</a:t>
            </a:r>
            <a:endParaRPr sz="24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155" dirty="0"/>
              <a:t> </a:t>
            </a:r>
            <a:r>
              <a:rPr dirty="0"/>
              <a:t>Learning:</a:t>
            </a:r>
            <a:r>
              <a:rPr spc="-150" dirty="0"/>
              <a:t> </a:t>
            </a:r>
            <a:r>
              <a:rPr spc="-10" dirty="0"/>
              <a:t>Overview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60" y="898773"/>
            <a:ext cx="11094720" cy="1288415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5"/>
              </a:spcBef>
              <a:tabLst>
                <a:tab pos="520065" algn="l"/>
              </a:tabLst>
            </a:pPr>
            <a:r>
              <a:rPr sz="2400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4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.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Supervised</a:t>
            </a:r>
            <a:r>
              <a:rPr sz="24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Learning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05155" algn="ctr">
              <a:lnSpc>
                <a:spcPct val="100000"/>
              </a:lnSpc>
              <a:spcBef>
                <a:spcPts val="1175"/>
              </a:spcBef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learning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algorithm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would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receive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set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inputs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along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with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corresponding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correct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605155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outputs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train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model</a:t>
            </a:r>
            <a:endParaRPr sz="1800">
              <a:latin typeface="Segoe Print" panose="02000600000000000000"/>
              <a:cs typeface="Segoe Print" panose="0200060000000000000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51050" y="2837433"/>
            <a:ext cx="7937500" cy="1551940"/>
            <a:chOff x="2051050" y="2837433"/>
            <a:chExt cx="7937500" cy="1551940"/>
          </a:xfrm>
        </p:grpSpPr>
        <p:sp>
          <p:nvSpPr>
            <p:cNvPr id="4" name="object 4"/>
            <p:cNvSpPr/>
            <p:nvPr/>
          </p:nvSpPr>
          <p:spPr>
            <a:xfrm>
              <a:off x="2057400" y="2843783"/>
              <a:ext cx="7924800" cy="1539240"/>
            </a:xfrm>
            <a:custGeom>
              <a:avLst/>
              <a:gdLst/>
              <a:ahLst/>
              <a:cxnLst/>
              <a:rect l="l" t="t" r="r" b="b"/>
              <a:pathLst>
                <a:path w="7924800" h="1539239">
                  <a:moveTo>
                    <a:pt x="7668259" y="0"/>
                  </a:moveTo>
                  <a:lnTo>
                    <a:pt x="256539" y="0"/>
                  </a:lnTo>
                  <a:lnTo>
                    <a:pt x="210413" y="4131"/>
                  </a:lnTo>
                  <a:lnTo>
                    <a:pt x="167005" y="16044"/>
                  </a:lnTo>
                  <a:lnTo>
                    <a:pt x="127037" y="35014"/>
                  </a:lnTo>
                  <a:lnTo>
                    <a:pt x="91234" y="60318"/>
                  </a:lnTo>
                  <a:lnTo>
                    <a:pt x="60318" y="91234"/>
                  </a:lnTo>
                  <a:lnTo>
                    <a:pt x="35014" y="127037"/>
                  </a:lnTo>
                  <a:lnTo>
                    <a:pt x="16044" y="167005"/>
                  </a:lnTo>
                  <a:lnTo>
                    <a:pt x="4131" y="210413"/>
                  </a:lnTo>
                  <a:lnTo>
                    <a:pt x="0" y="256539"/>
                  </a:lnTo>
                  <a:lnTo>
                    <a:pt x="0" y="1282699"/>
                  </a:lnTo>
                  <a:lnTo>
                    <a:pt x="4131" y="1328826"/>
                  </a:lnTo>
                  <a:lnTo>
                    <a:pt x="16044" y="1372234"/>
                  </a:lnTo>
                  <a:lnTo>
                    <a:pt x="35014" y="1412202"/>
                  </a:lnTo>
                  <a:lnTo>
                    <a:pt x="60318" y="1448005"/>
                  </a:lnTo>
                  <a:lnTo>
                    <a:pt x="91234" y="1478921"/>
                  </a:lnTo>
                  <a:lnTo>
                    <a:pt x="127037" y="1504225"/>
                  </a:lnTo>
                  <a:lnTo>
                    <a:pt x="167005" y="1523195"/>
                  </a:lnTo>
                  <a:lnTo>
                    <a:pt x="210413" y="1535108"/>
                  </a:lnTo>
                  <a:lnTo>
                    <a:pt x="256539" y="1539239"/>
                  </a:lnTo>
                  <a:lnTo>
                    <a:pt x="7668259" y="1539239"/>
                  </a:lnTo>
                  <a:lnTo>
                    <a:pt x="7714386" y="1535108"/>
                  </a:lnTo>
                  <a:lnTo>
                    <a:pt x="7757794" y="1523195"/>
                  </a:lnTo>
                  <a:lnTo>
                    <a:pt x="7797762" y="1504225"/>
                  </a:lnTo>
                  <a:lnTo>
                    <a:pt x="7833565" y="1478921"/>
                  </a:lnTo>
                  <a:lnTo>
                    <a:pt x="7864481" y="1448005"/>
                  </a:lnTo>
                  <a:lnTo>
                    <a:pt x="7889785" y="1412202"/>
                  </a:lnTo>
                  <a:lnTo>
                    <a:pt x="7908755" y="1372234"/>
                  </a:lnTo>
                  <a:lnTo>
                    <a:pt x="7920668" y="1328826"/>
                  </a:lnTo>
                  <a:lnTo>
                    <a:pt x="7924800" y="1282699"/>
                  </a:lnTo>
                  <a:lnTo>
                    <a:pt x="7924800" y="256539"/>
                  </a:lnTo>
                  <a:lnTo>
                    <a:pt x="7920668" y="210413"/>
                  </a:lnTo>
                  <a:lnTo>
                    <a:pt x="7908755" y="167005"/>
                  </a:lnTo>
                  <a:lnTo>
                    <a:pt x="7889785" y="127037"/>
                  </a:lnTo>
                  <a:lnTo>
                    <a:pt x="7864481" y="91234"/>
                  </a:lnTo>
                  <a:lnTo>
                    <a:pt x="7833565" y="60318"/>
                  </a:lnTo>
                  <a:lnTo>
                    <a:pt x="7797762" y="35014"/>
                  </a:lnTo>
                  <a:lnTo>
                    <a:pt x="7757794" y="16044"/>
                  </a:lnTo>
                  <a:lnTo>
                    <a:pt x="7714386" y="4131"/>
                  </a:lnTo>
                  <a:lnTo>
                    <a:pt x="766825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57400" y="2843783"/>
              <a:ext cx="7924800" cy="1539240"/>
            </a:xfrm>
            <a:custGeom>
              <a:avLst/>
              <a:gdLst/>
              <a:ahLst/>
              <a:cxnLst/>
              <a:rect l="l" t="t" r="r" b="b"/>
              <a:pathLst>
                <a:path w="7924800" h="1539239">
                  <a:moveTo>
                    <a:pt x="0" y="256539"/>
                  </a:moveTo>
                  <a:lnTo>
                    <a:pt x="4131" y="210413"/>
                  </a:lnTo>
                  <a:lnTo>
                    <a:pt x="16044" y="167005"/>
                  </a:lnTo>
                  <a:lnTo>
                    <a:pt x="35014" y="127037"/>
                  </a:lnTo>
                  <a:lnTo>
                    <a:pt x="60318" y="91234"/>
                  </a:lnTo>
                  <a:lnTo>
                    <a:pt x="91234" y="60318"/>
                  </a:lnTo>
                  <a:lnTo>
                    <a:pt x="127037" y="35014"/>
                  </a:lnTo>
                  <a:lnTo>
                    <a:pt x="167005" y="16044"/>
                  </a:lnTo>
                  <a:lnTo>
                    <a:pt x="210413" y="4131"/>
                  </a:lnTo>
                  <a:lnTo>
                    <a:pt x="256539" y="0"/>
                  </a:lnTo>
                  <a:lnTo>
                    <a:pt x="7668259" y="0"/>
                  </a:lnTo>
                  <a:lnTo>
                    <a:pt x="7714386" y="4131"/>
                  </a:lnTo>
                  <a:lnTo>
                    <a:pt x="7757794" y="16044"/>
                  </a:lnTo>
                  <a:lnTo>
                    <a:pt x="7797762" y="35014"/>
                  </a:lnTo>
                  <a:lnTo>
                    <a:pt x="7833565" y="60318"/>
                  </a:lnTo>
                  <a:lnTo>
                    <a:pt x="7864481" y="91234"/>
                  </a:lnTo>
                  <a:lnTo>
                    <a:pt x="7889785" y="127037"/>
                  </a:lnTo>
                  <a:lnTo>
                    <a:pt x="7908755" y="167005"/>
                  </a:lnTo>
                  <a:lnTo>
                    <a:pt x="7920668" y="210413"/>
                  </a:lnTo>
                  <a:lnTo>
                    <a:pt x="7924800" y="256539"/>
                  </a:lnTo>
                  <a:lnTo>
                    <a:pt x="7924800" y="1282699"/>
                  </a:lnTo>
                  <a:lnTo>
                    <a:pt x="7920668" y="1328826"/>
                  </a:lnTo>
                  <a:lnTo>
                    <a:pt x="7908755" y="1372234"/>
                  </a:lnTo>
                  <a:lnTo>
                    <a:pt x="7889785" y="1412202"/>
                  </a:lnTo>
                  <a:lnTo>
                    <a:pt x="7864481" y="1448005"/>
                  </a:lnTo>
                  <a:lnTo>
                    <a:pt x="7833565" y="1478921"/>
                  </a:lnTo>
                  <a:lnTo>
                    <a:pt x="7797762" y="1504225"/>
                  </a:lnTo>
                  <a:lnTo>
                    <a:pt x="7757794" y="1523195"/>
                  </a:lnTo>
                  <a:lnTo>
                    <a:pt x="7714386" y="1535108"/>
                  </a:lnTo>
                  <a:lnTo>
                    <a:pt x="7668259" y="1539239"/>
                  </a:lnTo>
                  <a:lnTo>
                    <a:pt x="256539" y="1539239"/>
                  </a:lnTo>
                  <a:lnTo>
                    <a:pt x="210413" y="1535108"/>
                  </a:lnTo>
                  <a:lnTo>
                    <a:pt x="167005" y="1523195"/>
                  </a:lnTo>
                  <a:lnTo>
                    <a:pt x="127037" y="1504225"/>
                  </a:lnTo>
                  <a:lnTo>
                    <a:pt x="91234" y="1478921"/>
                  </a:lnTo>
                  <a:lnTo>
                    <a:pt x="60318" y="1448005"/>
                  </a:lnTo>
                  <a:lnTo>
                    <a:pt x="35014" y="1412202"/>
                  </a:lnTo>
                  <a:lnTo>
                    <a:pt x="16044" y="1372234"/>
                  </a:lnTo>
                  <a:lnTo>
                    <a:pt x="4131" y="1328826"/>
                  </a:lnTo>
                  <a:lnTo>
                    <a:pt x="0" y="1282699"/>
                  </a:lnTo>
                  <a:lnTo>
                    <a:pt x="0" y="256539"/>
                  </a:lnTo>
                  <a:close/>
                </a:path>
              </a:pathLst>
            </a:custGeom>
            <a:ln w="12700">
              <a:solidFill>
                <a:srgbClr val="FAE4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09087" y="3322319"/>
              <a:ext cx="1371600" cy="838200"/>
            </a:xfrm>
            <a:custGeom>
              <a:avLst/>
              <a:gdLst/>
              <a:ahLst/>
              <a:cxnLst/>
              <a:rect l="l" t="t" r="r" b="b"/>
              <a:pathLst>
                <a:path w="1371600" h="838200">
                  <a:moveTo>
                    <a:pt x="1231900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499"/>
                  </a:lnTo>
                  <a:lnTo>
                    <a:pt x="7116" y="742679"/>
                  </a:lnTo>
                  <a:lnTo>
                    <a:pt x="26936" y="781031"/>
                  </a:lnTo>
                  <a:lnTo>
                    <a:pt x="57168" y="811263"/>
                  </a:lnTo>
                  <a:lnTo>
                    <a:pt x="95520" y="831083"/>
                  </a:lnTo>
                  <a:lnTo>
                    <a:pt x="139700" y="838199"/>
                  </a:lnTo>
                  <a:lnTo>
                    <a:pt x="1231900" y="838199"/>
                  </a:lnTo>
                  <a:lnTo>
                    <a:pt x="1276079" y="831083"/>
                  </a:lnTo>
                  <a:lnTo>
                    <a:pt x="1314431" y="811263"/>
                  </a:lnTo>
                  <a:lnTo>
                    <a:pt x="1344663" y="781031"/>
                  </a:lnTo>
                  <a:lnTo>
                    <a:pt x="1364483" y="742679"/>
                  </a:lnTo>
                  <a:lnTo>
                    <a:pt x="1371600" y="698499"/>
                  </a:lnTo>
                  <a:lnTo>
                    <a:pt x="1371600" y="139700"/>
                  </a:lnTo>
                  <a:lnTo>
                    <a:pt x="1364483" y="95520"/>
                  </a:lnTo>
                  <a:lnTo>
                    <a:pt x="1344663" y="57168"/>
                  </a:lnTo>
                  <a:lnTo>
                    <a:pt x="1314431" y="26936"/>
                  </a:lnTo>
                  <a:lnTo>
                    <a:pt x="1276079" y="7116"/>
                  </a:lnTo>
                  <a:lnTo>
                    <a:pt x="1231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09087" y="3322319"/>
              <a:ext cx="1371600" cy="838200"/>
            </a:xfrm>
            <a:custGeom>
              <a:avLst/>
              <a:gdLst/>
              <a:ahLst/>
              <a:cxnLst/>
              <a:rect l="l" t="t" r="r" b="b"/>
              <a:pathLst>
                <a:path w="1371600" h="8382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1231900" y="0"/>
                  </a:lnTo>
                  <a:lnTo>
                    <a:pt x="1276079" y="7116"/>
                  </a:lnTo>
                  <a:lnTo>
                    <a:pt x="1314431" y="26936"/>
                  </a:lnTo>
                  <a:lnTo>
                    <a:pt x="1344663" y="57168"/>
                  </a:lnTo>
                  <a:lnTo>
                    <a:pt x="1364483" y="95520"/>
                  </a:lnTo>
                  <a:lnTo>
                    <a:pt x="1371600" y="139700"/>
                  </a:lnTo>
                  <a:lnTo>
                    <a:pt x="1371600" y="698499"/>
                  </a:lnTo>
                  <a:lnTo>
                    <a:pt x="1364483" y="742679"/>
                  </a:lnTo>
                  <a:lnTo>
                    <a:pt x="1344663" y="781031"/>
                  </a:lnTo>
                  <a:lnTo>
                    <a:pt x="1314431" y="811263"/>
                  </a:lnTo>
                  <a:lnTo>
                    <a:pt x="1276079" y="831083"/>
                  </a:lnTo>
                  <a:lnTo>
                    <a:pt x="1231900" y="838199"/>
                  </a:lnTo>
                  <a:lnTo>
                    <a:pt x="139700" y="838199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499"/>
                  </a:lnTo>
                  <a:lnTo>
                    <a:pt x="0" y="139700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96667" y="3438855"/>
            <a:ext cx="996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All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labeled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6077" y="2878073"/>
            <a:ext cx="1244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Training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Data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00525" y="3413633"/>
            <a:ext cx="3136265" cy="686435"/>
            <a:chOff x="4200525" y="3413633"/>
            <a:chExt cx="3136265" cy="686435"/>
          </a:xfrm>
        </p:grpSpPr>
        <p:sp>
          <p:nvSpPr>
            <p:cNvPr id="11" name="object 11"/>
            <p:cNvSpPr/>
            <p:nvPr/>
          </p:nvSpPr>
          <p:spPr>
            <a:xfrm>
              <a:off x="4210050" y="3646170"/>
              <a:ext cx="914400" cy="222885"/>
            </a:xfrm>
            <a:custGeom>
              <a:avLst/>
              <a:gdLst/>
              <a:ahLst/>
              <a:cxnLst/>
              <a:rect l="l" t="t" r="r" b="b"/>
              <a:pathLst>
                <a:path w="914400" h="222885">
                  <a:moveTo>
                    <a:pt x="803148" y="0"/>
                  </a:moveTo>
                  <a:lnTo>
                    <a:pt x="803148" y="55625"/>
                  </a:lnTo>
                  <a:lnTo>
                    <a:pt x="0" y="55625"/>
                  </a:lnTo>
                  <a:lnTo>
                    <a:pt x="0" y="166877"/>
                  </a:lnTo>
                  <a:lnTo>
                    <a:pt x="803148" y="166877"/>
                  </a:lnTo>
                  <a:lnTo>
                    <a:pt x="803148" y="222503"/>
                  </a:lnTo>
                  <a:lnTo>
                    <a:pt x="914400" y="111251"/>
                  </a:lnTo>
                  <a:lnTo>
                    <a:pt x="8031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10050" y="3646170"/>
              <a:ext cx="914400" cy="222885"/>
            </a:xfrm>
            <a:custGeom>
              <a:avLst/>
              <a:gdLst/>
              <a:ahLst/>
              <a:cxnLst/>
              <a:rect l="l" t="t" r="r" b="b"/>
              <a:pathLst>
                <a:path w="914400" h="222885">
                  <a:moveTo>
                    <a:pt x="0" y="55625"/>
                  </a:moveTo>
                  <a:lnTo>
                    <a:pt x="803148" y="55625"/>
                  </a:lnTo>
                  <a:lnTo>
                    <a:pt x="803148" y="0"/>
                  </a:lnTo>
                  <a:lnTo>
                    <a:pt x="914400" y="111251"/>
                  </a:lnTo>
                  <a:lnTo>
                    <a:pt x="803148" y="222503"/>
                  </a:lnTo>
                  <a:lnTo>
                    <a:pt x="803148" y="166877"/>
                  </a:lnTo>
                  <a:lnTo>
                    <a:pt x="0" y="166877"/>
                  </a:lnTo>
                  <a:lnTo>
                    <a:pt x="0" y="55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352288" y="3416808"/>
              <a:ext cx="1981200" cy="6797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52288" y="3416808"/>
              <a:ext cx="1981200" cy="680085"/>
            </a:xfrm>
            <a:custGeom>
              <a:avLst/>
              <a:gdLst/>
              <a:ahLst/>
              <a:cxnLst/>
              <a:rect l="l" t="t" r="r" b="b"/>
              <a:pathLst>
                <a:path w="1981200" h="680085">
                  <a:moveTo>
                    <a:pt x="0" y="339851"/>
                  </a:moveTo>
                  <a:lnTo>
                    <a:pt x="9042" y="293733"/>
                  </a:lnTo>
                  <a:lnTo>
                    <a:pt x="35383" y="249502"/>
                  </a:lnTo>
                  <a:lnTo>
                    <a:pt x="77843" y="207561"/>
                  </a:lnTo>
                  <a:lnTo>
                    <a:pt x="135240" y="168317"/>
                  </a:lnTo>
                  <a:lnTo>
                    <a:pt x="169172" y="149832"/>
                  </a:lnTo>
                  <a:lnTo>
                    <a:pt x="206397" y="132173"/>
                  </a:lnTo>
                  <a:lnTo>
                    <a:pt x="246765" y="115391"/>
                  </a:lnTo>
                  <a:lnTo>
                    <a:pt x="290131" y="99536"/>
                  </a:lnTo>
                  <a:lnTo>
                    <a:pt x="336346" y="84658"/>
                  </a:lnTo>
                  <a:lnTo>
                    <a:pt x="385264" y="70809"/>
                  </a:lnTo>
                  <a:lnTo>
                    <a:pt x="436736" y="58038"/>
                  </a:lnTo>
                  <a:lnTo>
                    <a:pt x="490615" y="46397"/>
                  </a:lnTo>
                  <a:lnTo>
                    <a:pt x="546753" y="35936"/>
                  </a:lnTo>
                  <a:lnTo>
                    <a:pt x="605004" y="26705"/>
                  </a:lnTo>
                  <a:lnTo>
                    <a:pt x="665219" y="18756"/>
                  </a:lnTo>
                  <a:lnTo>
                    <a:pt x="727251" y="12139"/>
                  </a:lnTo>
                  <a:lnTo>
                    <a:pt x="790953" y="6904"/>
                  </a:lnTo>
                  <a:lnTo>
                    <a:pt x="856176" y="3102"/>
                  </a:lnTo>
                  <a:lnTo>
                    <a:pt x="922774" y="783"/>
                  </a:lnTo>
                  <a:lnTo>
                    <a:pt x="990600" y="0"/>
                  </a:lnTo>
                  <a:lnTo>
                    <a:pt x="1058425" y="783"/>
                  </a:lnTo>
                  <a:lnTo>
                    <a:pt x="1125023" y="3102"/>
                  </a:lnTo>
                  <a:lnTo>
                    <a:pt x="1190246" y="6904"/>
                  </a:lnTo>
                  <a:lnTo>
                    <a:pt x="1253948" y="12139"/>
                  </a:lnTo>
                  <a:lnTo>
                    <a:pt x="1315980" y="18756"/>
                  </a:lnTo>
                  <a:lnTo>
                    <a:pt x="1376195" y="26705"/>
                  </a:lnTo>
                  <a:lnTo>
                    <a:pt x="1434446" y="35936"/>
                  </a:lnTo>
                  <a:lnTo>
                    <a:pt x="1490584" y="46397"/>
                  </a:lnTo>
                  <a:lnTo>
                    <a:pt x="1544463" y="58038"/>
                  </a:lnTo>
                  <a:lnTo>
                    <a:pt x="1595935" y="70809"/>
                  </a:lnTo>
                  <a:lnTo>
                    <a:pt x="1644853" y="84658"/>
                  </a:lnTo>
                  <a:lnTo>
                    <a:pt x="1691068" y="99536"/>
                  </a:lnTo>
                  <a:lnTo>
                    <a:pt x="1734434" y="115391"/>
                  </a:lnTo>
                  <a:lnTo>
                    <a:pt x="1774802" y="132173"/>
                  </a:lnTo>
                  <a:lnTo>
                    <a:pt x="1812027" y="149832"/>
                  </a:lnTo>
                  <a:lnTo>
                    <a:pt x="1845959" y="168317"/>
                  </a:lnTo>
                  <a:lnTo>
                    <a:pt x="1903356" y="207561"/>
                  </a:lnTo>
                  <a:lnTo>
                    <a:pt x="1945816" y="249502"/>
                  </a:lnTo>
                  <a:lnTo>
                    <a:pt x="1972157" y="293733"/>
                  </a:lnTo>
                  <a:lnTo>
                    <a:pt x="1981200" y="339851"/>
                  </a:lnTo>
                  <a:lnTo>
                    <a:pt x="1978914" y="363121"/>
                  </a:lnTo>
                  <a:lnTo>
                    <a:pt x="1961075" y="408347"/>
                  </a:lnTo>
                  <a:lnTo>
                    <a:pt x="1926527" y="451483"/>
                  </a:lnTo>
                  <a:lnTo>
                    <a:pt x="1876451" y="492126"/>
                  </a:lnTo>
                  <a:lnTo>
                    <a:pt x="1812027" y="529871"/>
                  </a:lnTo>
                  <a:lnTo>
                    <a:pt x="1774802" y="547530"/>
                  </a:lnTo>
                  <a:lnTo>
                    <a:pt x="1734434" y="564312"/>
                  </a:lnTo>
                  <a:lnTo>
                    <a:pt x="1691068" y="580167"/>
                  </a:lnTo>
                  <a:lnTo>
                    <a:pt x="1644853" y="595045"/>
                  </a:lnTo>
                  <a:lnTo>
                    <a:pt x="1595935" y="608894"/>
                  </a:lnTo>
                  <a:lnTo>
                    <a:pt x="1544463" y="621665"/>
                  </a:lnTo>
                  <a:lnTo>
                    <a:pt x="1490584" y="633306"/>
                  </a:lnTo>
                  <a:lnTo>
                    <a:pt x="1434446" y="643767"/>
                  </a:lnTo>
                  <a:lnTo>
                    <a:pt x="1376195" y="652998"/>
                  </a:lnTo>
                  <a:lnTo>
                    <a:pt x="1315980" y="660947"/>
                  </a:lnTo>
                  <a:lnTo>
                    <a:pt x="1253948" y="667564"/>
                  </a:lnTo>
                  <a:lnTo>
                    <a:pt x="1190246" y="672799"/>
                  </a:lnTo>
                  <a:lnTo>
                    <a:pt x="1125023" y="676601"/>
                  </a:lnTo>
                  <a:lnTo>
                    <a:pt x="1058425" y="678920"/>
                  </a:lnTo>
                  <a:lnTo>
                    <a:pt x="990600" y="679703"/>
                  </a:lnTo>
                  <a:lnTo>
                    <a:pt x="922774" y="678920"/>
                  </a:lnTo>
                  <a:lnTo>
                    <a:pt x="856176" y="676601"/>
                  </a:lnTo>
                  <a:lnTo>
                    <a:pt x="790953" y="672799"/>
                  </a:lnTo>
                  <a:lnTo>
                    <a:pt x="727251" y="667564"/>
                  </a:lnTo>
                  <a:lnTo>
                    <a:pt x="665219" y="660947"/>
                  </a:lnTo>
                  <a:lnTo>
                    <a:pt x="605004" y="652998"/>
                  </a:lnTo>
                  <a:lnTo>
                    <a:pt x="546753" y="643767"/>
                  </a:lnTo>
                  <a:lnTo>
                    <a:pt x="490615" y="633306"/>
                  </a:lnTo>
                  <a:lnTo>
                    <a:pt x="436736" y="621665"/>
                  </a:lnTo>
                  <a:lnTo>
                    <a:pt x="385264" y="608894"/>
                  </a:lnTo>
                  <a:lnTo>
                    <a:pt x="336346" y="595045"/>
                  </a:lnTo>
                  <a:lnTo>
                    <a:pt x="290131" y="580167"/>
                  </a:lnTo>
                  <a:lnTo>
                    <a:pt x="246765" y="564312"/>
                  </a:lnTo>
                  <a:lnTo>
                    <a:pt x="206397" y="547530"/>
                  </a:lnTo>
                  <a:lnTo>
                    <a:pt x="169172" y="529871"/>
                  </a:lnTo>
                  <a:lnTo>
                    <a:pt x="135240" y="511386"/>
                  </a:lnTo>
                  <a:lnTo>
                    <a:pt x="77843" y="472142"/>
                  </a:lnTo>
                  <a:lnTo>
                    <a:pt x="35383" y="430201"/>
                  </a:lnTo>
                  <a:lnTo>
                    <a:pt x="9042" y="385970"/>
                  </a:lnTo>
                  <a:lnTo>
                    <a:pt x="0" y="339851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030214" y="3592144"/>
            <a:ext cx="628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Model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33841" y="3590925"/>
            <a:ext cx="970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Prediction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77125" y="3636645"/>
            <a:ext cx="933450" cy="241935"/>
            <a:chOff x="7477125" y="3636645"/>
            <a:chExt cx="933450" cy="241935"/>
          </a:xfrm>
        </p:grpSpPr>
        <p:sp>
          <p:nvSpPr>
            <p:cNvPr id="18" name="object 18"/>
            <p:cNvSpPr/>
            <p:nvPr/>
          </p:nvSpPr>
          <p:spPr>
            <a:xfrm>
              <a:off x="7486650" y="3646170"/>
              <a:ext cx="914400" cy="222885"/>
            </a:xfrm>
            <a:custGeom>
              <a:avLst/>
              <a:gdLst/>
              <a:ahLst/>
              <a:cxnLst/>
              <a:rect l="l" t="t" r="r" b="b"/>
              <a:pathLst>
                <a:path w="914400" h="222885">
                  <a:moveTo>
                    <a:pt x="803148" y="0"/>
                  </a:moveTo>
                  <a:lnTo>
                    <a:pt x="803148" y="55625"/>
                  </a:lnTo>
                  <a:lnTo>
                    <a:pt x="0" y="55625"/>
                  </a:lnTo>
                  <a:lnTo>
                    <a:pt x="0" y="166877"/>
                  </a:lnTo>
                  <a:lnTo>
                    <a:pt x="803148" y="166877"/>
                  </a:lnTo>
                  <a:lnTo>
                    <a:pt x="803148" y="222503"/>
                  </a:lnTo>
                  <a:lnTo>
                    <a:pt x="914400" y="111251"/>
                  </a:lnTo>
                  <a:lnTo>
                    <a:pt x="8031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486650" y="3646170"/>
              <a:ext cx="914400" cy="222885"/>
            </a:xfrm>
            <a:custGeom>
              <a:avLst/>
              <a:gdLst/>
              <a:ahLst/>
              <a:cxnLst/>
              <a:rect l="l" t="t" r="r" b="b"/>
              <a:pathLst>
                <a:path w="914400" h="222885">
                  <a:moveTo>
                    <a:pt x="0" y="55625"/>
                  </a:moveTo>
                  <a:lnTo>
                    <a:pt x="803148" y="55625"/>
                  </a:lnTo>
                  <a:lnTo>
                    <a:pt x="803148" y="0"/>
                  </a:lnTo>
                  <a:lnTo>
                    <a:pt x="914400" y="111251"/>
                  </a:lnTo>
                  <a:lnTo>
                    <a:pt x="803148" y="222503"/>
                  </a:lnTo>
                  <a:lnTo>
                    <a:pt x="803148" y="166877"/>
                  </a:lnTo>
                  <a:lnTo>
                    <a:pt x="0" y="166877"/>
                  </a:lnTo>
                  <a:lnTo>
                    <a:pt x="0" y="55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365753" y="3759"/>
            <a:ext cx="5460365" cy="100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155" dirty="0"/>
              <a:t> </a:t>
            </a:r>
            <a:r>
              <a:rPr dirty="0"/>
              <a:t>Learning:</a:t>
            </a:r>
            <a:r>
              <a:rPr spc="-150" dirty="0"/>
              <a:t> </a:t>
            </a:r>
            <a:r>
              <a:rPr spc="-10" dirty="0"/>
              <a:t>Overview</a:t>
            </a:r>
            <a:endParaRPr spc="-10" dirty="0"/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800" b="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Nature</a:t>
            </a:r>
            <a:r>
              <a:rPr sz="2800" b="0" i="1" spc="-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800" b="0" i="1" spc="-3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ML</a:t>
            </a:r>
            <a:r>
              <a:rPr sz="2800" b="0" i="1" spc="-3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Problems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426" y="3759"/>
            <a:ext cx="3851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70" dirty="0"/>
              <a:t> </a:t>
            </a:r>
            <a:r>
              <a:rPr spc="-10" dirty="0"/>
              <a:t>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3578" y="427552"/>
            <a:ext cx="8833485" cy="164782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5084445">
              <a:lnSpc>
                <a:spcPct val="100000"/>
              </a:lnSpc>
              <a:spcBef>
                <a:spcPts val="1130"/>
              </a:spcBef>
            </a:pPr>
            <a:r>
              <a:rPr sz="28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Regression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Segoe Print" panose="02000600000000000000"/>
                <a:cs typeface="Segoe Print" panose="02000600000000000000"/>
              </a:rPr>
              <a:t>Regression:</a:t>
            </a:r>
            <a:r>
              <a:rPr sz="2400" b="1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Quantitative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Prediction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on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continuous</a:t>
            </a:r>
            <a:r>
              <a:rPr sz="2400" spc="-7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scale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Examples:</a:t>
            </a:r>
            <a:r>
              <a:rPr sz="2400" b="1" spc="-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Prediction</a:t>
            </a:r>
            <a:r>
              <a:rPr sz="24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of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55555" y="726433"/>
            <a:ext cx="1879920" cy="17544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3578" y="2056003"/>
            <a:ext cx="7128509" cy="3317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Age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person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from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his/her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photo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Price of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10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Marla,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5-bedroom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house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2050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USD/PKR</a:t>
            </a:r>
            <a:r>
              <a:rPr sz="18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exchange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rate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after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one</a:t>
            </a:r>
            <a:r>
              <a:rPr sz="18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week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Efficacy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Pfizer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Covid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vaccine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Average</a:t>
            </a:r>
            <a:r>
              <a:rPr sz="1800" spc="-10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temperature/Rainfall</a:t>
            </a:r>
            <a:r>
              <a:rPr sz="18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during</a:t>
            </a:r>
            <a:r>
              <a:rPr sz="1800" spc="-10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monsoon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Cumulative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score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ML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course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Probability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decrease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electricity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prices</a:t>
            </a:r>
            <a:r>
              <a:rPr sz="18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Pakistan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No.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steps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per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day</a:t>
            </a:r>
            <a:endParaRPr sz="18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37729" y="3071825"/>
            <a:ext cx="3532504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What</a:t>
            </a:r>
            <a:r>
              <a:rPr sz="2000" spc="-3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do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all</a:t>
            </a:r>
            <a:r>
              <a:rPr sz="2000" spc="-5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these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problems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have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in</a:t>
            </a:r>
            <a:r>
              <a:rPr sz="2000" spc="-1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common?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37729" y="3938981"/>
            <a:ext cx="25038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Continuous</a:t>
            </a:r>
            <a:r>
              <a:rPr sz="2000" spc="-9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outputs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7416" y="5689091"/>
            <a:ext cx="6568440" cy="4013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Predicting</a:t>
            </a:r>
            <a:r>
              <a:rPr sz="2000" spc="-7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continuous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outputs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called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regression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426" y="3759"/>
            <a:ext cx="38519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70" dirty="0"/>
              <a:t> </a:t>
            </a:r>
            <a:r>
              <a:rPr spc="-10" dirty="0"/>
              <a:t>Learning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3578" y="377543"/>
            <a:ext cx="9507220" cy="1697989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916805">
              <a:lnSpc>
                <a:spcPct val="100000"/>
              </a:lnSpc>
              <a:spcBef>
                <a:spcPts val="1525"/>
              </a:spcBef>
            </a:pPr>
            <a:r>
              <a:rPr sz="28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Classification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Segoe Print" panose="02000600000000000000"/>
                <a:cs typeface="Segoe Print" panose="02000600000000000000"/>
              </a:rPr>
              <a:t>Classification:</a:t>
            </a:r>
            <a:r>
              <a:rPr sz="2400" b="1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Given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data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sample,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predict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its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class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spc="-10" dirty="0">
                <a:latin typeface="Segoe Print" panose="02000600000000000000"/>
                <a:cs typeface="Segoe Print" panose="02000600000000000000"/>
              </a:rPr>
              <a:t>(discrete)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Examples:</a:t>
            </a:r>
            <a:r>
              <a:rPr sz="2400" b="1" spc="-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Prediction</a:t>
            </a:r>
            <a:r>
              <a:rPr sz="24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of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038588" y="722110"/>
            <a:ext cx="1574193" cy="16042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3578" y="2056003"/>
            <a:ext cx="7531734" cy="3317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Gender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person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using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his/her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photo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hand-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writing</a:t>
            </a:r>
            <a:r>
              <a:rPr sz="1800" spc="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style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Spam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filtering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Object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18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face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detection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photo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We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will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be</a:t>
            </a:r>
            <a:r>
              <a:rPr sz="18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back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on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Campus</a:t>
            </a:r>
            <a:r>
              <a:rPr sz="1800" spc="-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on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Feb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1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Temperature/Rainfall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normal</a:t>
            </a:r>
            <a:r>
              <a:rPr sz="1800" spc="-8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1800" spc="-9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abnormal</a:t>
            </a:r>
            <a:r>
              <a:rPr sz="18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during</a:t>
            </a:r>
            <a:r>
              <a:rPr sz="1800" spc="-7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monsoon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Letter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grade</a:t>
            </a:r>
            <a:r>
              <a:rPr sz="18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ML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course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Decrease</a:t>
            </a:r>
            <a:r>
              <a:rPr sz="18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expected</a:t>
            </a:r>
            <a:r>
              <a:rPr sz="18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electricity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prices</a:t>
            </a:r>
            <a:r>
              <a:rPr sz="18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18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Pakistan</a:t>
            </a:r>
            <a:r>
              <a:rPr sz="18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next</a:t>
            </a:r>
            <a:r>
              <a:rPr sz="18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20" dirty="0">
                <a:latin typeface="Segoe Print" panose="02000600000000000000"/>
                <a:cs typeface="Segoe Print" panose="02000600000000000000"/>
              </a:rPr>
              <a:t>year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 panose="02000600000000000000"/>
                <a:cs typeface="Segoe Print" panose="02000600000000000000"/>
              </a:rPr>
              <a:t>More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than</a:t>
            </a:r>
            <a:r>
              <a:rPr sz="18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10000</a:t>
            </a:r>
            <a:r>
              <a:rPr sz="1800" spc="-7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Steps</a:t>
            </a:r>
            <a:r>
              <a:rPr sz="18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dirty="0">
                <a:latin typeface="Segoe Print" panose="02000600000000000000"/>
                <a:cs typeface="Segoe Print" panose="02000600000000000000"/>
              </a:rPr>
              <a:t>taken</a:t>
            </a:r>
            <a:r>
              <a:rPr sz="18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latin typeface="Segoe Print" panose="02000600000000000000"/>
                <a:cs typeface="Segoe Print" panose="02000600000000000000"/>
              </a:rPr>
              <a:t>today</a:t>
            </a:r>
            <a:endParaRPr sz="18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5363" y="2428697"/>
            <a:ext cx="3714115" cy="108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What</a:t>
            </a:r>
            <a:r>
              <a:rPr sz="2000" spc="-3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do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all</a:t>
            </a:r>
            <a:r>
              <a:rPr sz="2000" spc="-5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these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problems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have</a:t>
            </a:r>
            <a:r>
              <a:rPr sz="2000" spc="-2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in</a:t>
            </a:r>
            <a:r>
              <a:rPr sz="2000" spc="-10" dirty="0">
                <a:solidFill>
                  <a:srgbClr val="C00000"/>
                </a:solidFill>
                <a:latin typeface="Segoe Print" panose="02000600000000000000"/>
                <a:cs typeface="Segoe Print" panose="02000600000000000000"/>
              </a:rPr>
              <a:t> common?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Discrete</a:t>
            </a:r>
            <a:r>
              <a:rPr sz="2000" spc="-5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outputs: </a:t>
            </a: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Categorical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65363" y="3793363"/>
            <a:ext cx="38246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Yes/No</a:t>
            </a:r>
            <a:r>
              <a:rPr sz="2000" spc="-5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(Binary</a:t>
            </a:r>
            <a:r>
              <a:rPr sz="2000" spc="-3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Classification)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65363" y="4402963"/>
            <a:ext cx="318516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Multi-</a:t>
            </a: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class</a:t>
            </a:r>
            <a:r>
              <a:rPr sz="2000" spc="-2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classification: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multiple</a:t>
            </a:r>
            <a:r>
              <a:rPr sz="2000" spc="-3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classes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7416" y="5689091"/>
            <a:ext cx="7196455" cy="4013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Predicting</a:t>
            </a:r>
            <a:r>
              <a:rPr sz="20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categorical</a:t>
            </a:r>
            <a:r>
              <a:rPr sz="20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output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called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classification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7787" y="795604"/>
            <a:ext cx="11308080" cy="542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Nomenclature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24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these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regression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classification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problems,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we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have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Inputs</a:t>
            </a:r>
            <a:r>
              <a:rPr sz="2400" spc="-5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–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referred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Features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Output</a:t>
            </a:r>
            <a:r>
              <a:rPr sz="2400" spc="-5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–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referred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as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Label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Training</a:t>
            </a:r>
            <a:r>
              <a:rPr sz="2400" spc="-3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data</a:t>
            </a:r>
            <a:r>
              <a:rPr sz="2400" spc="-1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–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(input,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output)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which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output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known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and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is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training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by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ML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algorithm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marR="5080" indent="-343535">
              <a:lnSpc>
                <a:spcPts val="4320"/>
              </a:lnSpc>
              <a:spcBef>
                <a:spcPts val="38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Loss,</a:t>
            </a:r>
            <a:r>
              <a:rPr sz="2400" spc="-4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an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objective</a:t>
            </a:r>
            <a:r>
              <a:rPr sz="2400" spc="-1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or</a:t>
            </a:r>
            <a:r>
              <a:rPr sz="2400" spc="-3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4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cost</a:t>
            </a:r>
            <a:r>
              <a:rPr sz="2400" spc="-6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function</a:t>
            </a:r>
            <a:r>
              <a:rPr sz="2400" spc="-3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–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determines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how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well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trined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</a:t>
            </a:r>
            <a:r>
              <a:rPr sz="2400" spc="-8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approximates</a:t>
            </a:r>
            <a:r>
              <a:rPr sz="2400" spc="-8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8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training</a:t>
            </a:r>
            <a:r>
              <a:rPr sz="2400" spc="-9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data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355600" marR="16510" indent="-343535">
              <a:lnSpc>
                <a:spcPts val="4320"/>
              </a:lnSpc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Test</a:t>
            </a:r>
            <a:r>
              <a:rPr sz="2400" spc="-4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data</a:t>
            </a:r>
            <a:r>
              <a:rPr sz="2400" spc="-25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–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(input,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output)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which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output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known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and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used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evaluation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performance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trained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model</a:t>
            </a:r>
            <a:endParaRPr sz="24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795604"/>
            <a:ext cx="3288029" cy="231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Nomenclature</a:t>
            </a:r>
            <a:r>
              <a:rPr sz="2400" b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-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Example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61290">
              <a:lnSpc>
                <a:spcPct val="100000"/>
              </a:lnSpc>
              <a:spcBef>
                <a:spcPts val="186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Predict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Stock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Index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Price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Features</a:t>
            </a:r>
            <a:r>
              <a:rPr sz="1800" spc="-7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Segoe Print" panose="02000600000000000000"/>
                <a:cs typeface="Segoe Print" panose="02000600000000000000"/>
              </a:rPr>
              <a:t>(Input)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BE9000"/>
                </a:solidFill>
                <a:latin typeface="Segoe Print" panose="02000600000000000000"/>
                <a:cs typeface="Segoe Print" panose="02000600000000000000"/>
              </a:rPr>
              <a:t>Labels</a:t>
            </a:r>
            <a:r>
              <a:rPr sz="1800" spc="-45" dirty="0">
                <a:solidFill>
                  <a:srgbClr val="BE9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solidFill>
                  <a:srgbClr val="BE9000"/>
                </a:solidFill>
                <a:latin typeface="Segoe Print" panose="02000600000000000000"/>
                <a:cs typeface="Segoe Print" panose="02000600000000000000"/>
              </a:rPr>
              <a:t>(Output)</a:t>
            </a:r>
            <a:endParaRPr sz="1800">
              <a:latin typeface="Segoe Print" panose="02000600000000000000"/>
              <a:cs typeface="Segoe Print" panose="02000600000000000000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Training</a:t>
            </a:r>
            <a:r>
              <a:rPr sz="1800" spc="-6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Segoe Print" panose="02000600000000000000"/>
                <a:cs typeface="Segoe Print" panose="02000600000000000000"/>
              </a:rPr>
              <a:t>data</a:t>
            </a:r>
            <a:endParaRPr sz="18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5757671" y="646176"/>
            <a:ext cx="5072380" cy="6055360"/>
            <a:chOff x="5757671" y="646176"/>
            <a:chExt cx="5072380" cy="605536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57671" y="646176"/>
              <a:ext cx="5071872" cy="6054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43871" y="5957316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43871" y="5957316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643871" y="620267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643871" y="620267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643871" y="6448043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528827" y="185927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643871" y="6448043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7"/>
                  </a:moveTo>
                  <a:lnTo>
                    <a:pt x="528827" y="185927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843643" y="5887008"/>
            <a:ext cx="131445" cy="79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930"/>
              </a:lnSpc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2045"/>
              </a:lnSpc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20155" y="600455"/>
            <a:ext cx="5148580" cy="5343525"/>
            <a:chOff x="5820155" y="600455"/>
            <a:chExt cx="5148580" cy="5343525"/>
          </a:xfrm>
        </p:grpSpPr>
        <p:sp>
          <p:nvSpPr>
            <p:cNvPr id="14" name="object 14"/>
            <p:cNvSpPr/>
            <p:nvPr/>
          </p:nvSpPr>
          <p:spPr>
            <a:xfrm>
              <a:off x="5858255" y="638555"/>
              <a:ext cx="5072380" cy="5259705"/>
            </a:xfrm>
            <a:custGeom>
              <a:avLst/>
              <a:gdLst/>
              <a:ahLst/>
              <a:cxnLst/>
              <a:rect l="l" t="t" r="r" b="b"/>
              <a:pathLst>
                <a:path w="5072380" h="5259705">
                  <a:moveTo>
                    <a:pt x="0" y="5259324"/>
                  </a:moveTo>
                  <a:lnTo>
                    <a:pt x="5071872" y="5259324"/>
                  </a:lnTo>
                  <a:lnTo>
                    <a:pt x="5071872" y="0"/>
                  </a:lnTo>
                  <a:lnTo>
                    <a:pt x="0" y="0"/>
                  </a:lnTo>
                  <a:lnTo>
                    <a:pt x="0" y="5259324"/>
                  </a:lnTo>
                  <a:close/>
                </a:path>
              </a:pathLst>
            </a:custGeom>
            <a:ln w="762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95999" y="653795"/>
              <a:ext cx="2734310" cy="5260975"/>
            </a:xfrm>
            <a:custGeom>
              <a:avLst/>
              <a:gdLst/>
              <a:ahLst/>
              <a:cxnLst/>
              <a:rect l="l" t="t" r="r" b="b"/>
              <a:pathLst>
                <a:path w="2734309" h="5260975">
                  <a:moveTo>
                    <a:pt x="0" y="5260848"/>
                  </a:moveTo>
                  <a:lnTo>
                    <a:pt x="2734055" y="5260848"/>
                  </a:lnTo>
                  <a:lnTo>
                    <a:pt x="2734055" y="0"/>
                  </a:lnTo>
                  <a:lnTo>
                    <a:pt x="0" y="0"/>
                  </a:lnTo>
                  <a:lnTo>
                    <a:pt x="0" y="5260848"/>
                  </a:lnTo>
                  <a:close/>
                </a:path>
              </a:pathLst>
            </a:custGeom>
            <a:ln w="57150">
              <a:solidFill>
                <a:srgbClr val="64A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014460" y="646175"/>
              <a:ext cx="1815464" cy="5259705"/>
            </a:xfrm>
            <a:custGeom>
              <a:avLst/>
              <a:gdLst/>
              <a:ahLst/>
              <a:cxnLst/>
              <a:rect l="l" t="t" r="r" b="b"/>
              <a:pathLst>
                <a:path w="1815465" h="5259705">
                  <a:moveTo>
                    <a:pt x="0" y="5259324"/>
                  </a:moveTo>
                  <a:lnTo>
                    <a:pt x="1815083" y="5259324"/>
                  </a:lnTo>
                  <a:lnTo>
                    <a:pt x="1815083" y="0"/>
                  </a:lnTo>
                  <a:lnTo>
                    <a:pt x="0" y="0"/>
                  </a:lnTo>
                  <a:lnTo>
                    <a:pt x="0" y="5259324"/>
                  </a:lnTo>
                  <a:close/>
                </a:path>
              </a:pathLst>
            </a:custGeom>
            <a:ln w="76200">
              <a:solidFill>
                <a:srgbClr val="CCA7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7787" y="795604"/>
            <a:ext cx="1577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Formulation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4988" y="1389888"/>
            <a:ext cx="5734812" cy="2532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88" y="4383023"/>
            <a:ext cx="5684520" cy="533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70776" y="591312"/>
            <a:ext cx="5072380" cy="6053455"/>
            <a:chOff x="6970776" y="591312"/>
            <a:chExt cx="5072380" cy="60534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0776" y="591312"/>
              <a:ext cx="5071872" cy="60533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856976" y="5902452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856976" y="5902452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856976" y="6147815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856976" y="6147815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856976" y="639317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856976" y="639317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056746" y="5831840"/>
            <a:ext cx="131445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930"/>
              </a:lnSpc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2045"/>
              </a:lnSpc>
            </a:pPr>
            <a:r>
              <a:rPr sz="18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71538" y="831341"/>
            <a:ext cx="5072380" cy="5012690"/>
          </a:xfrm>
          <a:custGeom>
            <a:avLst/>
            <a:gdLst/>
            <a:ahLst/>
            <a:cxnLst/>
            <a:rect l="l" t="t" r="r" b="b"/>
            <a:pathLst>
              <a:path w="5072380" h="5012690">
                <a:moveTo>
                  <a:pt x="0" y="5012436"/>
                </a:moveTo>
                <a:lnTo>
                  <a:pt x="5071872" y="5012436"/>
                </a:lnTo>
                <a:lnTo>
                  <a:pt x="5071872" y="0"/>
                </a:lnTo>
                <a:lnTo>
                  <a:pt x="0" y="0"/>
                </a:lnTo>
                <a:lnTo>
                  <a:pt x="0" y="501243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9279" y="5122164"/>
            <a:ext cx="2586227" cy="25450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4988" y="5545835"/>
            <a:ext cx="6001512" cy="5303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7787" y="795604"/>
            <a:ext cx="1577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Formulation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4988" y="1389888"/>
            <a:ext cx="8706612" cy="53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328" y="2223516"/>
            <a:ext cx="5151628" cy="2788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555" y="2950464"/>
            <a:ext cx="7019404" cy="2636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787" y="3827221"/>
            <a:ext cx="1767839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Regression: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40"/>
              </a:spcBef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Classification: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2783" y="3916679"/>
            <a:ext cx="4328160" cy="2545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2783" y="5725667"/>
            <a:ext cx="4532376" cy="2545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2783" y="4948428"/>
            <a:ext cx="6897624" cy="2545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7787" y="795604"/>
            <a:ext cx="3382645" cy="1286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Example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739775">
              <a:lnSpc>
                <a:spcPct val="100000"/>
              </a:lnSpc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Data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of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200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Patients: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7505" y="2719577"/>
            <a:ext cx="914400" cy="224154"/>
          </a:xfrm>
          <a:custGeom>
            <a:avLst/>
            <a:gdLst/>
            <a:ahLst/>
            <a:cxnLst/>
            <a:rect l="l" t="t" r="r" b="b"/>
            <a:pathLst>
              <a:path w="914400" h="224155">
                <a:moveTo>
                  <a:pt x="802386" y="0"/>
                </a:moveTo>
                <a:lnTo>
                  <a:pt x="802386" y="56007"/>
                </a:lnTo>
                <a:lnTo>
                  <a:pt x="0" y="56007"/>
                </a:lnTo>
                <a:lnTo>
                  <a:pt x="0" y="168021"/>
                </a:lnTo>
                <a:lnTo>
                  <a:pt x="802386" y="168021"/>
                </a:lnTo>
                <a:lnTo>
                  <a:pt x="802386" y="224027"/>
                </a:lnTo>
                <a:lnTo>
                  <a:pt x="914400" y="112013"/>
                </a:lnTo>
                <a:lnTo>
                  <a:pt x="80238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09744" y="2491739"/>
            <a:ext cx="1981200" cy="6797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1714" y="2666187"/>
            <a:ext cx="939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(h)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0661" y="2663444"/>
            <a:ext cx="32969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 panose="020F0502020204030204"/>
                <a:cs typeface="Calibri" panose="020F0502020204030204"/>
              </a:rPr>
              <a:t>Prediction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of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Oxygen</a:t>
            </a:r>
            <a:r>
              <a:rPr sz="2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Saturation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44106" y="2719577"/>
            <a:ext cx="914400" cy="224154"/>
          </a:xfrm>
          <a:custGeom>
            <a:avLst/>
            <a:gdLst/>
            <a:ahLst/>
            <a:cxnLst/>
            <a:rect l="l" t="t" r="r" b="b"/>
            <a:pathLst>
              <a:path w="914400" h="224155">
                <a:moveTo>
                  <a:pt x="802386" y="0"/>
                </a:moveTo>
                <a:lnTo>
                  <a:pt x="802386" y="56007"/>
                </a:lnTo>
                <a:lnTo>
                  <a:pt x="0" y="56007"/>
                </a:lnTo>
                <a:lnTo>
                  <a:pt x="0" y="168021"/>
                </a:lnTo>
                <a:lnTo>
                  <a:pt x="802386" y="168021"/>
                </a:lnTo>
                <a:lnTo>
                  <a:pt x="802386" y="224027"/>
                </a:lnTo>
                <a:lnTo>
                  <a:pt x="914400" y="112013"/>
                </a:lnTo>
                <a:lnTo>
                  <a:pt x="80238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5039" y="2056257"/>
            <a:ext cx="254127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Age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patient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Cholesterol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levels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Glucose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levels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spc="-25" dirty="0">
                <a:latin typeface="Calibri" panose="020F0502020204030204"/>
                <a:cs typeface="Calibri" panose="020F0502020204030204"/>
              </a:rPr>
              <a:t>BMI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Height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Heart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Rate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Calories</a:t>
            </a:r>
            <a:r>
              <a:rPr sz="24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intake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No.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steps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taken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7787" y="795604"/>
            <a:ext cx="1102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Example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000" y="1694229"/>
            <a:ext cx="3341468" cy="27402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00525" y="2710052"/>
            <a:ext cx="933450" cy="243204"/>
            <a:chOff x="4200525" y="2710052"/>
            <a:chExt cx="933450" cy="243204"/>
          </a:xfrm>
        </p:grpSpPr>
        <p:sp>
          <p:nvSpPr>
            <p:cNvPr id="6" name="object 6"/>
            <p:cNvSpPr/>
            <p:nvPr/>
          </p:nvSpPr>
          <p:spPr>
            <a:xfrm>
              <a:off x="4210050" y="2719577"/>
              <a:ext cx="914400" cy="224154"/>
            </a:xfrm>
            <a:custGeom>
              <a:avLst/>
              <a:gdLst/>
              <a:ahLst/>
              <a:cxnLst/>
              <a:rect l="l" t="t" r="r" b="b"/>
              <a:pathLst>
                <a:path w="914400" h="224155">
                  <a:moveTo>
                    <a:pt x="802386" y="0"/>
                  </a:moveTo>
                  <a:lnTo>
                    <a:pt x="802386" y="56007"/>
                  </a:lnTo>
                  <a:lnTo>
                    <a:pt x="0" y="56007"/>
                  </a:lnTo>
                  <a:lnTo>
                    <a:pt x="0" y="168021"/>
                  </a:lnTo>
                  <a:lnTo>
                    <a:pt x="802386" y="168021"/>
                  </a:lnTo>
                  <a:lnTo>
                    <a:pt x="802386" y="224027"/>
                  </a:lnTo>
                  <a:lnTo>
                    <a:pt x="914400" y="112013"/>
                  </a:lnTo>
                  <a:lnTo>
                    <a:pt x="80238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10050" y="2719577"/>
              <a:ext cx="914400" cy="224154"/>
            </a:xfrm>
            <a:custGeom>
              <a:avLst/>
              <a:gdLst/>
              <a:ahLst/>
              <a:cxnLst/>
              <a:rect l="l" t="t" r="r" b="b"/>
              <a:pathLst>
                <a:path w="914400" h="224155">
                  <a:moveTo>
                    <a:pt x="0" y="56007"/>
                  </a:moveTo>
                  <a:lnTo>
                    <a:pt x="802386" y="56007"/>
                  </a:lnTo>
                  <a:lnTo>
                    <a:pt x="802386" y="0"/>
                  </a:lnTo>
                  <a:lnTo>
                    <a:pt x="914400" y="112013"/>
                  </a:lnTo>
                  <a:lnTo>
                    <a:pt x="802386" y="224027"/>
                  </a:lnTo>
                  <a:lnTo>
                    <a:pt x="802386" y="168021"/>
                  </a:lnTo>
                  <a:lnTo>
                    <a:pt x="0" y="168021"/>
                  </a:lnTo>
                  <a:lnTo>
                    <a:pt x="0" y="5600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2288" y="2491739"/>
            <a:ext cx="1981200" cy="6797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74765" y="2666187"/>
            <a:ext cx="939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(h)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3841" y="2664967"/>
            <a:ext cx="970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 panose="020F0502020204030204"/>
                <a:cs typeface="Calibri" panose="020F0502020204030204"/>
              </a:rPr>
              <a:t>Prediction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86650" y="2719577"/>
            <a:ext cx="914400" cy="224154"/>
          </a:xfrm>
          <a:custGeom>
            <a:avLst/>
            <a:gdLst/>
            <a:ahLst/>
            <a:cxnLst/>
            <a:rect l="l" t="t" r="r" b="b"/>
            <a:pathLst>
              <a:path w="914400" h="224155">
                <a:moveTo>
                  <a:pt x="802385" y="0"/>
                </a:moveTo>
                <a:lnTo>
                  <a:pt x="802385" y="56007"/>
                </a:lnTo>
                <a:lnTo>
                  <a:pt x="0" y="56007"/>
                </a:lnTo>
                <a:lnTo>
                  <a:pt x="0" y="168021"/>
                </a:lnTo>
                <a:lnTo>
                  <a:pt x="802385" y="168021"/>
                </a:lnTo>
                <a:lnTo>
                  <a:pt x="802385" y="224027"/>
                </a:lnTo>
                <a:lnTo>
                  <a:pt x="914400" y="112013"/>
                </a:lnTo>
                <a:lnTo>
                  <a:pt x="802385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06958" y="4509007"/>
            <a:ext cx="41306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MNIST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Data: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sample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28x28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pixel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image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60,000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training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data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10,000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testing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data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8511" y="3246120"/>
            <a:ext cx="8709482" cy="24140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48511" y="1588008"/>
            <a:ext cx="8716010" cy="1454150"/>
            <a:chOff x="1048511" y="1588008"/>
            <a:chExt cx="8716010" cy="1454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511" y="1588008"/>
              <a:ext cx="8715578" cy="14538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06690" y="2323338"/>
              <a:ext cx="1243965" cy="485140"/>
            </a:xfrm>
            <a:custGeom>
              <a:avLst/>
              <a:gdLst/>
              <a:ahLst/>
              <a:cxnLst/>
              <a:rect l="l" t="t" r="r" b="b"/>
              <a:pathLst>
                <a:path w="1243965" h="485139">
                  <a:moveTo>
                    <a:pt x="0" y="484631"/>
                  </a:moveTo>
                  <a:lnTo>
                    <a:pt x="1243583" y="484631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48463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27787" y="795604"/>
            <a:ext cx="1115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Learning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8371" y="1006805"/>
            <a:ext cx="2131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Hypothesis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Class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9936" y="3291840"/>
            <a:ext cx="7473645" cy="254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284" y="2570988"/>
            <a:ext cx="1554480" cy="2270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988" y="1778507"/>
            <a:ext cx="8720328" cy="5577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067" y="4506467"/>
            <a:ext cx="6092952" cy="2301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64032" y="3654297"/>
            <a:ext cx="1110615" cy="949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75" marR="5080" indent="-3810">
              <a:lnSpc>
                <a:spcPct val="126000"/>
              </a:lnSpc>
              <a:spcBef>
                <a:spcPts val="95"/>
              </a:spcBef>
            </a:pP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Q:</a:t>
            </a:r>
            <a:r>
              <a:rPr sz="24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2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How?</a:t>
            </a:r>
            <a:r>
              <a:rPr sz="24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libri" panose="020F0502020204030204"/>
                <a:cs typeface="Calibri" panose="020F0502020204030204"/>
              </a:rPr>
              <a:t>A: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5067" y="5044440"/>
            <a:ext cx="8628888" cy="227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4631" y="3072383"/>
            <a:ext cx="10457688" cy="6370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3963923"/>
            <a:ext cx="1888236" cy="275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316" y="1632204"/>
            <a:ext cx="7129056" cy="2301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5719" y="936896"/>
            <a:ext cx="5298440" cy="185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5"/>
              </a:spcBef>
            </a:pP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Q:</a:t>
            </a:r>
            <a:r>
              <a:rPr sz="2400" b="1" u="sng" spc="-4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How</a:t>
            </a:r>
            <a:r>
              <a:rPr sz="2400" b="1" u="sng" spc="-5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do</a:t>
            </a:r>
            <a:r>
              <a:rPr sz="2400" b="1" u="sng" spc="-4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we</a:t>
            </a:r>
            <a:r>
              <a:rPr sz="2400" b="1" u="sng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evaluate</a:t>
            </a:r>
            <a:r>
              <a:rPr sz="2400" b="1" u="sng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u="sng" spc="-4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performance?</a:t>
            </a:r>
            <a:r>
              <a:rPr sz="2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libri" panose="020F0502020204030204"/>
                <a:cs typeface="Calibri" panose="020F0502020204030204"/>
              </a:rPr>
              <a:t>A: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Loss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Function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8371" y="1072641"/>
            <a:ext cx="3497579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0/1</a:t>
            </a:r>
            <a:r>
              <a:rPr sz="24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Loss</a:t>
            </a:r>
            <a:r>
              <a:rPr sz="24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Function: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5405">
              <a:lnSpc>
                <a:spcPct val="100000"/>
              </a:lnSpc>
              <a:spcBef>
                <a:spcPts val="1665"/>
              </a:spcBef>
            </a:pPr>
            <a:r>
              <a:rPr sz="2000" spc="-10" dirty="0">
                <a:latin typeface="Segoe Print" panose="02000600000000000000"/>
                <a:cs typeface="Segoe Print" panose="02000600000000000000"/>
              </a:rPr>
              <a:t>Zero-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one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defined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as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51376" y="1327403"/>
            <a:ext cx="3788664" cy="8305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2615183"/>
            <a:ext cx="6260592" cy="15666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8371" y="4246639"/>
            <a:ext cx="10972165" cy="181038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Interpretation: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549910" indent="-342900">
              <a:lnSpc>
                <a:spcPct val="100000"/>
              </a:lnSpc>
              <a:spcBef>
                <a:spcPts val="72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Note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normalization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by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number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samples.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This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makes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it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per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sample.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function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counts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number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mistakes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made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by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hypothesis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function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D.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Font typeface="Segoe Print" panose="02000600000000000000"/>
              <a:buChar char="-"/>
              <a:tabLst>
                <a:tab pos="549910" algn="l"/>
              </a:tabLst>
            </a:pPr>
            <a:r>
              <a:rPr sz="2000" b="1" dirty="0">
                <a:latin typeface="Segoe Print" panose="02000600000000000000"/>
                <a:cs typeface="Segoe Print" panose="02000600000000000000"/>
              </a:rPr>
              <a:t>Not</a:t>
            </a:r>
            <a:r>
              <a:rPr sz="20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000" b="1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frequently</a:t>
            </a:r>
            <a:r>
              <a:rPr sz="2000" b="1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due</a:t>
            </a:r>
            <a:r>
              <a:rPr sz="2000" b="1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000" b="1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spc="-10" dirty="0">
                <a:latin typeface="Segoe Print" panose="02000600000000000000"/>
                <a:cs typeface="Segoe Print" panose="02000600000000000000"/>
              </a:rPr>
              <a:t>non-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differentiability</a:t>
            </a:r>
            <a:r>
              <a:rPr sz="2000" b="1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and </a:t>
            </a:r>
            <a:r>
              <a:rPr sz="2000" b="1" spc="-10" dirty="0">
                <a:latin typeface="Segoe Print" panose="02000600000000000000"/>
                <a:cs typeface="Segoe Print" panose="02000600000000000000"/>
              </a:rPr>
              <a:t>non-continuity.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8371" y="1072641"/>
            <a:ext cx="9380855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Squared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Loss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Function: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5405">
              <a:lnSpc>
                <a:spcPct val="100000"/>
              </a:lnSpc>
              <a:spcBef>
                <a:spcPts val="1665"/>
              </a:spcBef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Squared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defined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as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(also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referred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as</a:t>
            </a:r>
            <a:r>
              <a:rPr sz="2000" spc="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spc="-10" dirty="0">
                <a:latin typeface="Segoe Print" panose="02000600000000000000"/>
                <a:cs typeface="Segoe Print" panose="02000600000000000000"/>
              </a:rPr>
              <a:t>mean-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square</a:t>
            </a:r>
            <a:r>
              <a:rPr sz="2000" b="1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error,</a:t>
            </a:r>
            <a:r>
              <a:rPr sz="2000" b="1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1" dirty="0">
                <a:latin typeface="Segoe Print" panose="02000600000000000000"/>
                <a:cs typeface="Segoe Print" panose="02000600000000000000"/>
              </a:rPr>
              <a:t>MSE</a:t>
            </a:r>
            <a:r>
              <a:rPr sz="2000" b="1" spc="-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)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28415" y="2168651"/>
            <a:ext cx="3742943" cy="832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359" y="5081015"/>
            <a:ext cx="4261104" cy="10942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8371" y="2918408"/>
            <a:ext cx="9939655" cy="280924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Interpretation: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Again</a:t>
            </a:r>
            <a:r>
              <a:rPr sz="20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note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normalization</a:t>
            </a:r>
            <a:r>
              <a:rPr sz="20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by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number</a:t>
            </a:r>
            <a:r>
              <a:rPr sz="20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samples.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grows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quadratically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with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absolute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error</a:t>
            </a:r>
            <a:r>
              <a:rPr sz="20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amount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each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sample.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Root</a:t>
            </a:r>
            <a:r>
              <a:rPr sz="2400" b="1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Mean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Squared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Error</a:t>
            </a:r>
            <a:r>
              <a:rPr sz="2400" b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(RMSE):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5405">
              <a:lnSpc>
                <a:spcPct val="100000"/>
              </a:lnSpc>
              <a:spcBef>
                <a:spcPts val="1665"/>
              </a:spcBef>
              <a:tabLst>
                <a:tab pos="187833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RMSE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just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	square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root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squared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function: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28371" y="1072641"/>
            <a:ext cx="336804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Absolute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Loss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Function: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5405">
              <a:lnSpc>
                <a:spcPct val="100000"/>
              </a:lnSpc>
              <a:spcBef>
                <a:spcPts val="1665"/>
              </a:spcBef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Absolute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defined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as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28415" y="2168651"/>
            <a:ext cx="3619499" cy="8321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8371" y="2918408"/>
            <a:ext cx="9391650" cy="135191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Interpretation: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grows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linearly</a:t>
            </a:r>
            <a:r>
              <a:rPr sz="20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with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absolute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error</a:t>
            </a:r>
            <a:r>
              <a:rPr sz="20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each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prediction.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20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regression</a:t>
            </a:r>
            <a:r>
              <a:rPr sz="20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and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suited</a:t>
            </a:r>
            <a:r>
              <a:rPr sz="20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noisy</a:t>
            </a:r>
            <a:r>
              <a:rPr sz="20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data.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490" y="5076571"/>
            <a:ext cx="4542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Print" panose="02000600000000000000"/>
                <a:cs typeface="Segoe Print" panose="02000600000000000000"/>
              </a:rPr>
              <a:t>*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All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0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losses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dirty="0">
                <a:latin typeface="Segoe Print" panose="02000600000000000000"/>
                <a:cs typeface="Segoe Print" panose="02000600000000000000"/>
              </a:rPr>
              <a:t>are</a:t>
            </a:r>
            <a:r>
              <a:rPr sz="20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000" spc="-10" dirty="0">
                <a:latin typeface="Segoe Print" panose="02000600000000000000"/>
                <a:cs typeface="Segoe Print" panose="02000600000000000000"/>
              </a:rPr>
              <a:t>non-negative</a:t>
            </a:r>
            <a:endParaRPr sz="20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5091" y="1487424"/>
            <a:ext cx="7463028" cy="1107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787" y="795604"/>
            <a:ext cx="1115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Learning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8655" y="2782823"/>
            <a:ext cx="8706485" cy="661670"/>
            <a:chOff x="1438655" y="2782823"/>
            <a:chExt cx="8706485" cy="6616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8655" y="2886455"/>
              <a:ext cx="8706358" cy="557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02929" y="2801873"/>
              <a:ext cx="1243965" cy="486409"/>
            </a:xfrm>
            <a:custGeom>
              <a:avLst/>
              <a:gdLst/>
              <a:ahLst/>
              <a:cxnLst/>
              <a:rect l="l" t="t" r="r" b="b"/>
              <a:pathLst>
                <a:path w="1243965" h="486410">
                  <a:moveTo>
                    <a:pt x="0" y="486155"/>
                  </a:moveTo>
                  <a:lnTo>
                    <a:pt x="1243583" y="486155"/>
                  </a:lnTo>
                  <a:lnTo>
                    <a:pt x="1243583" y="0"/>
                  </a:lnTo>
                  <a:lnTo>
                    <a:pt x="0" y="0"/>
                  </a:lnTo>
                  <a:lnTo>
                    <a:pt x="0" y="48615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3222" y="2790190"/>
            <a:ext cx="775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Recall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85150" y="2130678"/>
            <a:ext cx="2750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38235"/>
                </a:solidFill>
                <a:latin typeface="Segoe Print" panose="02000600000000000000"/>
                <a:cs typeface="Segoe Print" panose="02000600000000000000"/>
              </a:rPr>
              <a:t>(Optimization</a:t>
            </a:r>
            <a:r>
              <a:rPr sz="1800" spc="-114" dirty="0">
                <a:solidFill>
                  <a:srgbClr val="538235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1800" spc="-10" dirty="0">
                <a:solidFill>
                  <a:srgbClr val="538235"/>
                </a:solidFill>
                <a:latin typeface="Segoe Print" panose="02000600000000000000"/>
                <a:cs typeface="Segoe Print" panose="02000600000000000000"/>
              </a:rPr>
              <a:t>problem)</a:t>
            </a:r>
            <a:endParaRPr sz="1800">
              <a:latin typeface="Segoe Print" panose="02000600000000000000"/>
              <a:cs typeface="Segoe Print" panose="0200060000000000000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091" y="3899915"/>
            <a:ext cx="8709596" cy="5334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3222" y="4976241"/>
            <a:ext cx="10139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 panose="020F0502020204030204"/>
                <a:cs typeface="Calibri" panose="020F0502020204030204"/>
              </a:rPr>
              <a:t>Q: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How</a:t>
            </a:r>
            <a:r>
              <a:rPr sz="24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4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</a:t>
            </a:r>
            <a:r>
              <a:rPr sz="24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ensure</a:t>
            </a:r>
            <a:r>
              <a:rPr sz="24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4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hypothesis</a:t>
            </a:r>
            <a:r>
              <a:rPr sz="24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400" b="1" i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4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give</a:t>
            </a:r>
            <a:r>
              <a:rPr sz="24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low</a:t>
            </a:r>
            <a:r>
              <a:rPr sz="24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loss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4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24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4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400" b="1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i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4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?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1916" y="958596"/>
            <a:ext cx="8712555" cy="784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7227" y="1819655"/>
            <a:ext cx="5350764" cy="9098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pc="-10" dirty="0"/>
              <a:t>Interpretation:</a:t>
            </a:r>
            <a:endParaRPr spc="-10" dirty="0"/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0%</a:t>
            </a:r>
            <a:r>
              <a:rPr sz="2000" b="0" u="none" spc="-3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loss</a:t>
            </a:r>
            <a:r>
              <a:rPr sz="2000" b="0" u="none" spc="-1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error</a:t>
            </a:r>
            <a:r>
              <a:rPr sz="2000" b="0" u="none" spc="-4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on</a:t>
            </a:r>
            <a:r>
              <a:rPr sz="2000" b="0" u="none" spc="-2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the</a:t>
            </a:r>
            <a:r>
              <a:rPr sz="2000" b="0" u="none" spc="-1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training</a:t>
            </a:r>
            <a:r>
              <a:rPr sz="2000" b="0" u="none" spc="-4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data</a:t>
            </a:r>
            <a:r>
              <a:rPr sz="2000" b="0" u="none" spc="-1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(Model</a:t>
            </a:r>
            <a:r>
              <a:rPr sz="2000" b="0" u="none" spc="-2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is</a:t>
            </a:r>
            <a:r>
              <a:rPr sz="2000" b="0" u="none" spc="-1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fit</a:t>
            </a:r>
            <a:r>
              <a:rPr sz="2000" b="0" u="none" spc="-2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to</a:t>
            </a:r>
            <a:r>
              <a:rPr sz="2000" b="0" u="none" spc="-1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every</a:t>
            </a:r>
            <a:r>
              <a:rPr sz="2000" b="0" u="none" spc="-4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data</a:t>
            </a:r>
            <a:r>
              <a:rPr sz="2000" b="0" u="none" spc="-1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point</a:t>
            </a:r>
            <a:r>
              <a:rPr sz="2000" b="0" u="none" spc="-3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in</a:t>
            </a:r>
            <a:r>
              <a:rPr sz="2000" b="0" u="none" spc="-1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spc="-2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D).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Large</a:t>
            </a:r>
            <a:r>
              <a:rPr sz="2000" b="0" u="none" spc="-4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error</a:t>
            </a:r>
            <a:r>
              <a:rPr sz="2000" b="0" u="none" spc="-4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for</a:t>
            </a:r>
            <a:r>
              <a:rPr sz="2000" b="0" u="none" spc="-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some</a:t>
            </a:r>
            <a:r>
              <a:rPr sz="2000" b="0" u="none" spc="-3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input</a:t>
            </a:r>
            <a:r>
              <a:rPr sz="2000" b="0" u="none" spc="-1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not</a:t>
            </a:r>
            <a:r>
              <a:rPr sz="2000" b="0" u="none" spc="-2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in</a:t>
            </a:r>
            <a:r>
              <a:rPr sz="2000" b="0" u="none" spc="-1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spc="-50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D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First</a:t>
            </a:r>
            <a:r>
              <a:rPr sz="2000" b="0" u="none" spc="-2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glimpse</a:t>
            </a:r>
            <a:r>
              <a:rPr sz="2000" b="0" u="none" spc="-3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of</a:t>
            </a:r>
            <a:r>
              <a:rPr sz="2000" b="0" u="none" spc="-5" dirty="0">
                <a:solidFill>
                  <a:srgbClr val="000000"/>
                </a:solidFill>
                <a:latin typeface="Segoe Print" panose="02000600000000000000"/>
                <a:cs typeface="Segoe Print" panose="02000600000000000000"/>
              </a:rPr>
              <a:t> </a:t>
            </a:r>
            <a:r>
              <a:rPr sz="20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egoe Print" panose="02000600000000000000"/>
                <a:cs typeface="Segoe Print" panose="02000600000000000000"/>
              </a:rPr>
              <a:t>overfitting.</a:t>
            </a:r>
            <a:endParaRPr sz="2000">
              <a:latin typeface="Segoe Print" panose="02000600000000000000"/>
              <a:cs typeface="Segoe Print" panose="02000600000000000000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pc="-10" dirty="0"/>
              <a:t>Revisit:</a:t>
            </a:r>
            <a:endParaRPr spc="-10" dirty="0"/>
          </a:p>
          <a:p>
            <a:pPr marL="135890">
              <a:lnSpc>
                <a:spcPct val="100000"/>
              </a:lnSpc>
              <a:spcBef>
                <a:spcPts val="815"/>
              </a:spcBef>
            </a:pPr>
            <a:r>
              <a:rPr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Q: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How</a:t>
            </a:r>
            <a:r>
              <a:rPr u="none" spc="-5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can</a:t>
            </a:r>
            <a:r>
              <a:rPr u="none" spc="-4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we</a:t>
            </a:r>
            <a:r>
              <a:rPr u="none" spc="-2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ensure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that</a:t>
            </a:r>
            <a:r>
              <a:rPr u="none" spc="-2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hypothesis</a:t>
            </a:r>
            <a:r>
              <a:rPr u="none" spc="-50" dirty="0">
                <a:solidFill>
                  <a:srgbClr val="C00000"/>
                </a:solidFill>
              </a:rPr>
              <a:t> </a:t>
            </a:r>
            <a:r>
              <a:rPr i="1" u="none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i="1" u="none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u="none" dirty="0">
                <a:solidFill>
                  <a:srgbClr val="C00000"/>
                </a:solidFill>
              </a:rPr>
              <a:t>will</a:t>
            </a:r>
            <a:r>
              <a:rPr u="none" spc="-4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give</a:t>
            </a:r>
            <a:r>
              <a:rPr u="none" spc="-4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low</a:t>
            </a:r>
            <a:r>
              <a:rPr u="none" spc="-5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loss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on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the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input</a:t>
            </a:r>
            <a:r>
              <a:rPr u="none" spc="-2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not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in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i="1" u="none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u="none" spc="-25" dirty="0">
                <a:solidFill>
                  <a:srgbClr val="C00000"/>
                </a:solidFill>
              </a:rPr>
              <a:t>?</a:t>
            </a:r>
            <a:endParaRPr u="none" spc="-25" dirty="0">
              <a:solidFill>
                <a:srgbClr val="C00000"/>
              </a:solidFill>
            </a:endParaRPr>
          </a:p>
          <a:p>
            <a:pPr marL="135890">
              <a:lnSpc>
                <a:spcPct val="100000"/>
              </a:lnSpc>
              <a:spcBef>
                <a:spcPts val="2045"/>
              </a:spcBef>
            </a:pPr>
            <a:r>
              <a:rPr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A:</a:t>
            </a:r>
            <a:r>
              <a:rPr u="none" spc="-30" dirty="0">
                <a:solidFill>
                  <a:srgbClr val="00AF50"/>
                </a:solidFill>
              </a:rPr>
              <a:t> </a:t>
            </a:r>
            <a:r>
              <a:rPr u="none" spc="-45" dirty="0">
                <a:solidFill>
                  <a:srgbClr val="00AF50"/>
                </a:solidFill>
              </a:rPr>
              <a:t>Train/Test</a:t>
            </a:r>
            <a:r>
              <a:rPr u="none" spc="-30" dirty="0">
                <a:solidFill>
                  <a:srgbClr val="00AF50"/>
                </a:solidFill>
              </a:rPr>
              <a:t> </a:t>
            </a:r>
            <a:r>
              <a:rPr u="none" spc="-10" dirty="0">
                <a:solidFill>
                  <a:srgbClr val="00AF50"/>
                </a:solidFill>
              </a:rPr>
              <a:t>Split</a:t>
            </a:r>
            <a:endParaRPr u="none" spc="-10" dirty="0">
              <a:solidFill>
                <a:srgbClr val="00AF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72083" y="3912108"/>
            <a:ext cx="9994392" cy="12435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747" y="1280160"/>
            <a:ext cx="6638544" cy="19278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7787" y="3258058"/>
            <a:ext cx="3385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How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to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carry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out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splitting?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6579" y="476084"/>
            <a:ext cx="3054036" cy="31410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1995" y="872744"/>
            <a:ext cx="447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	The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Split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3555" y="5544864"/>
            <a:ext cx="11205235" cy="29097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9648" y="5439562"/>
            <a:ext cx="11222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You</a:t>
            </a:r>
            <a:r>
              <a:rPr sz="2400" b="1" spc="-7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4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only</a:t>
            </a:r>
            <a:r>
              <a:rPr sz="2400" b="1" spc="-7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400" b="1" spc="-5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dataset</a:t>
            </a:r>
            <a:r>
              <a:rPr sz="2400" b="1" spc="-3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once</a:t>
            </a:r>
            <a:r>
              <a:rPr sz="2400" b="1" spc="-7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after</a:t>
            </a:r>
            <a:r>
              <a:rPr sz="2400" b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deciding</a:t>
            </a:r>
            <a:r>
              <a:rPr sz="2400" b="1" spc="-6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400" b="1" spc="-5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sz="2400" b="1" spc="-6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using</a:t>
            </a:r>
            <a:r>
              <a:rPr sz="2400" b="1" spc="-5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training</a:t>
            </a:r>
            <a:r>
              <a:rPr sz="2400" b="1" spc="-5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dataset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1995" y="872744"/>
            <a:ext cx="4741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Learning</a:t>
            </a:r>
            <a:r>
              <a:rPr sz="2400" b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(Revisit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after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split)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5091" y="1487424"/>
            <a:ext cx="5975604" cy="10744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2634995"/>
            <a:ext cx="7275576" cy="14340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3222" y="4198111"/>
            <a:ext cx="1351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Evaluation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60" y="4760976"/>
            <a:ext cx="6979920" cy="1432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1995" y="872744"/>
            <a:ext cx="2416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Generalization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loss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55091" y="1487424"/>
            <a:ext cx="10454640" cy="1714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1" y="3599688"/>
            <a:ext cx="7499604" cy="3063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091" y="4302252"/>
            <a:ext cx="10459212" cy="18714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7284" y="1446275"/>
            <a:ext cx="10453116" cy="25389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1995" y="872744"/>
            <a:ext cx="447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	The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Split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995" y="3926840"/>
            <a:ext cx="10698480" cy="20008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Q:</a:t>
            </a:r>
            <a:r>
              <a:rPr sz="24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Idea: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406400" marR="50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Print" panose="02000600000000000000"/>
                <a:cs typeface="Segoe Print" panose="02000600000000000000"/>
              </a:rPr>
              <a:t>Validation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data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evaluate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loss</a:t>
            </a:r>
            <a:r>
              <a:rPr sz="24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function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that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is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determined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using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learning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on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training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data-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set.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If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loss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on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validation</a:t>
            </a:r>
            <a:r>
              <a:rPr sz="2400" spc="-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data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high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given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h,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hypothesis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model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needs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be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changed.</a:t>
            </a:r>
            <a:endParaRPr sz="2400">
              <a:latin typeface="Segoe Print" panose="02000600000000000000"/>
              <a:cs typeface="Segoe Print" panose="0200060000000000000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1995" y="872744"/>
            <a:ext cx="11313160" cy="574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	The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Split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sz="2400" b="1" dirty="0">
                <a:latin typeface="Calibri" panose="020F0502020204030204"/>
                <a:cs typeface="Calibri" panose="020F0502020204030204"/>
              </a:rPr>
              <a:t>More</a:t>
            </a:r>
            <a:r>
              <a:rPr sz="24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explanation*</a:t>
            </a:r>
            <a:r>
              <a:rPr sz="24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24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understand</a:t>
            </a:r>
            <a:r>
              <a:rPr sz="24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difference</a:t>
            </a:r>
            <a:r>
              <a:rPr sz="24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validation</a:t>
            </a:r>
            <a:r>
              <a:rPr sz="2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latin typeface="Calibri" panose="020F0502020204030204"/>
                <a:cs typeface="Calibri" panose="020F0502020204030204"/>
              </a:rPr>
              <a:t>test</a:t>
            </a:r>
            <a:r>
              <a:rPr sz="24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latin typeface="Calibri" panose="020F0502020204030204"/>
                <a:cs typeface="Calibri" panose="020F0502020204030204"/>
              </a:rPr>
              <a:t>data: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600075" marR="471805" indent="-287020">
              <a:lnSpc>
                <a:spcPct val="100000"/>
              </a:lnSpc>
              <a:spcBef>
                <a:spcPts val="2460"/>
              </a:spcBef>
              <a:buFont typeface="Segoe Print" panose="02000600000000000000"/>
              <a:buChar char="-"/>
              <a:tabLst>
                <a:tab pos="600075" algn="l"/>
              </a:tabLst>
            </a:pPr>
            <a:r>
              <a:rPr sz="2400" b="1" dirty="0">
                <a:latin typeface="Segoe Print" panose="02000600000000000000"/>
                <a:cs typeface="Segoe Print" panose="02000600000000000000"/>
              </a:rPr>
              <a:t>Training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set:</a:t>
            </a:r>
            <a:r>
              <a:rPr sz="2400" b="1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set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examples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learning,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that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is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fit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the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parameters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hypothesis</a:t>
            </a:r>
            <a:r>
              <a:rPr sz="2400" spc="-6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(model).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600075" marR="628015" indent="-287020">
              <a:lnSpc>
                <a:spcPct val="100000"/>
              </a:lnSpc>
              <a:spcBef>
                <a:spcPts val="2885"/>
              </a:spcBef>
              <a:buFont typeface="Segoe Print" panose="02000600000000000000"/>
              <a:buChar char="-"/>
              <a:tabLst>
                <a:tab pos="600075" algn="l"/>
              </a:tabLst>
            </a:pPr>
            <a:r>
              <a:rPr sz="2400" b="1" dirty="0">
                <a:latin typeface="Segoe Print" panose="02000600000000000000"/>
                <a:cs typeface="Segoe Print" panose="02000600000000000000"/>
              </a:rPr>
              <a:t>Validation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set:</a:t>
            </a:r>
            <a:r>
              <a:rPr sz="2400" b="1" spc="-1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set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examples</a:t>
            </a:r>
            <a:r>
              <a:rPr sz="2400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tune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1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hyper-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parameters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hypothesis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function,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for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example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choose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the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number</a:t>
            </a:r>
            <a:r>
              <a:rPr sz="24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hidden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units</a:t>
            </a:r>
            <a:r>
              <a:rPr sz="2400" spc="-6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in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5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neural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network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5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order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of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polynomial</a:t>
            </a:r>
            <a:r>
              <a:rPr sz="2400" spc="-8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approximating</a:t>
            </a:r>
            <a:r>
              <a:rPr sz="2400" spc="-7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8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data.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600075" marR="523875" indent="-287020">
              <a:lnSpc>
                <a:spcPct val="100000"/>
              </a:lnSpc>
              <a:spcBef>
                <a:spcPts val="2880"/>
              </a:spcBef>
              <a:buFont typeface="Segoe Print" panose="02000600000000000000"/>
              <a:buChar char="-"/>
              <a:tabLst>
                <a:tab pos="600075" algn="l"/>
              </a:tabLst>
            </a:pPr>
            <a:r>
              <a:rPr sz="2400" b="1" dirty="0">
                <a:latin typeface="Segoe Print" panose="02000600000000000000"/>
                <a:cs typeface="Segoe Print" panose="02000600000000000000"/>
              </a:rPr>
              <a:t>Test</a:t>
            </a:r>
            <a:r>
              <a:rPr sz="2400" b="1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set: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set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of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examples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b="1" dirty="0">
                <a:latin typeface="Segoe Print" panose="02000600000000000000"/>
                <a:cs typeface="Segoe Print" panose="02000600000000000000"/>
              </a:rPr>
              <a:t>used</a:t>
            </a:r>
            <a:r>
              <a:rPr sz="2400" b="1" spc="-2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only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to</a:t>
            </a:r>
            <a:r>
              <a:rPr sz="2400" spc="-3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assess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the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performance</a:t>
            </a:r>
            <a:r>
              <a:rPr sz="2400" spc="-25" dirty="0">
                <a:latin typeface="Segoe Print" panose="02000600000000000000"/>
                <a:cs typeface="Segoe Print" panose="02000600000000000000"/>
              </a:rPr>
              <a:t> of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a</a:t>
            </a:r>
            <a:r>
              <a:rPr sz="2400" spc="-4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fully-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specified</a:t>
            </a:r>
            <a:r>
              <a:rPr sz="2400" spc="-40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model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dirty="0">
                <a:latin typeface="Segoe Print" panose="02000600000000000000"/>
                <a:cs typeface="Segoe Print" panose="02000600000000000000"/>
              </a:rPr>
              <a:t>or</a:t>
            </a:r>
            <a:r>
              <a:rPr sz="2400" spc="-35" dirty="0">
                <a:latin typeface="Segoe Print" panose="02000600000000000000"/>
                <a:cs typeface="Segoe Print" panose="02000600000000000000"/>
              </a:rPr>
              <a:t> </a:t>
            </a:r>
            <a:r>
              <a:rPr sz="2400" spc="-10" dirty="0">
                <a:latin typeface="Segoe Print" panose="02000600000000000000"/>
                <a:cs typeface="Segoe Print" panose="02000600000000000000"/>
              </a:rPr>
              <a:t>hypothesis.</a:t>
            </a:r>
            <a:endParaRPr sz="2400">
              <a:latin typeface="Segoe Print" panose="02000600000000000000"/>
              <a:cs typeface="Segoe Print" panose="02000600000000000000"/>
            </a:endParaRPr>
          </a:p>
          <a:p>
            <a:pPr marL="1704975">
              <a:lnSpc>
                <a:spcPct val="100000"/>
              </a:lnSpc>
              <a:spcBef>
                <a:spcPts val="341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Adapted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*Brian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Ripley,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Pattern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Recognition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Neural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Networks,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1996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07721" y="1416962"/>
            <a:ext cx="10095047" cy="37627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90" dirty="0"/>
              <a:t> </a:t>
            </a:r>
            <a:r>
              <a:rPr dirty="0"/>
              <a:t>Learning</a:t>
            </a:r>
            <a:r>
              <a:rPr spc="-85" dirty="0"/>
              <a:t> </a:t>
            </a:r>
            <a:r>
              <a:rPr spc="-10" dirty="0"/>
              <a:t>Setup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21995" y="872744"/>
            <a:ext cx="5808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	The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Split</a:t>
            </a:r>
            <a:r>
              <a:rPr sz="2400" b="1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 panose="020F0502020204030204"/>
                <a:cs typeface="Calibri" panose="020F0502020204030204"/>
              </a:rPr>
              <a:t>(Example)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83208" y="5570220"/>
            <a:ext cx="9349105" cy="677545"/>
            <a:chOff x="1283208" y="5570220"/>
            <a:chExt cx="9349105" cy="6775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208" y="5570220"/>
              <a:ext cx="5473445" cy="6774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53555" y="5570220"/>
              <a:ext cx="496061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6519" y="5570220"/>
              <a:ext cx="4185666" cy="67741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61642" y="5638596"/>
            <a:ext cx="897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Cross</a:t>
            </a:r>
            <a:r>
              <a:rPr sz="2400" b="1" spc="-8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validation</a:t>
            </a:r>
            <a:r>
              <a:rPr sz="2400" b="1" spc="-6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simulates</a:t>
            </a:r>
            <a:r>
              <a:rPr sz="2400" b="1" spc="-6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400" b="1" spc="-7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train-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test</a:t>
            </a:r>
            <a:r>
              <a:rPr sz="2400" b="1" spc="-5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splits</a:t>
            </a:r>
            <a:r>
              <a:rPr sz="2400" b="1" spc="-6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400" b="1" spc="-7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6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training</a:t>
            </a:r>
            <a:r>
              <a:rPr sz="2400" b="1" spc="-7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data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8694" y="1759966"/>
            <a:ext cx="2374900" cy="1003300"/>
            <a:chOff x="1488694" y="1759966"/>
            <a:chExt cx="2374900" cy="1003300"/>
          </a:xfrm>
        </p:grpSpPr>
        <p:sp>
          <p:nvSpPr>
            <p:cNvPr id="3" name="object 3"/>
            <p:cNvSpPr/>
            <p:nvPr/>
          </p:nvSpPr>
          <p:spPr>
            <a:xfrm>
              <a:off x="1495044" y="176631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97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990600"/>
                  </a:lnTo>
                  <a:lnTo>
                    <a:pt x="2362200" y="990600"/>
                  </a:lnTo>
                  <a:lnTo>
                    <a:pt x="2362200" y="165100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95044" y="176631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65100" y="0"/>
                  </a:moveTo>
                  <a:lnTo>
                    <a:pt x="2197100" y="0"/>
                  </a:lnTo>
                  <a:lnTo>
                    <a:pt x="2362200" y="165100"/>
                  </a:lnTo>
                  <a:lnTo>
                    <a:pt x="2362200" y="990600"/>
                  </a:lnTo>
                  <a:lnTo>
                    <a:pt x="0" y="990600"/>
                  </a:lnTo>
                  <a:lnTo>
                    <a:pt x="0" y="165100"/>
                  </a:ln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close/>
                </a:path>
              </a:pathLst>
            </a:custGeom>
            <a:ln w="12700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639951" y="1888363"/>
            <a:ext cx="2037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Problem</a:t>
            </a:r>
            <a:r>
              <a:rPr sz="2400" b="1" spc="-8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Nature Identification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97505" y="3109508"/>
            <a:ext cx="526904" cy="5168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4511" y="3134997"/>
            <a:ext cx="601681" cy="540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137" y="3076955"/>
            <a:ext cx="601756" cy="6361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0759" y="3118104"/>
            <a:ext cx="580595" cy="46921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313934" y="1759966"/>
            <a:ext cx="2374900" cy="1003300"/>
            <a:chOff x="5313934" y="1759966"/>
            <a:chExt cx="2374900" cy="1003300"/>
          </a:xfrm>
        </p:grpSpPr>
        <p:sp>
          <p:nvSpPr>
            <p:cNvPr id="11" name="object 11"/>
            <p:cNvSpPr/>
            <p:nvPr/>
          </p:nvSpPr>
          <p:spPr>
            <a:xfrm>
              <a:off x="5320284" y="176631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97099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990600"/>
                  </a:lnTo>
                  <a:lnTo>
                    <a:pt x="2362199" y="990600"/>
                  </a:lnTo>
                  <a:lnTo>
                    <a:pt x="2362199" y="165100"/>
                  </a:lnTo>
                  <a:lnTo>
                    <a:pt x="2197099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20284" y="176631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65100" y="0"/>
                  </a:moveTo>
                  <a:lnTo>
                    <a:pt x="2197099" y="0"/>
                  </a:lnTo>
                  <a:lnTo>
                    <a:pt x="2362199" y="165100"/>
                  </a:lnTo>
                  <a:lnTo>
                    <a:pt x="2362199" y="990600"/>
                  </a:lnTo>
                  <a:lnTo>
                    <a:pt x="0" y="990600"/>
                  </a:lnTo>
                  <a:lnTo>
                    <a:pt x="0" y="165100"/>
                  </a:ln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close/>
                </a:path>
              </a:pathLst>
            </a:custGeom>
            <a:ln w="12700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637021" y="1888363"/>
            <a:ext cx="1694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Training</a:t>
            </a:r>
            <a:r>
              <a:rPr sz="2400" b="1" spc="-6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5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Data </a:t>
            </a: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Collection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09488" y="2895600"/>
            <a:ext cx="1487423" cy="112951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9137650" y="1746250"/>
            <a:ext cx="2374900" cy="1003300"/>
            <a:chOff x="9137650" y="1746250"/>
            <a:chExt cx="2374900" cy="1003300"/>
          </a:xfrm>
        </p:grpSpPr>
        <p:sp>
          <p:nvSpPr>
            <p:cNvPr id="16" name="object 16"/>
            <p:cNvSpPr/>
            <p:nvPr/>
          </p:nvSpPr>
          <p:spPr>
            <a:xfrm>
              <a:off x="9144000" y="1752600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97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990600"/>
                  </a:lnTo>
                  <a:lnTo>
                    <a:pt x="2362200" y="990600"/>
                  </a:lnTo>
                  <a:lnTo>
                    <a:pt x="2362200" y="165100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144000" y="1752600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65100" y="0"/>
                  </a:moveTo>
                  <a:lnTo>
                    <a:pt x="2197100" y="0"/>
                  </a:lnTo>
                  <a:lnTo>
                    <a:pt x="2362200" y="165100"/>
                  </a:lnTo>
                  <a:lnTo>
                    <a:pt x="2362200" y="990600"/>
                  </a:lnTo>
                  <a:lnTo>
                    <a:pt x="0" y="990600"/>
                  </a:lnTo>
                  <a:lnTo>
                    <a:pt x="0" y="165100"/>
                  </a:ln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close/>
                </a:path>
              </a:pathLst>
            </a:custGeom>
            <a:ln w="12700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347454" y="2057146"/>
            <a:ext cx="192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sz="2400" b="1" spc="-5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Training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954768" y="2996183"/>
            <a:ext cx="1018540" cy="668020"/>
          </a:xfrm>
          <a:custGeom>
            <a:avLst/>
            <a:gdLst/>
            <a:ahLst/>
            <a:cxnLst/>
            <a:rect l="l" t="t" r="r" b="b"/>
            <a:pathLst>
              <a:path w="1018540" h="668020">
                <a:moveTo>
                  <a:pt x="1018031" y="0"/>
                </a:moveTo>
                <a:lnTo>
                  <a:pt x="0" y="0"/>
                </a:lnTo>
                <a:lnTo>
                  <a:pt x="0" y="667512"/>
                </a:lnTo>
                <a:lnTo>
                  <a:pt x="1018031" y="667512"/>
                </a:lnTo>
                <a:lnTo>
                  <a:pt x="1018031" y="0"/>
                </a:lnTo>
                <a:close/>
              </a:path>
            </a:pathLst>
          </a:custGeom>
          <a:solidFill>
            <a:srgbClr val="E1EF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063467" y="2810516"/>
            <a:ext cx="903605" cy="73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700" i="1" spc="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700" i="1" spc="2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975" spc="-419" baseline="-5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</a:t>
            </a:r>
            <a:r>
              <a:rPr sz="3700" b="1" spc="-2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x</a:t>
            </a:r>
            <a:r>
              <a:rPr sz="6975" spc="-419" baseline="-5000" dirty="0">
                <a:solidFill>
                  <a:srgbClr val="FF0000"/>
                </a:solidFill>
                <a:latin typeface="Symbol" panose="05050102010706020507"/>
                <a:cs typeface="Symbol" panose="05050102010706020507"/>
              </a:rPr>
              <a:t></a:t>
            </a:r>
            <a:endParaRPr sz="6975" baseline="-5000">
              <a:latin typeface="Symbol" panose="05050102010706020507"/>
              <a:cs typeface="Symbol" panose="05050102010706020507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35114" y="4609846"/>
            <a:ext cx="2374900" cy="1003300"/>
            <a:chOff x="7135114" y="4609846"/>
            <a:chExt cx="2374900" cy="1003300"/>
          </a:xfrm>
        </p:grpSpPr>
        <p:sp>
          <p:nvSpPr>
            <p:cNvPr id="22" name="object 22"/>
            <p:cNvSpPr/>
            <p:nvPr/>
          </p:nvSpPr>
          <p:spPr>
            <a:xfrm>
              <a:off x="7141464" y="461619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97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099"/>
                  </a:lnTo>
                  <a:lnTo>
                    <a:pt x="0" y="990599"/>
                  </a:lnTo>
                  <a:lnTo>
                    <a:pt x="2362200" y="990599"/>
                  </a:lnTo>
                  <a:lnTo>
                    <a:pt x="2362200" y="165099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141464" y="4616196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65100" y="0"/>
                  </a:moveTo>
                  <a:lnTo>
                    <a:pt x="2197100" y="0"/>
                  </a:lnTo>
                  <a:lnTo>
                    <a:pt x="2362200" y="165099"/>
                  </a:lnTo>
                  <a:lnTo>
                    <a:pt x="2362200" y="990599"/>
                  </a:lnTo>
                  <a:lnTo>
                    <a:pt x="0" y="990599"/>
                  </a:lnTo>
                  <a:lnTo>
                    <a:pt x="0" y="165099"/>
                  </a:ln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close/>
                </a:path>
              </a:pathLst>
            </a:custGeom>
            <a:ln w="12700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652766" y="4737861"/>
            <a:ext cx="13087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987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Model </a:t>
            </a:r>
            <a:r>
              <a:rPr sz="2400" b="1" spc="-25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Validation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30895" y="5807964"/>
            <a:ext cx="908303" cy="897636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311397" y="4597653"/>
            <a:ext cx="2374900" cy="1003300"/>
            <a:chOff x="3311397" y="4597653"/>
            <a:chExt cx="2374900" cy="1003300"/>
          </a:xfrm>
        </p:grpSpPr>
        <p:sp>
          <p:nvSpPr>
            <p:cNvPr id="27" name="object 27"/>
            <p:cNvSpPr/>
            <p:nvPr/>
          </p:nvSpPr>
          <p:spPr>
            <a:xfrm>
              <a:off x="3317747" y="4604003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2197100" y="0"/>
                  </a:moveTo>
                  <a:lnTo>
                    <a:pt x="165100" y="0"/>
                  </a:lnTo>
                  <a:lnTo>
                    <a:pt x="121208" y="5897"/>
                  </a:lnTo>
                  <a:lnTo>
                    <a:pt x="81769" y="22540"/>
                  </a:lnTo>
                  <a:lnTo>
                    <a:pt x="48355" y="48355"/>
                  </a:lnTo>
                  <a:lnTo>
                    <a:pt x="22540" y="81769"/>
                  </a:lnTo>
                  <a:lnTo>
                    <a:pt x="5897" y="121208"/>
                  </a:lnTo>
                  <a:lnTo>
                    <a:pt x="0" y="165100"/>
                  </a:lnTo>
                  <a:lnTo>
                    <a:pt x="0" y="990600"/>
                  </a:lnTo>
                  <a:lnTo>
                    <a:pt x="2362200" y="990600"/>
                  </a:lnTo>
                  <a:lnTo>
                    <a:pt x="2362200" y="165100"/>
                  </a:lnTo>
                  <a:lnTo>
                    <a:pt x="219710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17747" y="4604003"/>
              <a:ext cx="2362200" cy="990600"/>
            </a:xfrm>
            <a:custGeom>
              <a:avLst/>
              <a:gdLst/>
              <a:ahLst/>
              <a:cxnLst/>
              <a:rect l="l" t="t" r="r" b="b"/>
              <a:pathLst>
                <a:path w="2362200" h="990600">
                  <a:moveTo>
                    <a:pt x="165100" y="0"/>
                  </a:moveTo>
                  <a:lnTo>
                    <a:pt x="2197100" y="0"/>
                  </a:lnTo>
                  <a:lnTo>
                    <a:pt x="2362200" y="165100"/>
                  </a:lnTo>
                  <a:lnTo>
                    <a:pt x="2362200" y="990600"/>
                  </a:lnTo>
                  <a:lnTo>
                    <a:pt x="0" y="990600"/>
                  </a:lnTo>
                  <a:lnTo>
                    <a:pt x="0" y="165100"/>
                  </a:lnTo>
                  <a:lnTo>
                    <a:pt x="5897" y="121208"/>
                  </a:lnTo>
                  <a:lnTo>
                    <a:pt x="22540" y="81769"/>
                  </a:lnTo>
                  <a:lnTo>
                    <a:pt x="48355" y="48355"/>
                  </a:lnTo>
                  <a:lnTo>
                    <a:pt x="81769" y="22540"/>
                  </a:lnTo>
                  <a:lnTo>
                    <a:pt x="121208" y="5897"/>
                  </a:lnTo>
                  <a:lnTo>
                    <a:pt x="165100" y="0"/>
                  </a:lnTo>
                  <a:close/>
                </a:path>
              </a:pathLst>
            </a:custGeom>
            <a:ln w="12699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689350" y="4726381"/>
            <a:ext cx="15855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Model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00AFEF"/>
                </a:solidFill>
                <a:latin typeface="Calibri" panose="020F0502020204030204"/>
                <a:cs typeface="Calibri" panose="020F0502020204030204"/>
              </a:rPr>
              <a:t>Deployment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8476" y="5783579"/>
            <a:ext cx="1255729" cy="730143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3857244" y="2210561"/>
            <a:ext cx="7883525" cy="2938780"/>
          </a:xfrm>
          <a:custGeom>
            <a:avLst/>
            <a:gdLst/>
            <a:ahLst/>
            <a:cxnLst/>
            <a:rect l="l" t="t" r="r" b="b"/>
            <a:pathLst>
              <a:path w="7883525" h="2938779">
                <a:moveTo>
                  <a:pt x="1462024" y="51054"/>
                </a:moveTo>
                <a:lnTo>
                  <a:pt x="1449324" y="44704"/>
                </a:lnTo>
                <a:lnTo>
                  <a:pt x="1385824" y="12954"/>
                </a:lnTo>
                <a:lnTo>
                  <a:pt x="1385824" y="44704"/>
                </a:lnTo>
                <a:lnTo>
                  <a:pt x="0" y="44704"/>
                </a:lnTo>
                <a:lnTo>
                  <a:pt x="0" y="57404"/>
                </a:lnTo>
                <a:lnTo>
                  <a:pt x="1385824" y="57404"/>
                </a:lnTo>
                <a:lnTo>
                  <a:pt x="1385824" y="89154"/>
                </a:lnTo>
                <a:lnTo>
                  <a:pt x="1449324" y="57404"/>
                </a:lnTo>
                <a:lnTo>
                  <a:pt x="1462024" y="51054"/>
                </a:lnTo>
                <a:close/>
              </a:path>
              <a:path w="7883525" h="2938779">
                <a:moveTo>
                  <a:pt x="3284728" y="2893568"/>
                </a:moveTo>
                <a:lnTo>
                  <a:pt x="1898942" y="2883001"/>
                </a:lnTo>
                <a:lnTo>
                  <a:pt x="1899158" y="2851277"/>
                </a:lnTo>
                <a:lnTo>
                  <a:pt x="1822704" y="2888742"/>
                </a:lnTo>
                <a:lnTo>
                  <a:pt x="1898650" y="2927477"/>
                </a:lnTo>
                <a:lnTo>
                  <a:pt x="1898789" y="2906268"/>
                </a:lnTo>
                <a:lnTo>
                  <a:pt x="1898853" y="2895701"/>
                </a:lnTo>
                <a:lnTo>
                  <a:pt x="3284601" y="2906268"/>
                </a:lnTo>
                <a:lnTo>
                  <a:pt x="3284728" y="2893568"/>
                </a:lnTo>
                <a:close/>
              </a:path>
              <a:path w="7883525" h="2938779">
                <a:moveTo>
                  <a:pt x="5287264" y="37338"/>
                </a:moveTo>
                <a:lnTo>
                  <a:pt x="5275783" y="31750"/>
                </a:lnTo>
                <a:lnTo>
                  <a:pt x="5210683" y="0"/>
                </a:lnTo>
                <a:lnTo>
                  <a:pt x="5210988" y="31750"/>
                </a:lnTo>
                <a:lnTo>
                  <a:pt x="3825240" y="44831"/>
                </a:lnTo>
                <a:lnTo>
                  <a:pt x="3825240" y="57531"/>
                </a:lnTo>
                <a:lnTo>
                  <a:pt x="5211115" y="44450"/>
                </a:lnTo>
                <a:lnTo>
                  <a:pt x="5211445" y="76200"/>
                </a:lnTo>
                <a:lnTo>
                  <a:pt x="5273395" y="44450"/>
                </a:lnTo>
                <a:lnTo>
                  <a:pt x="5287264" y="37338"/>
                </a:lnTo>
                <a:close/>
              </a:path>
              <a:path w="7883525" h="2938779">
                <a:moveTo>
                  <a:pt x="7883398" y="30988"/>
                </a:moveTo>
                <a:lnTo>
                  <a:pt x="7648448" y="30988"/>
                </a:lnTo>
                <a:lnTo>
                  <a:pt x="7648448" y="43688"/>
                </a:lnTo>
                <a:lnTo>
                  <a:pt x="7870698" y="43688"/>
                </a:lnTo>
                <a:lnTo>
                  <a:pt x="7870698" y="2893949"/>
                </a:lnTo>
                <a:lnTo>
                  <a:pt x="5722620" y="2893949"/>
                </a:lnTo>
                <a:lnTo>
                  <a:pt x="5722620" y="2862199"/>
                </a:lnTo>
                <a:lnTo>
                  <a:pt x="5646420" y="2900299"/>
                </a:lnTo>
                <a:lnTo>
                  <a:pt x="5722620" y="2938399"/>
                </a:lnTo>
                <a:lnTo>
                  <a:pt x="5722620" y="2906649"/>
                </a:lnTo>
                <a:lnTo>
                  <a:pt x="7883398" y="2906649"/>
                </a:lnTo>
                <a:lnTo>
                  <a:pt x="7883398" y="2900299"/>
                </a:lnTo>
                <a:lnTo>
                  <a:pt x="7883398" y="2893949"/>
                </a:lnTo>
                <a:lnTo>
                  <a:pt x="7883398" y="43688"/>
                </a:lnTo>
                <a:lnTo>
                  <a:pt x="7883398" y="37338"/>
                </a:lnTo>
                <a:lnTo>
                  <a:pt x="7883398" y="309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033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145" dirty="0"/>
              <a:t> </a:t>
            </a:r>
            <a:r>
              <a:rPr dirty="0"/>
              <a:t>Learning:</a:t>
            </a:r>
            <a:r>
              <a:rPr spc="-145" dirty="0"/>
              <a:t> </a:t>
            </a:r>
            <a:r>
              <a:rPr spc="-10" dirty="0"/>
              <a:t>Overview</a:t>
            </a:r>
            <a:endParaRPr spc="-10" dirty="0"/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b="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Typical</a:t>
            </a:r>
            <a:r>
              <a:rPr sz="2800" b="0" i="1" spc="-9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0" i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Flow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SPECIAL_SOURCE" val="bdnull"/>
  <p:tag name="KSO_WM_SLIDE_ID" val="custom2023329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TEMPLATE_THUMBS_INDEX" val="1、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7919</Words>
  <Application>WPS Presentation</Application>
  <PresentationFormat>On-screen Show (4:3)</PresentationFormat>
  <Paragraphs>424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Arial</vt:lpstr>
      <vt:lpstr>SimSun</vt:lpstr>
      <vt:lpstr>Wingdings</vt:lpstr>
      <vt:lpstr>Calibri</vt:lpstr>
      <vt:lpstr>Cambria</vt:lpstr>
      <vt:lpstr>Times New Roman</vt:lpstr>
      <vt:lpstr>Symbol</vt:lpstr>
      <vt:lpstr>Segoe Print</vt:lpstr>
      <vt:lpstr>Microsoft YaHei</vt:lpstr>
      <vt:lpstr>Arial Unicode MS</vt:lpstr>
      <vt:lpstr>Arial MT</vt:lpstr>
      <vt:lpstr>Manrope ExtraBold</vt:lpstr>
      <vt:lpstr>Segoe Print</vt:lpstr>
      <vt:lpstr>Lato</vt:lpstr>
      <vt:lpstr>Calibri Light</vt:lpstr>
      <vt:lpstr>Segoe UI</vt:lpstr>
      <vt:lpstr>Office Theme</vt:lpstr>
      <vt:lpstr>Office 主题​​</vt:lpstr>
      <vt:lpstr>Machine Learning: Overview</vt:lpstr>
      <vt:lpstr>Modules</vt:lpstr>
      <vt:lpstr>Modules</vt:lpstr>
      <vt:lpstr>Modules</vt:lpstr>
      <vt:lpstr>Modules</vt:lpstr>
      <vt:lpstr>Modules</vt:lpstr>
      <vt:lpstr>Modules</vt:lpstr>
      <vt:lpstr>Modules</vt:lpstr>
      <vt:lpstr>Modules</vt:lpstr>
      <vt:lpstr>Suggested Reference Books</vt:lpstr>
      <vt:lpstr>“As to methods, there may be a million and then some, but principles are few. The man who grasps principles can successfully select his own methods.”</vt:lpstr>
      <vt:lpstr>Machine Learning: Overview</vt:lpstr>
      <vt:lpstr>Machine Learning: Overview</vt:lpstr>
      <vt:lpstr>Nature of ML Problems</vt:lpstr>
      <vt:lpstr>Supervised Learning</vt:lpstr>
      <vt:lpstr>Supervised Learning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Typical Flow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Overview</dc:title>
  <dc:creator>Zubair Khalid</dc:creator>
  <cp:lastModifiedBy>Syed Shayan Ali Shah</cp:lastModifiedBy>
  <cp:revision>3</cp:revision>
  <dcterms:created xsi:type="dcterms:W3CDTF">2026-02-12T06:43:29Z</dcterms:created>
  <dcterms:modified xsi:type="dcterms:W3CDTF">2026-02-12T06:44:41Z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2022-01-20T05:00:00Z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2026-02-12T05:00:00Z</vt:filetime>
  </property>
  <property fmtid="{D5CDD505-2E9C-101B-9397-08002B2CF9AE}" pid="5" name="Producer">
    <vt:lpwstr>Microsoft® PowerPoint® for Microsoft 365</vt:lpwstr>
  </property>
  <property fmtid="{D5CDD505-2E9C-101B-9397-08002B2CF9AE}" pid="6" name="ICV">
    <vt:lpwstr>2F295EF416D84E7B9E6F97EEF4DC8EE9_13</vt:lpwstr>
  </property>
  <property fmtid="{D5CDD505-2E9C-101B-9397-08002B2CF9AE}" pid="7" name="KSOProductBuildVer">
    <vt:lpwstr>1033-12.2.0.23196</vt:lpwstr>
  </property>
</Properties>
</file>