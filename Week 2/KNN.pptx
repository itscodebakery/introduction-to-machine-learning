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5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6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126" y="-2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24708" y="3759"/>
            <a:ext cx="694258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Segoe Print"/>
                <a:cs typeface="Segoe Prin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Segoe Print"/>
                <a:cs typeface="Segoe Prin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1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13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9010" y="6230358"/>
            <a:ext cx="1341168" cy="4939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781800"/>
            <a:ext cx="12191999" cy="76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4708" y="3759"/>
            <a:ext cx="694258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7787" y="1038224"/>
            <a:ext cx="7644130" cy="441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Segoe Print"/>
                <a:cs typeface="Segoe Prin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2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90.png"/><Relationship Id="rId3" Type="http://schemas.openxmlformats.org/officeDocument/2006/relationships/image" Target="../media/image95.png"/><Relationship Id="rId21" Type="http://schemas.openxmlformats.org/officeDocument/2006/relationships/image" Target="../media/image113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87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29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85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89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88.png"/><Relationship Id="rId30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90.png"/><Relationship Id="rId3" Type="http://schemas.openxmlformats.org/officeDocument/2006/relationships/image" Target="../media/image95.png"/><Relationship Id="rId21" Type="http://schemas.openxmlformats.org/officeDocument/2006/relationships/image" Target="../media/image113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87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29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85.png"/><Relationship Id="rId32" Type="http://schemas.openxmlformats.org/officeDocument/2006/relationships/image" Target="../media/image116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88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31" Type="http://schemas.openxmlformats.org/officeDocument/2006/relationships/image" Target="../media/image118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86.png"/><Relationship Id="rId30" Type="http://schemas.openxmlformats.org/officeDocument/2006/relationships/image" Target="../media/image11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3.png"/><Relationship Id="rId7" Type="http://schemas.openxmlformats.org/officeDocument/2006/relationships/image" Target="../media/image126.pn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8.png"/><Relationship Id="rId7" Type="http://schemas.openxmlformats.org/officeDocument/2006/relationships/image" Target="../media/image141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0" Type="http://schemas.openxmlformats.org/officeDocument/2006/relationships/image" Target="../media/image144.png"/><Relationship Id="rId4" Type="http://schemas.openxmlformats.org/officeDocument/2006/relationships/image" Target="../media/image136.png"/><Relationship Id="rId9" Type="http://schemas.openxmlformats.org/officeDocument/2006/relationships/image" Target="../media/image14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8.png"/><Relationship Id="rId7" Type="http://schemas.openxmlformats.org/officeDocument/2006/relationships/image" Target="../media/image146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dirty="0"/>
              <a:t>k-Nearest Neighbor (</a:t>
            </a:r>
            <a:r>
              <a:rPr lang="en-US" dirty="0" err="1"/>
              <a:t>kNN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/>
              <a:t>Syed Shayan Ali Shah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162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35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787" y="1038224"/>
            <a:ext cx="7799705" cy="441579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Char char="-"/>
              <a:tabLst>
                <a:tab pos="355600" algn="l"/>
              </a:tabLst>
            </a:pPr>
            <a:r>
              <a:rPr sz="2400" spc="-20" dirty="0">
                <a:solidFill>
                  <a:srgbClr val="C00000"/>
                </a:solidFill>
                <a:latin typeface="Segoe Print"/>
                <a:cs typeface="Segoe Print"/>
              </a:rPr>
              <a:t>k-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Nearest</a:t>
            </a:r>
            <a:r>
              <a:rPr sz="2400" spc="-8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Neighbor</a:t>
            </a:r>
            <a:r>
              <a:rPr sz="2400" spc="-8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(kNN)</a:t>
            </a:r>
            <a:r>
              <a:rPr sz="2400" spc="-9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Algrorithm</a:t>
            </a:r>
            <a:r>
              <a:rPr sz="2400" spc="-8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Segoe Print"/>
                <a:cs typeface="Segoe Print"/>
              </a:rPr>
              <a:t>Overview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Algorithm</a:t>
            </a:r>
            <a:r>
              <a:rPr sz="2400" spc="-7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Segoe Print"/>
                <a:cs typeface="Segoe Print"/>
              </a:rPr>
              <a:t>Formulation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Distance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Metrics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Choice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50" dirty="0">
                <a:latin typeface="Segoe Print"/>
                <a:cs typeface="Segoe Print"/>
              </a:rPr>
              <a:t>k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Algorithm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Convergence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Storage,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Time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Complexity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Analysis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Fast </a:t>
            </a:r>
            <a:r>
              <a:rPr sz="2400" spc="-25" dirty="0">
                <a:latin typeface="Segoe Print"/>
                <a:cs typeface="Segoe Print"/>
              </a:rPr>
              <a:t>kNN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Curse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10" dirty="0">
                <a:latin typeface="Segoe Print"/>
                <a:cs typeface="Segoe Print"/>
              </a:rPr>
              <a:t> Dimensionality</a:t>
            </a:r>
            <a:endParaRPr sz="2400">
              <a:latin typeface="Segoe Print"/>
              <a:cs typeface="Segoe Prin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0426" y="3759"/>
            <a:ext cx="3851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8905" y="559054"/>
            <a:ext cx="5313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dirty="0">
                <a:solidFill>
                  <a:srgbClr val="006FC0"/>
                </a:solidFill>
                <a:latin typeface="Calibri"/>
                <a:cs typeface="Calibri"/>
              </a:rPr>
              <a:t>Classification</a:t>
            </a:r>
            <a:r>
              <a:rPr sz="2800" i="1" spc="-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6FC0"/>
                </a:solidFill>
                <a:latin typeface="Calibri"/>
                <a:cs typeface="Calibri"/>
              </a:rPr>
              <a:t>Algorithms</a:t>
            </a:r>
            <a:r>
              <a:rPr sz="2800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sz="2800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006FC0"/>
                </a:solidFill>
                <a:latin typeface="Calibri"/>
                <a:cs typeface="Calibri"/>
              </a:rPr>
              <a:t>Methods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4055" y="1146047"/>
            <a:ext cx="7196455" cy="3994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latin typeface="Segoe Print"/>
                <a:cs typeface="Segoe Print"/>
              </a:rPr>
              <a:t>Predicting</a:t>
            </a:r>
            <a:r>
              <a:rPr sz="2000" spc="-7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categorical</a:t>
            </a:r>
            <a:r>
              <a:rPr sz="2000" spc="-7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output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called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classification</a:t>
            </a:r>
            <a:endParaRPr sz="2000">
              <a:latin typeface="Segoe Print"/>
              <a:cs typeface="Segoe Prin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31594" y="3573526"/>
            <a:ext cx="8590280" cy="1236980"/>
            <a:chOff x="1831594" y="3573526"/>
            <a:chExt cx="8590280" cy="1236980"/>
          </a:xfrm>
        </p:grpSpPr>
        <p:sp>
          <p:nvSpPr>
            <p:cNvPr id="6" name="object 6"/>
            <p:cNvSpPr/>
            <p:nvPr/>
          </p:nvSpPr>
          <p:spPr>
            <a:xfrm>
              <a:off x="8202167" y="4229100"/>
              <a:ext cx="2212975" cy="573405"/>
            </a:xfrm>
            <a:custGeom>
              <a:avLst/>
              <a:gdLst/>
              <a:ahLst/>
              <a:cxnLst/>
              <a:rect l="l" t="t" r="r" b="b"/>
              <a:pathLst>
                <a:path w="2212975" h="573404">
                  <a:moveTo>
                    <a:pt x="2117343" y="0"/>
                  </a:moveTo>
                  <a:lnTo>
                    <a:pt x="95503" y="0"/>
                  </a:lnTo>
                  <a:lnTo>
                    <a:pt x="58346" y="7510"/>
                  </a:lnTo>
                  <a:lnTo>
                    <a:pt x="27987" y="27987"/>
                  </a:lnTo>
                  <a:lnTo>
                    <a:pt x="7510" y="58346"/>
                  </a:lnTo>
                  <a:lnTo>
                    <a:pt x="0" y="95504"/>
                  </a:lnTo>
                  <a:lnTo>
                    <a:pt x="0" y="477519"/>
                  </a:lnTo>
                  <a:lnTo>
                    <a:pt x="7510" y="514677"/>
                  </a:lnTo>
                  <a:lnTo>
                    <a:pt x="27987" y="545036"/>
                  </a:lnTo>
                  <a:lnTo>
                    <a:pt x="58346" y="565513"/>
                  </a:lnTo>
                  <a:lnTo>
                    <a:pt x="95503" y="573024"/>
                  </a:lnTo>
                  <a:lnTo>
                    <a:pt x="2117343" y="573024"/>
                  </a:lnTo>
                  <a:lnTo>
                    <a:pt x="2154501" y="565513"/>
                  </a:lnTo>
                  <a:lnTo>
                    <a:pt x="2184860" y="545036"/>
                  </a:lnTo>
                  <a:lnTo>
                    <a:pt x="2205337" y="514677"/>
                  </a:lnTo>
                  <a:lnTo>
                    <a:pt x="2212848" y="477519"/>
                  </a:lnTo>
                  <a:lnTo>
                    <a:pt x="2212848" y="95504"/>
                  </a:lnTo>
                  <a:lnTo>
                    <a:pt x="2205337" y="58346"/>
                  </a:lnTo>
                  <a:lnTo>
                    <a:pt x="2184860" y="27987"/>
                  </a:lnTo>
                  <a:lnTo>
                    <a:pt x="2154501" y="7510"/>
                  </a:lnTo>
                  <a:lnTo>
                    <a:pt x="211734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02167" y="4229100"/>
              <a:ext cx="2212975" cy="573405"/>
            </a:xfrm>
            <a:custGeom>
              <a:avLst/>
              <a:gdLst/>
              <a:ahLst/>
              <a:cxnLst/>
              <a:rect l="l" t="t" r="r" b="b"/>
              <a:pathLst>
                <a:path w="2212975" h="573404">
                  <a:moveTo>
                    <a:pt x="0" y="95504"/>
                  </a:moveTo>
                  <a:lnTo>
                    <a:pt x="7510" y="58346"/>
                  </a:lnTo>
                  <a:lnTo>
                    <a:pt x="27987" y="27987"/>
                  </a:lnTo>
                  <a:lnTo>
                    <a:pt x="58346" y="7510"/>
                  </a:lnTo>
                  <a:lnTo>
                    <a:pt x="95503" y="0"/>
                  </a:lnTo>
                  <a:lnTo>
                    <a:pt x="2117343" y="0"/>
                  </a:lnTo>
                  <a:lnTo>
                    <a:pt x="2154501" y="7510"/>
                  </a:lnTo>
                  <a:lnTo>
                    <a:pt x="2184860" y="27987"/>
                  </a:lnTo>
                  <a:lnTo>
                    <a:pt x="2205337" y="58346"/>
                  </a:lnTo>
                  <a:lnTo>
                    <a:pt x="2212848" y="95504"/>
                  </a:lnTo>
                  <a:lnTo>
                    <a:pt x="2212848" y="477519"/>
                  </a:lnTo>
                  <a:lnTo>
                    <a:pt x="2205337" y="514677"/>
                  </a:lnTo>
                  <a:lnTo>
                    <a:pt x="2184860" y="545036"/>
                  </a:lnTo>
                  <a:lnTo>
                    <a:pt x="2154501" y="565513"/>
                  </a:lnTo>
                  <a:lnTo>
                    <a:pt x="2117343" y="573024"/>
                  </a:lnTo>
                  <a:lnTo>
                    <a:pt x="95503" y="573024"/>
                  </a:lnTo>
                  <a:lnTo>
                    <a:pt x="58346" y="565513"/>
                  </a:lnTo>
                  <a:lnTo>
                    <a:pt x="27987" y="545036"/>
                  </a:lnTo>
                  <a:lnTo>
                    <a:pt x="7510" y="514677"/>
                  </a:lnTo>
                  <a:lnTo>
                    <a:pt x="0" y="477519"/>
                  </a:lnTo>
                  <a:lnTo>
                    <a:pt x="0" y="95504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64964" y="4169664"/>
              <a:ext cx="2510155" cy="573405"/>
            </a:xfrm>
            <a:custGeom>
              <a:avLst/>
              <a:gdLst/>
              <a:ahLst/>
              <a:cxnLst/>
              <a:rect l="l" t="t" r="r" b="b"/>
              <a:pathLst>
                <a:path w="2510154" h="573404">
                  <a:moveTo>
                    <a:pt x="2414524" y="0"/>
                  </a:moveTo>
                  <a:lnTo>
                    <a:pt x="95503" y="0"/>
                  </a:lnTo>
                  <a:lnTo>
                    <a:pt x="58346" y="7510"/>
                  </a:lnTo>
                  <a:lnTo>
                    <a:pt x="27987" y="27987"/>
                  </a:lnTo>
                  <a:lnTo>
                    <a:pt x="7510" y="58346"/>
                  </a:lnTo>
                  <a:lnTo>
                    <a:pt x="0" y="95504"/>
                  </a:lnTo>
                  <a:lnTo>
                    <a:pt x="0" y="477519"/>
                  </a:lnTo>
                  <a:lnTo>
                    <a:pt x="7510" y="514677"/>
                  </a:lnTo>
                  <a:lnTo>
                    <a:pt x="27987" y="545036"/>
                  </a:lnTo>
                  <a:lnTo>
                    <a:pt x="58346" y="565513"/>
                  </a:lnTo>
                  <a:lnTo>
                    <a:pt x="95503" y="573024"/>
                  </a:lnTo>
                  <a:lnTo>
                    <a:pt x="2414524" y="573024"/>
                  </a:lnTo>
                  <a:lnTo>
                    <a:pt x="2451681" y="565513"/>
                  </a:lnTo>
                  <a:lnTo>
                    <a:pt x="2482040" y="545036"/>
                  </a:lnTo>
                  <a:lnTo>
                    <a:pt x="2502517" y="514677"/>
                  </a:lnTo>
                  <a:lnTo>
                    <a:pt x="2510028" y="477519"/>
                  </a:lnTo>
                  <a:lnTo>
                    <a:pt x="2510028" y="95504"/>
                  </a:lnTo>
                  <a:lnTo>
                    <a:pt x="2502517" y="58346"/>
                  </a:lnTo>
                  <a:lnTo>
                    <a:pt x="2482040" y="27987"/>
                  </a:lnTo>
                  <a:lnTo>
                    <a:pt x="2451681" y="7510"/>
                  </a:lnTo>
                  <a:lnTo>
                    <a:pt x="24145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64964" y="4169664"/>
              <a:ext cx="2510155" cy="573405"/>
            </a:xfrm>
            <a:custGeom>
              <a:avLst/>
              <a:gdLst/>
              <a:ahLst/>
              <a:cxnLst/>
              <a:rect l="l" t="t" r="r" b="b"/>
              <a:pathLst>
                <a:path w="2510154" h="573404">
                  <a:moveTo>
                    <a:pt x="0" y="95504"/>
                  </a:moveTo>
                  <a:lnTo>
                    <a:pt x="7510" y="58346"/>
                  </a:lnTo>
                  <a:lnTo>
                    <a:pt x="27987" y="27987"/>
                  </a:lnTo>
                  <a:lnTo>
                    <a:pt x="58346" y="7510"/>
                  </a:lnTo>
                  <a:lnTo>
                    <a:pt x="95503" y="0"/>
                  </a:lnTo>
                  <a:lnTo>
                    <a:pt x="2414524" y="0"/>
                  </a:lnTo>
                  <a:lnTo>
                    <a:pt x="2451681" y="7510"/>
                  </a:lnTo>
                  <a:lnTo>
                    <a:pt x="2482040" y="27987"/>
                  </a:lnTo>
                  <a:lnTo>
                    <a:pt x="2502517" y="58346"/>
                  </a:lnTo>
                  <a:lnTo>
                    <a:pt x="2510028" y="95504"/>
                  </a:lnTo>
                  <a:lnTo>
                    <a:pt x="2510028" y="477519"/>
                  </a:lnTo>
                  <a:lnTo>
                    <a:pt x="2502517" y="514677"/>
                  </a:lnTo>
                  <a:lnTo>
                    <a:pt x="2482040" y="545036"/>
                  </a:lnTo>
                  <a:lnTo>
                    <a:pt x="2451681" y="565513"/>
                  </a:lnTo>
                  <a:lnTo>
                    <a:pt x="2414524" y="573024"/>
                  </a:lnTo>
                  <a:lnTo>
                    <a:pt x="95503" y="573024"/>
                  </a:lnTo>
                  <a:lnTo>
                    <a:pt x="58346" y="565513"/>
                  </a:lnTo>
                  <a:lnTo>
                    <a:pt x="27987" y="545036"/>
                  </a:lnTo>
                  <a:lnTo>
                    <a:pt x="7510" y="514677"/>
                  </a:lnTo>
                  <a:lnTo>
                    <a:pt x="0" y="477519"/>
                  </a:lnTo>
                  <a:lnTo>
                    <a:pt x="0" y="95504"/>
                  </a:lnTo>
                  <a:close/>
                </a:path>
              </a:pathLst>
            </a:custGeom>
            <a:ln w="1269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7944" y="3579876"/>
              <a:ext cx="1731645" cy="1224280"/>
            </a:xfrm>
            <a:custGeom>
              <a:avLst/>
              <a:gdLst/>
              <a:ahLst/>
              <a:cxnLst/>
              <a:rect l="l" t="t" r="r" b="b"/>
              <a:pathLst>
                <a:path w="1731645" h="1224279">
                  <a:moveTo>
                    <a:pt x="1527302" y="0"/>
                  </a:moveTo>
                  <a:lnTo>
                    <a:pt x="203962" y="0"/>
                  </a:lnTo>
                  <a:lnTo>
                    <a:pt x="157194" y="5386"/>
                  </a:lnTo>
                  <a:lnTo>
                    <a:pt x="114262" y="20730"/>
                  </a:lnTo>
                  <a:lnTo>
                    <a:pt x="76392" y="44806"/>
                  </a:lnTo>
                  <a:lnTo>
                    <a:pt x="44806" y="76392"/>
                  </a:lnTo>
                  <a:lnTo>
                    <a:pt x="20730" y="114262"/>
                  </a:lnTo>
                  <a:lnTo>
                    <a:pt x="5386" y="157194"/>
                  </a:lnTo>
                  <a:lnTo>
                    <a:pt x="0" y="203962"/>
                  </a:lnTo>
                  <a:lnTo>
                    <a:pt x="0" y="1019810"/>
                  </a:lnTo>
                  <a:lnTo>
                    <a:pt x="5386" y="1066577"/>
                  </a:lnTo>
                  <a:lnTo>
                    <a:pt x="20730" y="1109509"/>
                  </a:lnTo>
                  <a:lnTo>
                    <a:pt x="44806" y="1147379"/>
                  </a:lnTo>
                  <a:lnTo>
                    <a:pt x="76392" y="1178965"/>
                  </a:lnTo>
                  <a:lnTo>
                    <a:pt x="114262" y="1203041"/>
                  </a:lnTo>
                  <a:lnTo>
                    <a:pt x="157194" y="1218385"/>
                  </a:lnTo>
                  <a:lnTo>
                    <a:pt x="203962" y="1223772"/>
                  </a:lnTo>
                  <a:lnTo>
                    <a:pt x="1527302" y="1223772"/>
                  </a:lnTo>
                  <a:lnTo>
                    <a:pt x="1574069" y="1218385"/>
                  </a:lnTo>
                  <a:lnTo>
                    <a:pt x="1617001" y="1203041"/>
                  </a:lnTo>
                  <a:lnTo>
                    <a:pt x="1654871" y="1178965"/>
                  </a:lnTo>
                  <a:lnTo>
                    <a:pt x="1686457" y="1147379"/>
                  </a:lnTo>
                  <a:lnTo>
                    <a:pt x="1710533" y="1109509"/>
                  </a:lnTo>
                  <a:lnTo>
                    <a:pt x="1725877" y="1066577"/>
                  </a:lnTo>
                  <a:lnTo>
                    <a:pt x="1731264" y="1019810"/>
                  </a:lnTo>
                  <a:lnTo>
                    <a:pt x="1731264" y="203962"/>
                  </a:lnTo>
                  <a:lnTo>
                    <a:pt x="1725877" y="157194"/>
                  </a:lnTo>
                  <a:lnTo>
                    <a:pt x="1710533" y="114262"/>
                  </a:lnTo>
                  <a:lnTo>
                    <a:pt x="1686457" y="76392"/>
                  </a:lnTo>
                  <a:lnTo>
                    <a:pt x="1654871" y="44806"/>
                  </a:lnTo>
                  <a:lnTo>
                    <a:pt x="1617001" y="20730"/>
                  </a:lnTo>
                  <a:lnTo>
                    <a:pt x="1574069" y="5386"/>
                  </a:lnTo>
                  <a:lnTo>
                    <a:pt x="152730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7944" y="3579876"/>
              <a:ext cx="1731645" cy="1224280"/>
            </a:xfrm>
            <a:custGeom>
              <a:avLst/>
              <a:gdLst/>
              <a:ahLst/>
              <a:cxnLst/>
              <a:rect l="l" t="t" r="r" b="b"/>
              <a:pathLst>
                <a:path w="1731645" h="1224279">
                  <a:moveTo>
                    <a:pt x="0" y="203962"/>
                  </a:moveTo>
                  <a:lnTo>
                    <a:pt x="5386" y="157194"/>
                  </a:lnTo>
                  <a:lnTo>
                    <a:pt x="20730" y="114262"/>
                  </a:lnTo>
                  <a:lnTo>
                    <a:pt x="44806" y="76392"/>
                  </a:lnTo>
                  <a:lnTo>
                    <a:pt x="76392" y="44806"/>
                  </a:lnTo>
                  <a:lnTo>
                    <a:pt x="114262" y="20730"/>
                  </a:lnTo>
                  <a:lnTo>
                    <a:pt x="157194" y="5386"/>
                  </a:lnTo>
                  <a:lnTo>
                    <a:pt x="203962" y="0"/>
                  </a:lnTo>
                  <a:lnTo>
                    <a:pt x="1527302" y="0"/>
                  </a:lnTo>
                  <a:lnTo>
                    <a:pt x="1574069" y="5386"/>
                  </a:lnTo>
                  <a:lnTo>
                    <a:pt x="1617001" y="20730"/>
                  </a:lnTo>
                  <a:lnTo>
                    <a:pt x="1654871" y="44806"/>
                  </a:lnTo>
                  <a:lnTo>
                    <a:pt x="1686457" y="76392"/>
                  </a:lnTo>
                  <a:lnTo>
                    <a:pt x="1710533" y="114262"/>
                  </a:lnTo>
                  <a:lnTo>
                    <a:pt x="1725877" y="157194"/>
                  </a:lnTo>
                  <a:lnTo>
                    <a:pt x="1731264" y="203962"/>
                  </a:lnTo>
                  <a:lnTo>
                    <a:pt x="1731264" y="1019810"/>
                  </a:lnTo>
                  <a:lnTo>
                    <a:pt x="1725877" y="1066577"/>
                  </a:lnTo>
                  <a:lnTo>
                    <a:pt x="1710533" y="1109509"/>
                  </a:lnTo>
                  <a:lnTo>
                    <a:pt x="1686457" y="1147379"/>
                  </a:lnTo>
                  <a:lnTo>
                    <a:pt x="1654871" y="1178965"/>
                  </a:lnTo>
                  <a:lnTo>
                    <a:pt x="1617001" y="1203041"/>
                  </a:lnTo>
                  <a:lnTo>
                    <a:pt x="1574069" y="1218385"/>
                  </a:lnTo>
                  <a:lnTo>
                    <a:pt x="1527302" y="1223772"/>
                  </a:lnTo>
                  <a:lnTo>
                    <a:pt x="203962" y="1223772"/>
                  </a:lnTo>
                  <a:lnTo>
                    <a:pt x="157194" y="1218385"/>
                  </a:lnTo>
                  <a:lnTo>
                    <a:pt x="114262" y="1203041"/>
                  </a:lnTo>
                  <a:lnTo>
                    <a:pt x="76392" y="1178965"/>
                  </a:lnTo>
                  <a:lnTo>
                    <a:pt x="44806" y="1147379"/>
                  </a:lnTo>
                  <a:lnTo>
                    <a:pt x="20730" y="1109509"/>
                  </a:lnTo>
                  <a:lnTo>
                    <a:pt x="5386" y="1066577"/>
                  </a:lnTo>
                  <a:lnTo>
                    <a:pt x="0" y="1019810"/>
                  </a:lnTo>
                  <a:lnTo>
                    <a:pt x="0" y="203962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5848" y="4027119"/>
            <a:ext cx="12338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Classification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66033" y="2278126"/>
            <a:ext cx="3464560" cy="3101340"/>
            <a:chOff x="3566033" y="2278126"/>
            <a:chExt cx="3464560" cy="3101340"/>
          </a:xfrm>
        </p:grpSpPr>
        <p:sp>
          <p:nvSpPr>
            <p:cNvPr id="14" name="object 14"/>
            <p:cNvSpPr/>
            <p:nvPr/>
          </p:nvSpPr>
          <p:spPr>
            <a:xfrm>
              <a:off x="3569208" y="2500884"/>
              <a:ext cx="1152525" cy="2875280"/>
            </a:xfrm>
            <a:custGeom>
              <a:avLst/>
              <a:gdLst/>
              <a:ahLst/>
              <a:cxnLst/>
              <a:rect l="l" t="t" r="r" b="b"/>
              <a:pathLst>
                <a:path w="1152525" h="2875279">
                  <a:moveTo>
                    <a:pt x="0" y="1692274"/>
                  </a:moveTo>
                  <a:lnTo>
                    <a:pt x="1081024" y="0"/>
                  </a:lnTo>
                </a:path>
                <a:path w="1152525" h="2875279">
                  <a:moveTo>
                    <a:pt x="0" y="1691132"/>
                  </a:moveTo>
                  <a:lnTo>
                    <a:pt x="1152525" y="790955"/>
                  </a:lnTo>
                </a:path>
                <a:path w="1152525" h="2875279">
                  <a:moveTo>
                    <a:pt x="0" y="1691639"/>
                  </a:moveTo>
                  <a:lnTo>
                    <a:pt x="1152525" y="1944877"/>
                  </a:lnTo>
                </a:path>
                <a:path w="1152525" h="2875279">
                  <a:moveTo>
                    <a:pt x="0" y="1691639"/>
                  </a:moveTo>
                  <a:lnTo>
                    <a:pt x="1152525" y="2875279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49724" y="2284476"/>
              <a:ext cx="2374900" cy="502920"/>
            </a:xfrm>
            <a:custGeom>
              <a:avLst/>
              <a:gdLst/>
              <a:ahLst/>
              <a:cxnLst/>
              <a:rect l="l" t="t" r="r" b="b"/>
              <a:pathLst>
                <a:path w="2374900" h="502919">
                  <a:moveTo>
                    <a:pt x="2290572" y="0"/>
                  </a:moveTo>
                  <a:lnTo>
                    <a:pt x="83820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78" y="451752"/>
                  </a:lnTo>
                  <a:lnTo>
                    <a:pt x="24526" y="478393"/>
                  </a:lnTo>
                  <a:lnTo>
                    <a:pt x="51167" y="496341"/>
                  </a:lnTo>
                  <a:lnTo>
                    <a:pt x="83820" y="502920"/>
                  </a:lnTo>
                  <a:lnTo>
                    <a:pt x="2290572" y="502920"/>
                  </a:lnTo>
                  <a:lnTo>
                    <a:pt x="2323224" y="496341"/>
                  </a:lnTo>
                  <a:lnTo>
                    <a:pt x="2349865" y="478393"/>
                  </a:lnTo>
                  <a:lnTo>
                    <a:pt x="2367813" y="451752"/>
                  </a:lnTo>
                  <a:lnTo>
                    <a:pt x="2374392" y="419100"/>
                  </a:lnTo>
                  <a:lnTo>
                    <a:pt x="2374392" y="83820"/>
                  </a:lnTo>
                  <a:lnTo>
                    <a:pt x="2367813" y="51167"/>
                  </a:lnTo>
                  <a:lnTo>
                    <a:pt x="2349865" y="24526"/>
                  </a:lnTo>
                  <a:lnTo>
                    <a:pt x="2323224" y="6578"/>
                  </a:lnTo>
                  <a:lnTo>
                    <a:pt x="229057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49724" y="2284476"/>
              <a:ext cx="2374900" cy="502920"/>
            </a:xfrm>
            <a:custGeom>
              <a:avLst/>
              <a:gdLst/>
              <a:ahLst/>
              <a:cxnLst/>
              <a:rect l="l" t="t" r="r" b="b"/>
              <a:pathLst>
                <a:path w="2374900" h="502919">
                  <a:moveTo>
                    <a:pt x="0" y="83820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20" y="0"/>
                  </a:lnTo>
                  <a:lnTo>
                    <a:pt x="2290572" y="0"/>
                  </a:lnTo>
                  <a:lnTo>
                    <a:pt x="2323224" y="6578"/>
                  </a:lnTo>
                  <a:lnTo>
                    <a:pt x="2349865" y="24526"/>
                  </a:lnTo>
                  <a:lnTo>
                    <a:pt x="2367813" y="51167"/>
                  </a:lnTo>
                  <a:lnTo>
                    <a:pt x="2374392" y="83820"/>
                  </a:lnTo>
                  <a:lnTo>
                    <a:pt x="2374392" y="419100"/>
                  </a:lnTo>
                  <a:lnTo>
                    <a:pt x="2367813" y="451752"/>
                  </a:lnTo>
                  <a:lnTo>
                    <a:pt x="2349865" y="478393"/>
                  </a:lnTo>
                  <a:lnTo>
                    <a:pt x="2323224" y="496341"/>
                  </a:lnTo>
                  <a:lnTo>
                    <a:pt x="2290572" y="502920"/>
                  </a:lnTo>
                  <a:lnTo>
                    <a:pt x="83820" y="502920"/>
                  </a:lnTo>
                  <a:lnTo>
                    <a:pt x="51167" y="496341"/>
                  </a:lnTo>
                  <a:lnTo>
                    <a:pt x="24526" y="478393"/>
                  </a:lnTo>
                  <a:lnTo>
                    <a:pt x="6578" y="451752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68315" y="2371471"/>
            <a:ext cx="1538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15002" y="3187954"/>
            <a:ext cx="2388870" cy="518795"/>
            <a:chOff x="4715002" y="3187954"/>
            <a:chExt cx="2388870" cy="518795"/>
          </a:xfrm>
        </p:grpSpPr>
        <p:sp>
          <p:nvSpPr>
            <p:cNvPr id="19" name="object 19"/>
            <p:cNvSpPr/>
            <p:nvPr/>
          </p:nvSpPr>
          <p:spPr>
            <a:xfrm>
              <a:off x="4721352" y="3194304"/>
              <a:ext cx="2376170" cy="506095"/>
            </a:xfrm>
            <a:custGeom>
              <a:avLst/>
              <a:gdLst/>
              <a:ahLst/>
              <a:cxnLst/>
              <a:rect l="l" t="t" r="r" b="b"/>
              <a:pathLst>
                <a:path w="2376170" h="506095">
                  <a:moveTo>
                    <a:pt x="2291588" y="0"/>
                  </a:moveTo>
                  <a:lnTo>
                    <a:pt x="84327" y="0"/>
                  </a:lnTo>
                  <a:lnTo>
                    <a:pt x="51488" y="6621"/>
                  </a:lnTo>
                  <a:lnTo>
                    <a:pt x="24685" y="24685"/>
                  </a:lnTo>
                  <a:lnTo>
                    <a:pt x="6621" y="51488"/>
                  </a:lnTo>
                  <a:lnTo>
                    <a:pt x="0" y="84328"/>
                  </a:lnTo>
                  <a:lnTo>
                    <a:pt x="0" y="421640"/>
                  </a:lnTo>
                  <a:lnTo>
                    <a:pt x="6621" y="454479"/>
                  </a:lnTo>
                  <a:lnTo>
                    <a:pt x="24685" y="481282"/>
                  </a:lnTo>
                  <a:lnTo>
                    <a:pt x="51488" y="499346"/>
                  </a:lnTo>
                  <a:lnTo>
                    <a:pt x="84327" y="505968"/>
                  </a:lnTo>
                  <a:lnTo>
                    <a:pt x="2291588" y="505968"/>
                  </a:lnTo>
                  <a:lnTo>
                    <a:pt x="2324427" y="499346"/>
                  </a:lnTo>
                  <a:lnTo>
                    <a:pt x="2351230" y="481282"/>
                  </a:lnTo>
                  <a:lnTo>
                    <a:pt x="2369294" y="454479"/>
                  </a:lnTo>
                  <a:lnTo>
                    <a:pt x="2375916" y="421640"/>
                  </a:lnTo>
                  <a:lnTo>
                    <a:pt x="2375916" y="84328"/>
                  </a:lnTo>
                  <a:lnTo>
                    <a:pt x="2369294" y="51488"/>
                  </a:lnTo>
                  <a:lnTo>
                    <a:pt x="2351230" y="24685"/>
                  </a:lnTo>
                  <a:lnTo>
                    <a:pt x="2324427" y="6621"/>
                  </a:lnTo>
                  <a:lnTo>
                    <a:pt x="229158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21352" y="3194304"/>
              <a:ext cx="2376170" cy="506095"/>
            </a:xfrm>
            <a:custGeom>
              <a:avLst/>
              <a:gdLst/>
              <a:ahLst/>
              <a:cxnLst/>
              <a:rect l="l" t="t" r="r" b="b"/>
              <a:pathLst>
                <a:path w="2376170" h="506095">
                  <a:moveTo>
                    <a:pt x="0" y="84328"/>
                  </a:moveTo>
                  <a:lnTo>
                    <a:pt x="6621" y="51488"/>
                  </a:lnTo>
                  <a:lnTo>
                    <a:pt x="24685" y="24685"/>
                  </a:lnTo>
                  <a:lnTo>
                    <a:pt x="51488" y="6621"/>
                  </a:lnTo>
                  <a:lnTo>
                    <a:pt x="84327" y="0"/>
                  </a:lnTo>
                  <a:lnTo>
                    <a:pt x="2291588" y="0"/>
                  </a:lnTo>
                  <a:lnTo>
                    <a:pt x="2324427" y="6621"/>
                  </a:lnTo>
                  <a:lnTo>
                    <a:pt x="2351230" y="24685"/>
                  </a:lnTo>
                  <a:lnTo>
                    <a:pt x="2369294" y="51488"/>
                  </a:lnTo>
                  <a:lnTo>
                    <a:pt x="2375916" y="84328"/>
                  </a:lnTo>
                  <a:lnTo>
                    <a:pt x="2375916" y="421640"/>
                  </a:lnTo>
                  <a:lnTo>
                    <a:pt x="2369294" y="454479"/>
                  </a:lnTo>
                  <a:lnTo>
                    <a:pt x="2351230" y="481282"/>
                  </a:lnTo>
                  <a:lnTo>
                    <a:pt x="2324427" y="499346"/>
                  </a:lnTo>
                  <a:lnTo>
                    <a:pt x="2291588" y="505968"/>
                  </a:lnTo>
                  <a:lnTo>
                    <a:pt x="84327" y="505968"/>
                  </a:lnTo>
                  <a:lnTo>
                    <a:pt x="51488" y="499346"/>
                  </a:lnTo>
                  <a:lnTo>
                    <a:pt x="24685" y="481282"/>
                  </a:lnTo>
                  <a:lnTo>
                    <a:pt x="6621" y="454479"/>
                  </a:lnTo>
                  <a:lnTo>
                    <a:pt x="0" y="421640"/>
                  </a:lnTo>
                  <a:lnTo>
                    <a:pt x="0" y="84328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54600" y="3283077"/>
            <a:ext cx="1711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Covariance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18050" y="4186173"/>
            <a:ext cx="2388870" cy="515620"/>
            <a:chOff x="4718050" y="4186173"/>
            <a:chExt cx="2388870" cy="515620"/>
          </a:xfrm>
        </p:grpSpPr>
        <p:sp>
          <p:nvSpPr>
            <p:cNvPr id="23" name="object 23"/>
            <p:cNvSpPr/>
            <p:nvPr/>
          </p:nvSpPr>
          <p:spPr>
            <a:xfrm>
              <a:off x="4724400" y="4192523"/>
              <a:ext cx="2376170" cy="502920"/>
            </a:xfrm>
            <a:custGeom>
              <a:avLst/>
              <a:gdLst/>
              <a:ahLst/>
              <a:cxnLst/>
              <a:rect l="l" t="t" r="r" b="b"/>
              <a:pathLst>
                <a:path w="2376170" h="502920">
                  <a:moveTo>
                    <a:pt x="2292096" y="0"/>
                  </a:moveTo>
                  <a:lnTo>
                    <a:pt x="83820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19"/>
                  </a:lnTo>
                  <a:lnTo>
                    <a:pt x="0" y="419100"/>
                  </a:lnTo>
                  <a:lnTo>
                    <a:pt x="6578" y="451699"/>
                  </a:lnTo>
                  <a:lnTo>
                    <a:pt x="24526" y="478345"/>
                  </a:lnTo>
                  <a:lnTo>
                    <a:pt x="51167" y="496323"/>
                  </a:lnTo>
                  <a:lnTo>
                    <a:pt x="83820" y="502919"/>
                  </a:lnTo>
                  <a:lnTo>
                    <a:pt x="2292096" y="502919"/>
                  </a:lnTo>
                  <a:lnTo>
                    <a:pt x="2324695" y="496323"/>
                  </a:lnTo>
                  <a:lnTo>
                    <a:pt x="2351341" y="478345"/>
                  </a:lnTo>
                  <a:lnTo>
                    <a:pt x="2369319" y="451699"/>
                  </a:lnTo>
                  <a:lnTo>
                    <a:pt x="2375916" y="419100"/>
                  </a:lnTo>
                  <a:lnTo>
                    <a:pt x="2375916" y="83819"/>
                  </a:lnTo>
                  <a:lnTo>
                    <a:pt x="2369319" y="51167"/>
                  </a:lnTo>
                  <a:lnTo>
                    <a:pt x="2351341" y="24526"/>
                  </a:lnTo>
                  <a:lnTo>
                    <a:pt x="2324695" y="6578"/>
                  </a:lnTo>
                  <a:lnTo>
                    <a:pt x="229209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24400" y="4192523"/>
              <a:ext cx="2376170" cy="502920"/>
            </a:xfrm>
            <a:custGeom>
              <a:avLst/>
              <a:gdLst/>
              <a:ahLst/>
              <a:cxnLst/>
              <a:rect l="l" t="t" r="r" b="b"/>
              <a:pathLst>
                <a:path w="2376170" h="502920">
                  <a:moveTo>
                    <a:pt x="0" y="83819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20" y="0"/>
                  </a:lnTo>
                  <a:lnTo>
                    <a:pt x="2292096" y="0"/>
                  </a:lnTo>
                  <a:lnTo>
                    <a:pt x="2324695" y="6578"/>
                  </a:lnTo>
                  <a:lnTo>
                    <a:pt x="2351341" y="24526"/>
                  </a:lnTo>
                  <a:lnTo>
                    <a:pt x="2369319" y="51167"/>
                  </a:lnTo>
                  <a:lnTo>
                    <a:pt x="2375916" y="83819"/>
                  </a:lnTo>
                  <a:lnTo>
                    <a:pt x="2375916" y="419100"/>
                  </a:lnTo>
                  <a:lnTo>
                    <a:pt x="2369319" y="451699"/>
                  </a:lnTo>
                  <a:lnTo>
                    <a:pt x="2351341" y="478345"/>
                  </a:lnTo>
                  <a:lnTo>
                    <a:pt x="2324695" y="496323"/>
                  </a:lnTo>
                  <a:lnTo>
                    <a:pt x="2292096" y="502919"/>
                  </a:lnTo>
                  <a:lnTo>
                    <a:pt x="83820" y="502919"/>
                  </a:lnTo>
                  <a:lnTo>
                    <a:pt x="51167" y="496323"/>
                  </a:lnTo>
                  <a:lnTo>
                    <a:pt x="24526" y="478345"/>
                  </a:lnTo>
                  <a:lnTo>
                    <a:pt x="6578" y="451699"/>
                  </a:lnTo>
                  <a:lnTo>
                    <a:pt x="0" y="419100"/>
                  </a:lnTo>
                  <a:lnTo>
                    <a:pt x="0" y="8381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036311" y="4280154"/>
            <a:ext cx="1753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Similarity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715002" y="5117338"/>
            <a:ext cx="2388870" cy="515620"/>
            <a:chOff x="4715002" y="5117338"/>
            <a:chExt cx="2388870" cy="515620"/>
          </a:xfrm>
        </p:grpSpPr>
        <p:sp>
          <p:nvSpPr>
            <p:cNvPr id="27" name="object 27"/>
            <p:cNvSpPr/>
            <p:nvPr/>
          </p:nvSpPr>
          <p:spPr>
            <a:xfrm>
              <a:off x="4721352" y="5123688"/>
              <a:ext cx="2376170" cy="502920"/>
            </a:xfrm>
            <a:custGeom>
              <a:avLst/>
              <a:gdLst/>
              <a:ahLst/>
              <a:cxnLst/>
              <a:rect l="l" t="t" r="r" b="b"/>
              <a:pathLst>
                <a:path w="2376170" h="502920">
                  <a:moveTo>
                    <a:pt x="2292096" y="0"/>
                  </a:moveTo>
                  <a:lnTo>
                    <a:pt x="83820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19"/>
                  </a:lnTo>
                  <a:lnTo>
                    <a:pt x="0" y="419100"/>
                  </a:lnTo>
                  <a:lnTo>
                    <a:pt x="6578" y="451726"/>
                  </a:lnTo>
                  <a:lnTo>
                    <a:pt x="24526" y="478369"/>
                  </a:lnTo>
                  <a:lnTo>
                    <a:pt x="51167" y="496332"/>
                  </a:lnTo>
                  <a:lnTo>
                    <a:pt x="83820" y="502920"/>
                  </a:lnTo>
                  <a:lnTo>
                    <a:pt x="2292096" y="502920"/>
                  </a:lnTo>
                  <a:lnTo>
                    <a:pt x="2324695" y="496332"/>
                  </a:lnTo>
                  <a:lnTo>
                    <a:pt x="2351341" y="478369"/>
                  </a:lnTo>
                  <a:lnTo>
                    <a:pt x="2369319" y="451726"/>
                  </a:lnTo>
                  <a:lnTo>
                    <a:pt x="2375916" y="419100"/>
                  </a:lnTo>
                  <a:lnTo>
                    <a:pt x="2375916" y="83819"/>
                  </a:lnTo>
                  <a:lnTo>
                    <a:pt x="2369319" y="51167"/>
                  </a:lnTo>
                  <a:lnTo>
                    <a:pt x="2351341" y="24526"/>
                  </a:lnTo>
                  <a:lnTo>
                    <a:pt x="2324695" y="6578"/>
                  </a:lnTo>
                  <a:lnTo>
                    <a:pt x="229209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21352" y="5123688"/>
              <a:ext cx="2376170" cy="502920"/>
            </a:xfrm>
            <a:custGeom>
              <a:avLst/>
              <a:gdLst/>
              <a:ahLst/>
              <a:cxnLst/>
              <a:rect l="l" t="t" r="r" b="b"/>
              <a:pathLst>
                <a:path w="2376170" h="502920">
                  <a:moveTo>
                    <a:pt x="0" y="83819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20" y="0"/>
                  </a:lnTo>
                  <a:lnTo>
                    <a:pt x="2292096" y="0"/>
                  </a:lnTo>
                  <a:lnTo>
                    <a:pt x="2324695" y="6578"/>
                  </a:lnTo>
                  <a:lnTo>
                    <a:pt x="2351341" y="24526"/>
                  </a:lnTo>
                  <a:lnTo>
                    <a:pt x="2369319" y="51167"/>
                  </a:lnTo>
                  <a:lnTo>
                    <a:pt x="2375916" y="83819"/>
                  </a:lnTo>
                  <a:lnTo>
                    <a:pt x="2375916" y="419100"/>
                  </a:lnTo>
                  <a:lnTo>
                    <a:pt x="2369319" y="451726"/>
                  </a:lnTo>
                  <a:lnTo>
                    <a:pt x="2351341" y="478369"/>
                  </a:lnTo>
                  <a:lnTo>
                    <a:pt x="2324695" y="496332"/>
                  </a:lnTo>
                  <a:lnTo>
                    <a:pt x="2292096" y="502920"/>
                  </a:lnTo>
                  <a:lnTo>
                    <a:pt x="83820" y="502920"/>
                  </a:lnTo>
                  <a:lnTo>
                    <a:pt x="51167" y="496332"/>
                  </a:lnTo>
                  <a:lnTo>
                    <a:pt x="24526" y="478369"/>
                  </a:lnTo>
                  <a:lnTo>
                    <a:pt x="6578" y="451726"/>
                  </a:lnTo>
                  <a:lnTo>
                    <a:pt x="0" y="419100"/>
                  </a:lnTo>
                  <a:lnTo>
                    <a:pt x="0" y="8381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583428" y="5211317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Others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879208" y="1935226"/>
            <a:ext cx="3479800" cy="856615"/>
            <a:chOff x="6879208" y="1935226"/>
            <a:chExt cx="3479800" cy="856615"/>
          </a:xfrm>
        </p:grpSpPr>
        <p:sp>
          <p:nvSpPr>
            <p:cNvPr id="31" name="object 31"/>
            <p:cNvSpPr/>
            <p:nvPr/>
          </p:nvSpPr>
          <p:spPr>
            <a:xfrm>
              <a:off x="6882383" y="2136648"/>
              <a:ext cx="1435100" cy="652145"/>
            </a:xfrm>
            <a:custGeom>
              <a:avLst/>
              <a:gdLst/>
              <a:ahLst/>
              <a:cxnLst/>
              <a:rect l="l" t="t" r="r" b="b"/>
              <a:pathLst>
                <a:path w="1435100" h="652144">
                  <a:moveTo>
                    <a:pt x="0" y="398399"/>
                  </a:moveTo>
                  <a:lnTo>
                    <a:pt x="1435100" y="0"/>
                  </a:lnTo>
                </a:path>
                <a:path w="1435100" h="652144">
                  <a:moveTo>
                    <a:pt x="141732" y="399288"/>
                  </a:moveTo>
                  <a:lnTo>
                    <a:pt x="1365631" y="651637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64651" y="1941576"/>
              <a:ext cx="2087880" cy="449580"/>
            </a:xfrm>
            <a:custGeom>
              <a:avLst/>
              <a:gdLst/>
              <a:ahLst/>
              <a:cxnLst/>
              <a:rect l="l" t="t" r="r" b="b"/>
              <a:pathLst>
                <a:path w="2087879" h="449580">
                  <a:moveTo>
                    <a:pt x="2012950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29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29" y="449579"/>
                  </a:lnTo>
                  <a:lnTo>
                    <a:pt x="2012950" y="449579"/>
                  </a:lnTo>
                  <a:lnTo>
                    <a:pt x="2042124" y="443694"/>
                  </a:lnTo>
                  <a:lnTo>
                    <a:pt x="2065940" y="427640"/>
                  </a:lnTo>
                  <a:lnTo>
                    <a:pt x="2081994" y="403824"/>
                  </a:lnTo>
                  <a:lnTo>
                    <a:pt x="2087879" y="374650"/>
                  </a:lnTo>
                  <a:lnTo>
                    <a:pt x="2087879" y="74929"/>
                  </a:lnTo>
                  <a:lnTo>
                    <a:pt x="2081994" y="45755"/>
                  </a:lnTo>
                  <a:lnTo>
                    <a:pt x="2065940" y="21939"/>
                  </a:lnTo>
                  <a:lnTo>
                    <a:pt x="2042124" y="5885"/>
                  </a:lnTo>
                  <a:lnTo>
                    <a:pt x="20129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64651" y="1941576"/>
              <a:ext cx="2087880" cy="449580"/>
            </a:xfrm>
            <a:custGeom>
              <a:avLst/>
              <a:gdLst/>
              <a:ahLst/>
              <a:cxnLst/>
              <a:rect l="l" t="t" r="r" b="b"/>
              <a:pathLst>
                <a:path w="2087879" h="449580">
                  <a:moveTo>
                    <a:pt x="0" y="74929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29" y="0"/>
                  </a:lnTo>
                  <a:lnTo>
                    <a:pt x="2012950" y="0"/>
                  </a:lnTo>
                  <a:lnTo>
                    <a:pt x="2042124" y="5885"/>
                  </a:lnTo>
                  <a:lnTo>
                    <a:pt x="2065940" y="21939"/>
                  </a:lnTo>
                  <a:lnTo>
                    <a:pt x="2081994" y="45755"/>
                  </a:lnTo>
                  <a:lnTo>
                    <a:pt x="2087879" y="74929"/>
                  </a:lnTo>
                  <a:lnTo>
                    <a:pt x="2087879" y="374650"/>
                  </a:lnTo>
                  <a:lnTo>
                    <a:pt x="2081994" y="403824"/>
                  </a:lnTo>
                  <a:lnTo>
                    <a:pt x="2065940" y="427640"/>
                  </a:lnTo>
                  <a:lnTo>
                    <a:pt x="2042124" y="443694"/>
                  </a:lnTo>
                  <a:lnTo>
                    <a:pt x="2012950" y="449579"/>
                  </a:lnTo>
                  <a:lnTo>
                    <a:pt x="74929" y="449579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29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445754" y="2002282"/>
            <a:ext cx="172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Bayesian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43061" y="2523489"/>
            <a:ext cx="2099310" cy="462280"/>
            <a:chOff x="8243061" y="2523489"/>
            <a:chExt cx="2099310" cy="462280"/>
          </a:xfrm>
        </p:grpSpPr>
        <p:sp>
          <p:nvSpPr>
            <p:cNvPr id="36" name="object 36"/>
            <p:cNvSpPr/>
            <p:nvPr/>
          </p:nvSpPr>
          <p:spPr>
            <a:xfrm>
              <a:off x="8249411" y="2529839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80">
                  <a:moveTo>
                    <a:pt x="2011426" y="0"/>
                  </a:moveTo>
                  <a:lnTo>
                    <a:pt x="74930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30" y="449580"/>
                  </a:lnTo>
                  <a:lnTo>
                    <a:pt x="2011426" y="449580"/>
                  </a:lnTo>
                  <a:lnTo>
                    <a:pt x="2040600" y="443694"/>
                  </a:lnTo>
                  <a:lnTo>
                    <a:pt x="2064416" y="427640"/>
                  </a:lnTo>
                  <a:lnTo>
                    <a:pt x="2080470" y="403824"/>
                  </a:lnTo>
                  <a:lnTo>
                    <a:pt x="2086356" y="374650"/>
                  </a:lnTo>
                  <a:lnTo>
                    <a:pt x="2086356" y="74930"/>
                  </a:lnTo>
                  <a:lnTo>
                    <a:pt x="2080470" y="45755"/>
                  </a:lnTo>
                  <a:lnTo>
                    <a:pt x="2064416" y="21939"/>
                  </a:lnTo>
                  <a:lnTo>
                    <a:pt x="2040600" y="5885"/>
                  </a:lnTo>
                  <a:lnTo>
                    <a:pt x="201142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49411" y="2529839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80">
                  <a:moveTo>
                    <a:pt x="0" y="74930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30" y="0"/>
                  </a:lnTo>
                  <a:lnTo>
                    <a:pt x="2011426" y="0"/>
                  </a:lnTo>
                  <a:lnTo>
                    <a:pt x="2040600" y="5885"/>
                  </a:lnTo>
                  <a:lnTo>
                    <a:pt x="2064416" y="21939"/>
                  </a:lnTo>
                  <a:lnTo>
                    <a:pt x="2080470" y="45755"/>
                  </a:lnTo>
                  <a:lnTo>
                    <a:pt x="2086356" y="74930"/>
                  </a:lnTo>
                  <a:lnTo>
                    <a:pt x="2086356" y="374650"/>
                  </a:lnTo>
                  <a:lnTo>
                    <a:pt x="2080470" y="403824"/>
                  </a:lnTo>
                  <a:lnTo>
                    <a:pt x="2064416" y="427640"/>
                  </a:lnTo>
                  <a:lnTo>
                    <a:pt x="2040600" y="443694"/>
                  </a:lnTo>
                  <a:lnTo>
                    <a:pt x="2011426" y="449580"/>
                  </a:lnTo>
                  <a:lnTo>
                    <a:pt x="74930" y="449580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3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614409" y="2590546"/>
            <a:ext cx="1356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Decision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094093" y="3110229"/>
            <a:ext cx="3266440" cy="822960"/>
            <a:chOff x="7094093" y="3110229"/>
            <a:chExt cx="3266440" cy="822960"/>
          </a:xfrm>
        </p:grpSpPr>
        <p:sp>
          <p:nvSpPr>
            <p:cNvPr id="40" name="object 40"/>
            <p:cNvSpPr/>
            <p:nvPr/>
          </p:nvSpPr>
          <p:spPr>
            <a:xfrm>
              <a:off x="7097268" y="3342131"/>
              <a:ext cx="1167130" cy="587375"/>
            </a:xfrm>
            <a:custGeom>
              <a:avLst/>
              <a:gdLst/>
              <a:ahLst/>
              <a:cxnLst/>
              <a:rect l="l" t="t" r="r" b="b"/>
              <a:pathLst>
                <a:path w="1167129" h="587375">
                  <a:moveTo>
                    <a:pt x="0" y="105917"/>
                  </a:moveTo>
                  <a:lnTo>
                    <a:pt x="1166749" y="0"/>
                  </a:lnTo>
                </a:path>
                <a:path w="1167129" h="587375">
                  <a:moveTo>
                    <a:pt x="0" y="105155"/>
                  </a:moveTo>
                  <a:lnTo>
                    <a:pt x="1166749" y="587374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64652" y="3116579"/>
              <a:ext cx="2089785" cy="449580"/>
            </a:xfrm>
            <a:custGeom>
              <a:avLst/>
              <a:gdLst/>
              <a:ahLst/>
              <a:cxnLst/>
              <a:rect l="l" t="t" r="r" b="b"/>
              <a:pathLst>
                <a:path w="2089784" h="449579">
                  <a:moveTo>
                    <a:pt x="2014474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29" y="449580"/>
                  </a:lnTo>
                  <a:lnTo>
                    <a:pt x="2014474" y="449580"/>
                  </a:lnTo>
                  <a:lnTo>
                    <a:pt x="2043648" y="443694"/>
                  </a:lnTo>
                  <a:lnTo>
                    <a:pt x="2067464" y="427640"/>
                  </a:lnTo>
                  <a:lnTo>
                    <a:pt x="2083518" y="403824"/>
                  </a:lnTo>
                  <a:lnTo>
                    <a:pt x="2089403" y="374650"/>
                  </a:lnTo>
                  <a:lnTo>
                    <a:pt x="2089403" y="74930"/>
                  </a:lnTo>
                  <a:lnTo>
                    <a:pt x="2083518" y="45755"/>
                  </a:lnTo>
                  <a:lnTo>
                    <a:pt x="2067464" y="21939"/>
                  </a:lnTo>
                  <a:lnTo>
                    <a:pt x="2043648" y="5885"/>
                  </a:lnTo>
                  <a:lnTo>
                    <a:pt x="201447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64652" y="3116579"/>
              <a:ext cx="2089785" cy="449580"/>
            </a:xfrm>
            <a:custGeom>
              <a:avLst/>
              <a:gdLst/>
              <a:ahLst/>
              <a:cxnLst/>
              <a:rect l="l" t="t" r="r" b="b"/>
              <a:pathLst>
                <a:path w="2089784" h="449579">
                  <a:moveTo>
                    <a:pt x="0" y="74930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29" y="0"/>
                  </a:lnTo>
                  <a:lnTo>
                    <a:pt x="2014474" y="0"/>
                  </a:lnTo>
                  <a:lnTo>
                    <a:pt x="2043648" y="5885"/>
                  </a:lnTo>
                  <a:lnTo>
                    <a:pt x="2067464" y="21939"/>
                  </a:lnTo>
                  <a:lnTo>
                    <a:pt x="2083518" y="45755"/>
                  </a:lnTo>
                  <a:lnTo>
                    <a:pt x="2089403" y="74930"/>
                  </a:lnTo>
                  <a:lnTo>
                    <a:pt x="2089403" y="374650"/>
                  </a:lnTo>
                  <a:lnTo>
                    <a:pt x="2083518" y="403824"/>
                  </a:lnTo>
                  <a:lnTo>
                    <a:pt x="2067464" y="427640"/>
                  </a:lnTo>
                  <a:lnTo>
                    <a:pt x="2043648" y="443694"/>
                  </a:lnTo>
                  <a:lnTo>
                    <a:pt x="2014474" y="449580"/>
                  </a:lnTo>
                  <a:lnTo>
                    <a:pt x="74929" y="449580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30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413750" y="3176727"/>
            <a:ext cx="1792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258302" y="3698494"/>
            <a:ext cx="2102485" cy="462280"/>
            <a:chOff x="8258302" y="3698494"/>
            <a:chExt cx="2102485" cy="462280"/>
          </a:xfrm>
        </p:grpSpPr>
        <p:sp>
          <p:nvSpPr>
            <p:cNvPr id="45" name="object 45"/>
            <p:cNvSpPr/>
            <p:nvPr/>
          </p:nvSpPr>
          <p:spPr>
            <a:xfrm>
              <a:off x="8264652" y="3704844"/>
              <a:ext cx="2089785" cy="449580"/>
            </a:xfrm>
            <a:custGeom>
              <a:avLst/>
              <a:gdLst/>
              <a:ahLst/>
              <a:cxnLst/>
              <a:rect l="l" t="t" r="r" b="b"/>
              <a:pathLst>
                <a:path w="2089784" h="449579">
                  <a:moveTo>
                    <a:pt x="2014474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29"/>
                  </a:lnTo>
                  <a:lnTo>
                    <a:pt x="0" y="374649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29" y="449579"/>
                  </a:lnTo>
                  <a:lnTo>
                    <a:pt x="2014474" y="449579"/>
                  </a:lnTo>
                  <a:lnTo>
                    <a:pt x="2043648" y="443694"/>
                  </a:lnTo>
                  <a:lnTo>
                    <a:pt x="2067464" y="427640"/>
                  </a:lnTo>
                  <a:lnTo>
                    <a:pt x="2083518" y="403824"/>
                  </a:lnTo>
                  <a:lnTo>
                    <a:pt x="2089403" y="374649"/>
                  </a:lnTo>
                  <a:lnTo>
                    <a:pt x="2089403" y="74929"/>
                  </a:lnTo>
                  <a:lnTo>
                    <a:pt x="2083518" y="45755"/>
                  </a:lnTo>
                  <a:lnTo>
                    <a:pt x="2067464" y="21939"/>
                  </a:lnTo>
                  <a:lnTo>
                    <a:pt x="2043648" y="5885"/>
                  </a:lnTo>
                  <a:lnTo>
                    <a:pt x="201447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64652" y="3704844"/>
              <a:ext cx="2089785" cy="449580"/>
            </a:xfrm>
            <a:custGeom>
              <a:avLst/>
              <a:gdLst/>
              <a:ahLst/>
              <a:cxnLst/>
              <a:rect l="l" t="t" r="r" b="b"/>
              <a:pathLst>
                <a:path w="2089784" h="449579">
                  <a:moveTo>
                    <a:pt x="0" y="74929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29" y="0"/>
                  </a:lnTo>
                  <a:lnTo>
                    <a:pt x="2014474" y="0"/>
                  </a:lnTo>
                  <a:lnTo>
                    <a:pt x="2043648" y="5885"/>
                  </a:lnTo>
                  <a:lnTo>
                    <a:pt x="2067464" y="21939"/>
                  </a:lnTo>
                  <a:lnTo>
                    <a:pt x="2083518" y="45755"/>
                  </a:lnTo>
                  <a:lnTo>
                    <a:pt x="2089403" y="74929"/>
                  </a:lnTo>
                  <a:lnTo>
                    <a:pt x="2089403" y="374649"/>
                  </a:lnTo>
                  <a:lnTo>
                    <a:pt x="2083518" y="403824"/>
                  </a:lnTo>
                  <a:lnTo>
                    <a:pt x="2067464" y="427640"/>
                  </a:lnTo>
                  <a:lnTo>
                    <a:pt x="2043648" y="443694"/>
                  </a:lnTo>
                  <a:lnTo>
                    <a:pt x="2014474" y="449579"/>
                  </a:lnTo>
                  <a:lnTo>
                    <a:pt x="74929" y="449579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49"/>
                  </a:lnTo>
                  <a:lnTo>
                    <a:pt x="0" y="7492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424418" y="3765295"/>
            <a:ext cx="1771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Logistic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097141" y="4285234"/>
            <a:ext cx="3245485" cy="461009"/>
            <a:chOff x="7097141" y="4285234"/>
            <a:chExt cx="3245485" cy="461009"/>
          </a:xfrm>
        </p:grpSpPr>
        <p:sp>
          <p:nvSpPr>
            <p:cNvPr id="49" name="object 49"/>
            <p:cNvSpPr/>
            <p:nvPr/>
          </p:nvSpPr>
          <p:spPr>
            <a:xfrm>
              <a:off x="7100316" y="4443984"/>
              <a:ext cx="1148080" cy="71755"/>
            </a:xfrm>
            <a:custGeom>
              <a:avLst/>
              <a:gdLst/>
              <a:ahLst/>
              <a:cxnLst/>
              <a:rect l="l" t="t" r="r" b="b"/>
              <a:pathLst>
                <a:path w="1148079" h="71754">
                  <a:moveTo>
                    <a:pt x="0" y="0"/>
                  </a:moveTo>
                  <a:lnTo>
                    <a:pt x="1147699" y="71501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249412" y="4291584"/>
              <a:ext cx="2086610" cy="448309"/>
            </a:xfrm>
            <a:custGeom>
              <a:avLst/>
              <a:gdLst/>
              <a:ahLst/>
              <a:cxnLst/>
              <a:rect l="l" t="t" r="r" b="b"/>
              <a:pathLst>
                <a:path w="2086609" h="448310">
                  <a:moveTo>
                    <a:pt x="2011680" y="0"/>
                  </a:moveTo>
                  <a:lnTo>
                    <a:pt x="74676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6"/>
                  </a:lnTo>
                  <a:lnTo>
                    <a:pt x="0" y="373380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6" y="448056"/>
                  </a:lnTo>
                  <a:lnTo>
                    <a:pt x="2011680" y="448056"/>
                  </a:lnTo>
                  <a:lnTo>
                    <a:pt x="2040761" y="442192"/>
                  </a:lnTo>
                  <a:lnTo>
                    <a:pt x="2064496" y="426196"/>
                  </a:lnTo>
                  <a:lnTo>
                    <a:pt x="2080492" y="402461"/>
                  </a:lnTo>
                  <a:lnTo>
                    <a:pt x="2086356" y="373380"/>
                  </a:lnTo>
                  <a:lnTo>
                    <a:pt x="2086356" y="74676"/>
                  </a:lnTo>
                  <a:lnTo>
                    <a:pt x="2080492" y="45594"/>
                  </a:lnTo>
                  <a:lnTo>
                    <a:pt x="2064496" y="21859"/>
                  </a:lnTo>
                  <a:lnTo>
                    <a:pt x="2040761" y="5863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249412" y="4291584"/>
              <a:ext cx="2086610" cy="448309"/>
            </a:xfrm>
            <a:custGeom>
              <a:avLst/>
              <a:gdLst/>
              <a:ahLst/>
              <a:cxnLst/>
              <a:rect l="l" t="t" r="r" b="b"/>
              <a:pathLst>
                <a:path w="2086609" h="448310">
                  <a:moveTo>
                    <a:pt x="0" y="74676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6" y="0"/>
                  </a:lnTo>
                  <a:lnTo>
                    <a:pt x="2011680" y="0"/>
                  </a:lnTo>
                  <a:lnTo>
                    <a:pt x="2040761" y="5863"/>
                  </a:lnTo>
                  <a:lnTo>
                    <a:pt x="2064496" y="21859"/>
                  </a:lnTo>
                  <a:lnTo>
                    <a:pt x="2080492" y="45594"/>
                  </a:lnTo>
                  <a:lnTo>
                    <a:pt x="2086356" y="74676"/>
                  </a:lnTo>
                  <a:lnTo>
                    <a:pt x="2086356" y="373380"/>
                  </a:lnTo>
                  <a:lnTo>
                    <a:pt x="2080492" y="402461"/>
                  </a:lnTo>
                  <a:lnTo>
                    <a:pt x="2064496" y="426196"/>
                  </a:lnTo>
                  <a:lnTo>
                    <a:pt x="2040761" y="442192"/>
                  </a:lnTo>
                  <a:lnTo>
                    <a:pt x="2011680" y="448056"/>
                  </a:lnTo>
                  <a:lnTo>
                    <a:pt x="74676" y="448056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80"/>
                  </a:lnTo>
                  <a:lnTo>
                    <a:pt x="0" y="74676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375142" y="4351096"/>
            <a:ext cx="18370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Nearest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Neighbor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094093" y="4870450"/>
            <a:ext cx="3248025" cy="904875"/>
            <a:chOff x="7094093" y="4870450"/>
            <a:chExt cx="3248025" cy="904875"/>
          </a:xfrm>
        </p:grpSpPr>
        <p:sp>
          <p:nvSpPr>
            <p:cNvPr id="54" name="object 54"/>
            <p:cNvSpPr/>
            <p:nvPr/>
          </p:nvSpPr>
          <p:spPr>
            <a:xfrm>
              <a:off x="7097268" y="5123688"/>
              <a:ext cx="1435100" cy="648335"/>
            </a:xfrm>
            <a:custGeom>
              <a:avLst/>
              <a:gdLst/>
              <a:ahLst/>
              <a:cxnLst/>
              <a:rect l="l" t="t" r="r" b="b"/>
              <a:pathLst>
                <a:path w="1435100" h="648335">
                  <a:moveTo>
                    <a:pt x="0" y="250825"/>
                  </a:moveTo>
                  <a:lnTo>
                    <a:pt x="1219200" y="0"/>
                  </a:lnTo>
                </a:path>
                <a:path w="1435100" h="648335">
                  <a:moveTo>
                    <a:pt x="0" y="251459"/>
                  </a:moveTo>
                  <a:lnTo>
                    <a:pt x="1435100" y="648335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249412" y="4876800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79">
                  <a:moveTo>
                    <a:pt x="2011426" y="0"/>
                  </a:moveTo>
                  <a:lnTo>
                    <a:pt x="74930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30" y="449580"/>
                  </a:lnTo>
                  <a:lnTo>
                    <a:pt x="2011426" y="449580"/>
                  </a:lnTo>
                  <a:lnTo>
                    <a:pt x="2040600" y="443694"/>
                  </a:lnTo>
                  <a:lnTo>
                    <a:pt x="2064416" y="427640"/>
                  </a:lnTo>
                  <a:lnTo>
                    <a:pt x="2080470" y="403824"/>
                  </a:lnTo>
                  <a:lnTo>
                    <a:pt x="2086356" y="374650"/>
                  </a:lnTo>
                  <a:lnTo>
                    <a:pt x="2086356" y="74930"/>
                  </a:lnTo>
                  <a:lnTo>
                    <a:pt x="2080470" y="45755"/>
                  </a:lnTo>
                  <a:lnTo>
                    <a:pt x="2064416" y="21939"/>
                  </a:lnTo>
                  <a:lnTo>
                    <a:pt x="2040600" y="5885"/>
                  </a:lnTo>
                  <a:lnTo>
                    <a:pt x="201142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249412" y="4876800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79">
                  <a:moveTo>
                    <a:pt x="0" y="74930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30" y="0"/>
                  </a:lnTo>
                  <a:lnTo>
                    <a:pt x="2011426" y="0"/>
                  </a:lnTo>
                  <a:lnTo>
                    <a:pt x="2040600" y="5885"/>
                  </a:lnTo>
                  <a:lnTo>
                    <a:pt x="2064416" y="21939"/>
                  </a:lnTo>
                  <a:lnTo>
                    <a:pt x="2080470" y="45755"/>
                  </a:lnTo>
                  <a:lnTo>
                    <a:pt x="2086356" y="74930"/>
                  </a:lnTo>
                  <a:lnTo>
                    <a:pt x="2086356" y="374650"/>
                  </a:lnTo>
                  <a:lnTo>
                    <a:pt x="2080470" y="403824"/>
                  </a:lnTo>
                  <a:lnTo>
                    <a:pt x="2064416" y="427640"/>
                  </a:lnTo>
                  <a:lnTo>
                    <a:pt x="2040600" y="443694"/>
                  </a:lnTo>
                  <a:lnTo>
                    <a:pt x="2011426" y="449580"/>
                  </a:lnTo>
                  <a:lnTo>
                    <a:pt x="74930" y="449580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3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544306" y="4937886"/>
            <a:ext cx="149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Neural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243061" y="5441950"/>
            <a:ext cx="2099310" cy="462280"/>
            <a:chOff x="8243061" y="5441950"/>
            <a:chExt cx="2099310" cy="462280"/>
          </a:xfrm>
        </p:grpSpPr>
        <p:sp>
          <p:nvSpPr>
            <p:cNvPr id="59" name="object 59"/>
            <p:cNvSpPr/>
            <p:nvPr/>
          </p:nvSpPr>
          <p:spPr>
            <a:xfrm>
              <a:off x="8249411" y="5448300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79">
                  <a:moveTo>
                    <a:pt x="2011426" y="0"/>
                  </a:moveTo>
                  <a:lnTo>
                    <a:pt x="74930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374650"/>
                  </a:lnTo>
                  <a:lnTo>
                    <a:pt x="5885" y="403813"/>
                  </a:lnTo>
                  <a:lnTo>
                    <a:pt x="21939" y="427631"/>
                  </a:lnTo>
                  <a:lnTo>
                    <a:pt x="45755" y="443690"/>
                  </a:lnTo>
                  <a:lnTo>
                    <a:pt x="74930" y="449580"/>
                  </a:lnTo>
                  <a:lnTo>
                    <a:pt x="2011426" y="449580"/>
                  </a:lnTo>
                  <a:lnTo>
                    <a:pt x="2040600" y="443690"/>
                  </a:lnTo>
                  <a:lnTo>
                    <a:pt x="2064416" y="427631"/>
                  </a:lnTo>
                  <a:lnTo>
                    <a:pt x="2080470" y="403813"/>
                  </a:lnTo>
                  <a:lnTo>
                    <a:pt x="2086356" y="374650"/>
                  </a:lnTo>
                  <a:lnTo>
                    <a:pt x="2086356" y="74930"/>
                  </a:lnTo>
                  <a:lnTo>
                    <a:pt x="2080470" y="45755"/>
                  </a:lnTo>
                  <a:lnTo>
                    <a:pt x="2064416" y="21939"/>
                  </a:lnTo>
                  <a:lnTo>
                    <a:pt x="2040600" y="5885"/>
                  </a:lnTo>
                  <a:lnTo>
                    <a:pt x="201142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249411" y="5448300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79">
                  <a:moveTo>
                    <a:pt x="0" y="74930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30" y="0"/>
                  </a:lnTo>
                  <a:lnTo>
                    <a:pt x="2011426" y="0"/>
                  </a:lnTo>
                  <a:lnTo>
                    <a:pt x="2040600" y="5885"/>
                  </a:lnTo>
                  <a:lnTo>
                    <a:pt x="2064416" y="21939"/>
                  </a:lnTo>
                  <a:lnTo>
                    <a:pt x="2080470" y="45755"/>
                  </a:lnTo>
                  <a:lnTo>
                    <a:pt x="2086356" y="74930"/>
                  </a:lnTo>
                  <a:lnTo>
                    <a:pt x="2086356" y="374650"/>
                  </a:lnTo>
                  <a:lnTo>
                    <a:pt x="2080470" y="403813"/>
                  </a:lnTo>
                  <a:lnTo>
                    <a:pt x="2064416" y="427631"/>
                  </a:lnTo>
                  <a:lnTo>
                    <a:pt x="2040600" y="443690"/>
                  </a:lnTo>
                  <a:lnTo>
                    <a:pt x="2011426" y="449580"/>
                  </a:lnTo>
                  <a:lnTo>
                    <a:pt x="74930" y="449580"/>
                  </a:lnTo>
                  <a:lnTo>
                    <a:pt x="45755" y="443690"/>
                  </a:lnTo>
                  <a:lnTo>
                    <a:pt x="21939" y="427631"/>
                  </a:lnTo>
                  <a:lnTo>
                    <a:pt x="5885" y="403813"/>
                  </a:lnTo>
                  <a:lnTo>
                    <a:pt x="0" y="374650"/>
                  </a:lnTo>
                  <a:lnTo>
                    <a:pt x="0" y="7493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580881" y="5372506"/>
            <a:ext cx="1424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Vector </a:t>
            </a:r>
            <a:r>
              <a:rPr sz="1800" spc="-10" dirty="0">
                <a:latin typeface="Calibri"/>
                <a:cs typeface="Calibri"/>
              </a:rPr>
              <a:t>Machine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787" y="711834"/>
            <a:ext cx="2586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1-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Nearest</a:t>
            </a:r>
            <a:r>
              <a:rPr sz="2400" b="1" u="sng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Neighbor: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2450" y="1213230"/>
            <a:ext cx="5362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Print"/>
                <a:cs typeface="Segoe Print"/>
              </a:rPr>
              <a:t>Simplest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ML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Classifier</a:t>
            </a:r>
            <a:endParaRPr sz="1800">
              <a:latin typeface="Segoe Print"/>
              <a:cs typeface="Segoe Print"/>
            </a:endParaRPr>
          </a:p>
          <a:p>
            <a:pPr marL="12700">
              <a:lnSpc>
                <a:spcPct val="100000"/>
              </a:lnSpc>
              <a:tabLst>
                <a:tab pos="742315" algn="l"/>
              </a:tabLst>
            </a:pPr>
            <a:r>
              <a:rPr sz="1800" spc="-10" dirty="0">
                <a:solidFill>
                  <a:srgbClr val="FF0000"/>
                </a:solidFill>
                <a:latin typeface="Segoe Print"/>
                <a:cs typeface="Segoe Print"/>
              </a:rPr>
              <a:t>Idea:</a:t>
            </a:r>
            <a:r>
              <a:rPr sz="1800" dirty="0">
                <a:solidFill>
                  <a:srgbClr val="FF0000"/>
                </a:solidFill>
                <a:latin typeface="Segoe Print"/>
                <a:cs typeface="Segoe Print"/>
              </a:rPr>
              <a:t>	</a:t>
            </a:r>
            <a:r>
              <a:rPr sz="1800" dirty="0">
                <a:latin typeface="Segoe Print"/>
                <a:cs typeface="Segoe Print"/>
              </a:rPr>
              <a:t>Use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label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closest</a:t>
            </a:r>
            <a:r>
              <a:rPr sz="1800" b="1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known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point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3629" y="1249489"/>
            <a:ext cx="238125" cy="2381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84629" y="2697289"/>
            <a:ext cx="238125" cy="2381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5229" y="944689"/>
            <a:ext cx="238125" cy="2381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7429" y="2011489"/>
            <a:ext cx="238125" cy="2381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1029" y="2163889"/>
            <a:ext cx="238125" cy="23812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465629" y="1620138"/>
            <a:ext cx="1083310" cy="820419"/>
            <a:chOff x="8465629" y="1620138"/>
            <a:chExt cx="1083310" cy="820419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65629" y="1630489"/>
              <a:ext cx="238125" cy="2381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46629" y="1935289"/>
              <a:ext cx="238125" cy="2381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584692" y="167335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  <a:path w="762000" h="762000">
                  <a:moveTo>
                    <a:pt x="38100" y="381000"/>
                  </a:moveTo>
                  <a:lnTo>
                    <a:pt x="41230" y="334475"/>
                  </a:lnTo>
                  <a:lnTo>
                    <a:pt x="50350" y="289851"/>
                  </a:lnTo>
                  <a:lnTo>
                    <a:pt x="65049" y="247536"/>
                  </a:lnTo>
                  <a:lnTo>
                    <a:pt x="84920" y="207941"/>
                  </a:lnTo>
                  <a:lnTo>
                    <a:pt x="109554" y="171473"/>
                  </a:lnTo>
                  <a:lnTo>
                    <a:pt x="138541" y="138541"/>
                  </a:lnTo>
                  <a:lnTo>
                    <a:pt x="171473" y="109554"/>
                  </a:lnTo>
                  <a:lnTo>
                    <a:pt x="207941" y="84920"/>
                  </a:lnTo>
                  <a:lnTo>
                    <a:pt x="247536" y="65049"/>
                  </a:lnTo>
                  <a:lnTo>
                    <a:pt x="289851" y="50350"/>
                  </a:lnTo>
                  <a:lnTo>
                    <a:pt x="334475" y="41230"/>
                  </a:lnTo>
                  <a:lnTo>
                    <a:pt x="381000" y="38100"/>
                  </a:lnTo>
                  <a:lnTo>
                    <a:pt x="427524" y="41230"/>
                  </a:lnTo>
                  <a:lnTo>
                    <a:pt x="472148" y="50350"/>
                  </a:lnTo>
                  <a:lnTo>
                    <a:pt x="514463" y="65049"/>
                  </a:lnTo>
                  <a:lnTo>
                    <a:pt x="554058" y="84920"/>
                  </a:lnTo>
                  <a:lnTo>
                    <a:pt x="590526" y="109554"/>
                  </a:lnTo>
                  <a:lnTo>
                    <a:pt x="623458" y="138541"/>
                  </a:lnTo>
                  <a:lnTo>
                    <a:pt x="652445" y="171473"/>
                  </a:lnTo>
                  <a:lnTo>
                    <a:pt x="677079" y="207941"/>
                  </a:lnTo>
                  <a:lnTo>
                    <a:pt x="696950" y="247536"/>
                  </a:lnTo>
                  <a:lnTo>
                    <a:pt x="711649" y="289851"/>
                  </a:lnTo>
                  <a:lnTo>
                    <a:pt x="720769" y="334475"/>
                  </a:lnTo>
                  <a:lnTo>
                    <a:pt x="723900" y="381000"/>
                  </a:lnTo>
                  <a:lnTo>
                    <a:pt x="720769" y="427524"/>
                  </a:lnTo>
                  <a:lnTo>
                    <a:pt x="711649" y="472148"/>
                  </a:lnTo>
                  <a:lnTo>
                    <a:pt x="696950" y="514463"/>
                  </a:lnTo>
                  <a:lnTo>
                    <a:pt x="677079" y="554058"/>
                  </a:lnTo>
                  <a:lnTo>
                    <a:pt x="652445" y="590526"/>
                  </a:lnTo>
                  <a:lnTo>
                    <a:pt x="623458" y="623458"/>
                  </a:lnTo>
                  <a:lnTo>
                    <a:pt x="590526" y="652445"/>
                  </a:lnTo>
                  <a:lnTo>
                    <a:pt x="554058" y="677079"/>
                  </a:lnTo>
                  <a:lnTo>
                    <a:pt x="514463" y="696950"/>
                  </a:lnTo>
                  <a:lnTo>
                    <a:pt x="472148" y="711649"/>
                  </a:lnTo>
                  <a:lnTo>
                    <a:pt x="427524" y="720769"/>
                  </a:lnTo>
                  <a:lnTo>
                    <a:pt x="381000" y="723900"/>
                  </a:lnTo>
                  <a:lnTo>
                    <a:pt x="334475" y="720769"/>
                  </a:lnTo>
                  <a:lnTo>
                    <a:pt x="289851" y="711649"/>
                  </a:lnTo>
                  <a:lnTo>
                    <a:pt x="247536" y="696950"/>
                  </a:lnTo>
                  <a:lnTo>
                    <a:pt x="207941" y="677079"/>
                  </a:lnTo>
                  <a:lnTo>
                    <a:pt x="171473" y="652445"/>
                  </a:lnTo>
                  <a:lnTo>
                    <a:pt x="138541" y="623458"/>
                  </a:lnTo>
                  <a:lnTo>
                    <a:pt x="109554" y="590526"/>
                  </a:lnTo>
                  <a:lnTo>
                    <a:pt x="84920" y="554058"/>
                  </a:lnTo>
                  <a:lnTo>
                    <a:pt x="65049" y="514463"/>
                  </a:lnTo>
                  <a:lnTo>
                    <a:pt x="50350" y="472148"/>
                  </a:lnTo>
                  <a:lnTo>
                    <a:pt x="41230" y="427524"/>
                  </a:lnTo>
                  <a:lnTo>
                    <a:pt x="38100" y="381000"/>
                  </a:lnTo>
                  <a:close/>
                </a:path>
                <a:path w="762000" h="762000">
                  <a:moveTo>
                    <a:pt x="76200" y="381000"/>
                  </a:moveTo>
                  <a:lnTo>
                    <a:pt x="80190" y="331574"/>
                  </a:lnTo>
                  <a:lnTo>
                    <a:pt x="91744" y="284683"/>
                  </a:lnTo>
                  <a:lnTo>
                    <a:pt x="110232" y="240953"/>
                  </a:lnTo>
                  <a:lnTo>
                    <a:pt x="135026" y="201015"/>
                  </a:lnTo>
                  <a:lnTo>
                    <a:pt x="165496" y="165496"/>
                  </a:lnTo>
                  <a:lnTo>
                    <a:pt x="201015" y="135026"/>
                  </a:lnTo>
                  <a:lnTo>
                    <a:pt x="240953" y="110232"/>
                  </a:lnTo>
                  <a:lnTo>
                    <a:pt x="284683" y="91744"/>
                  </a:lnTo>
                  <a:lnTo>
                    <a:pt x="331574" y="80190"/>
                  </a:lnTo>
                  <a:lnTo>
                    <a:pt x="381000" y="76200"/>
                  </a:lnTo>
                  <a:lnTo>
                    <a:pt x="430425" y="80190"/>
                  </a:lnTo>
                  <a:lnTo>
                    <a:pt x="477316" y="91744"/>
                  </a:lnTo>
                  <a:lnTo>
                    <a:pt x="521046" y="110232"/>
                  </a:lnTo>
                  <a:lnTo>
                    <a:pt x="560984" y="135026"/>
                  </a:lnTo>
                  <a:lnTo>
                    <a:pt x="596503" y="165496"/>
                  </a:lnTo>
                  <a:lnTo>
                    <a:pt x="626973" y="201015"/>
                  </a:lnTo>
                  <a:lnTo>
                    <a:pt x="651767" y="240953"/>
                  </a:lnTo>
                  <a:lnTo>
                    <a:pt x="670255" y="284683"/>
                  </a:lnTo>
                  <a:lnTo>
                    <a:pt x="681809" y="331574"/>
                  </a:lnTo>
                  <a:lnTo>
                    <a:pt x="685800" y="381000"/>
                  </a:lnTo>
                  <a:lnTo>
                    <a:pt x="681809" y="430425"/>
                  </a:lnTo>
                  <a:lnTo>
                    <a:pt x="670255" y="477316"/>
                  </a:lnTo>
                  <a:lnTo>
                    <a:pt x="651767" y="521046"/>
                  </a:lnTo>
                  <a:lnTo>
                    <a:pt x="626973" y="560984"/>
                  </a:lnTo>
                  <a:lnTo>
                    <a:pt x="596503" y="596503"/>
                  </a:lnTo>
                  <a:lnTo>
                    <a:pt x="560984" y="626973"/>
                  </a:lnTo>
                  <a:lnTo>
                    <a:pt x="521046" y="651767"/>
                  </a:lnTo>
                  <a:lnTo>
                    <a:pt x="477316" y="670255"/>
                  </a:lnTo>
                  <a:lnTo>
                    <a:pt x="430425" y="681809"/>
                  </a:lnTo>
                  <a:lnTo>
                    <a:pt x="381000" y="685800"/>
                  </a:lnTo>
                  <a:lnTo>
                    <a:pt x="331574" y="681809"/>
                  </a:lnTo>
                  <a:lnTo>
                    <a:pt x="284683" y="670255"/>
                  </a:lnTo>
                  <a:lnTo>
                    <a:pt x="240953" y="651767"/>
                  </a:lnTo>
                  <a:lnTo>
                    <a:pt x="201015" y="626973"/>
                  </a:lnTo>
                  <a:lnTo>
                    <a:pt x="165496" y="596503"/>
                  </a:lnTo>
                  <a:lnTo>
                    <a:pt x="135026" y="560984"/>
                  </a:lnTo>
                  <a:lnTo>
                    <a:pt x="110232" y="521046"/>
                  </a:lnTo>
                  <a:lnTo>
                    <a:pt x="91744" y="477316"/>
                  </a:lnTo>
                  <a:lnTo>
                    <a:pt x="80190" y="430425"/>
                  </a:lnTo>
                  <a:lnTo>
                    <a:pt x="76200" y="381000"/>
                  </a:lnTo>
                  <a:close/>
                </a:path>
                <a:path w="762000" h="762000">
                  <a:moveTo>
                    <a:pt x="114300" y="381000"/>
                  </a:moveTo>
                  <a:lnTo>
                    <a:pt x="118596" y="333053"/>
                  </a:lnTo>
                  <a:lnTo>
                    <a:pt x="130982" y="287929"/>
                  </a:lnTo>
                  <a:lnTo>
                    <a:pt x="150706" y="246380"/>
                  </a:lnTo>
                  <a:lnTo>
                    <a:pt x="177016" y="209158"/>
                  </a:lnTo>
                  <a:lnTo>
                    <a:pt x="209158" y="177016"/>
                  </a:lnTo>
                  <a:lnTo>
                    <a:pt x="246379" y="150706"/>
                  </a:lnTo>
                  <a:lnTo>
                    <a:pt x="287929" y="130982"/>
                  </a:lnTo>
                  <a:lnTo>
                    <a:pt x="333053" y="118596"/>
                  </a:lnTo>
                  <a:lnTo>
                    <a:pt x="381000" y="114300"/>
                  </a:lnTo>
                  <a:lnTo>
                    <a:pt x="428946" y="118596"/>
                  </a:lnTo>
                  <a:lnTo>
                    <a:pt x="474070" y="130982"/>
                  </a:lnTo>
                  <a:lnTo>
                    <a:pt x="515619" y="150706"/>
                  </a:lnTo>
                  <a:lnTo>
                    <a:pt x="552841" y="177016"/>
                  </a:lnTo>
                  <a:lnTo>
                    <a:pt x="584983" y="209158"/>
                  </a:lnTo>
                  <a:lnTo>
                    <a:pt x="611293" y="246379"/>
                  </a:lnTo>
                  <a:lnTo>
                    <a:pt x="631017" y="287929"/>
                  </a:lnTo>
                  <a:lnTo>
                    <a:pt x="643403" y="333053"/>
                  </a:lnTo>
                  <a:lnTo>
                    <a:pt x="647700" y="381000"/>
                  </a:lnTo>
                  <a:lnTo>
                    <a:pt x="643403" y="428946"/>
                  </a:lnTo>
                  <a:lnTo>
                    <a:pt x="631017" y="474070"/>
                  </a:lnTo>
                  <a:lnTo>
                    <a:pt x="611293" y="515619"/>
                  </a:lnTo>
                  <a:lnTo>
                    <a:pt x="584983" y="552841"/>
                  </a:lnTo>
                  <a:lnTo>
                    <a:pt x="552841" y="584983"/>
                  </a:lnTo>
                  <a:lnTo>
                    <a:pt x="515619" y="611293"/>
                  </a:lnTo>
                  <a:lnTo>
                    <a:pt x="474070" y="631017"/>
                  </a:lnTo>
                  <a:lnTo>
                    <a:pt x="428946" y="643403"/>
                  </a:lnTo>
                  <a:lnTo>
                    <a:pt x="381000" y="647700"/>
                  </a:lnTo>
                  <a:lnTo>
                    <a:pt x="333053" y="643403"/>
                  </a:lnTo>
                  <a:lnTo>
                    <a:pt x="287929" y="631017"/>
                  </a:lnTo>
                  <a:lnTo>
                    <a:pt x="246379" y="611293"/>
                  </a:lnTo>
                  <a:lnTo>
                    <a:pt x="209158" y="584983"/>
                  </a:lnTo>
                  <a:lnTo>
                    <a:pt x="177016" y="552841"/>
                  </a:lnTo>
                  <a:lnTo>
                    <a:pt x="150706" y="515620"/>
                  </a:lnTo>
                  <a:lnTo>
                    <a:pt x="130982" y="474070"/>
                  </a:lnTo>
                  <a:lnTo>
                    <a:pt x="118596" y="428946"/>
                  </a:lnTo>
                  <a:lnTo>
                    <a:pt x="114300" y="381000"/>
                  </a:lnTo>
                  <a:close/>
                </a:path>
                <a:path w="762000" h="762000">
                  <a:moveTo>
                    <a:pt x="152400" y="381000"/>
                  </a:moveTo>
                  <a:lnTo>
                    <a:pt x="157044" y="334933"/>
                  </a:lnTo>
                  <a:lnTo>
                    <a:pt x="170366" y="292024"/>
                  </a:lnTo>
                  <a:lnTo>
                    <a:pt x="191445" y="253193"/>
                  </a:lnTo>
                  <a:lnTo>
                    <a:pt x="219360" y="219360"/>
                  </a:lnTo>
                  <a:lnTo>
                    <a:pt x="253193" y="191445"/>
                  </a:lnTo>
                  <a:lnTo>
                    <a:pt x="292024" y="170366"/>
                  </a:lnTo>
                  <a:lnTo>
                    <a:pt x="334933" y="157044"/>
                  </a:lnTo>
                  <a:lnTo>
                    <a:pt x="381000" y="152400"/>
                  </a:lnTo>
                  <a:lnTo>
                    <a:pt x="427066" y="157044"/>
                  </a:lnTo>
                  <a:lnTo>
                    <a:pt x="469975" y="170366"/>
                  </a:lnTo>
                  <a:lnTo>
                    <a:pt x="508806" y="191445"/>
                  </a:lnTo>
                  <a:lnTo>
                    <a:pt x="542639" y="219360"/>
                  </a:lnTo>
                  <a:lnTo>
                    <a:pt x="570554" y="253193"/>
                  </a:lnTo>
                  <a:lnTo>
                    <a:pt x="591633" y="292024"/>
                  </a:lnTo>
                  <a:lnTo>
                    <a:pt x="604955" y="334933"/>
                  </a:lnTo>
                  <a:lnTo>
                    <a:pt x="609600" y="381000"/>
                  </a:lnTo>
                  <a:lnTo>
                    <a:pt x="604955" y="427066"/>
                  </a:lnTo>
                  <a:lnTo>
                    <a:pt x="591633" y="469975"/>
                  </a:lnTo>
                  <a:lnTo>
                    <a:pt x="570554" y="508806"/>
                  </a:lnTo>
                  <a:lnTo>
                    <a:pt x="542639" y="542639"/>
                  </a:lnTo>
                  <a:lnTo>
                    <a:pt x="508806" y="570554"/>
                  </a:lnTo>
                  <a:lnTo>
                    <a:pt x="469975" y="591633"/>
                  </a:lnTo>
                  <a:lnTo>
                    <a:pt x="427066" y="604955"/>
                  </a:lnTo>
                  <a:lnTo>
                    <a:pt x="381000" y="609600"/>
                  </a:lnTo>
                  <a:lnTo>
                    <a:pt x="334933" y="604955"/>
                  </a:lnTo>
                  <a:lnTo>
                    <a:pt x="292024" y="591633"/>
                  </a:lnTo>
                  <a:lnTo>
                    <a:pt x="253193" y="570554"/>
                  </a:lnTo>
                  <a:lnTo>
                    <a:pt x="219360" y="542639"/>
                  </a:lnTo>
                  <a:lnTo>
                    <a:pt x="191445" y="508806"/>
                  </a:lnTo>
                  <a:lnTo>
                    <a:pt x="170366" y="469975"/>
                  </a:lnTo>
                  <a:lnTo>
                    <a:pt x="157044" y="427066"/>
                  </a:lnTo>
                  <a:lnTo>
                    <a:pt x="152400" y="381000"/>
                  </a:lnTo>
                  <a:close/>
                </a:path>
                <a:path w="762000" h="762000">
                  <a:moveTo>
                    <a:pt x="190500" y="381000"/>
                  </a:moveTo>
                  <a:lnTo>
                    <a:pt x="195534" y="337337"/>
                  </a:lnTo>
                  <a:lnTo>
                    <a:pt x="209872" y="297246"/>
                  </a:lnTo>
                  <a:lnTo>
                    <a:pt x="232367" y="261874"/>
                  </a:lnTo>
                  <a:lnTo>
                    <a:pt x="261874" y="232367"/>
                  </a:lnTo>
                  <a:lnTo>
                    <a:pt x="297246" y="209872"/>
                  </a:lnTo>
                  <a:lnTo>
                    <a:pt x="337337" y="195534"/>
                  </a:lnTo>
                  <a:lnTo>
                    <a:pt x="381000" y="190500"/>
                  </a:lnTo>
                  <a:lnTo>
                    <a:pt x="424662" y="195534"/>
                  </a:lnTo>
                  <a:lnTo>
                    <a:pt x="464753" y="209872"/>
                  </a:lnTo>
                  <a:lnTo>
                    <a:pt x="500125" y="232367"/>
                  </a:lnTo>
                  <a:lnTo>
                    <a:pt x="529632" y="261874"/>
                  </a:lnTo>
                  <a:lnTo>
                    <a:pt x="552127" y="297246"/>
                  </a:lnTo>
                  <a:lnTo>
                    <a:pt x="566465" y="337337"/>
                  </a:lnTo>
                  <a:lnTo>
                    <a:pt x="571500" y="381000"/>
                  </a:lnTo>
                  <a:lnTo>
                    <a:pt x="566465" y="424662"/>
                  </a:lnTo>
                  <a:lnTo>
                    <a:pt x="552127" y="464753"/>
                  </a:lnTo>
                  <a:lnTo>
                    <a:pt x="529632" y="500125"/>
                  </a:lnTo>
                  <a:lnTo>
                    <a:pt x="500125" y="529632"/>
                  </a:lnTo>
                  <a:lnTo>
                    <a:pt x="464753" y="552127"/>
                  </a:lnTo>
                  <a:lnTo>
                    <a:pt x="424662" y="566465"/>
                  </a:lnTo>
                  <a:lnTo>
                    <a:pt x="381000" y="571500"/>
                  </a:lnTo>
                  <a:lnTo>
                    <a:pt x="337337" y="566465"/>
                  </a:lnTo>
                  <a:lnTo>
                    <a:pt x="297246" y="552127"/>
                  </a:lnTo>
                  <a:lnTo>
                    <a:pt x="261874" y="529632"/>
                  </a:lnTo>
                  <a:lnTo>
                    <a:pt x="232367" y="500125"/>
                  </a:lnTo>
                  <a:lnTo>
                    <a:pt x="209872" y="464753"/>
                  </a:lnTo>
                  <a:lnTo>
                    <a:pt x="195534" y="424662"/>
                  </a:lnTo>
                  <a:lnTo>
                    <a:pt x="190500" y="381000"/>
                  </a:lnTo>
                  <a:close/>
                </a:path>
                <a:path w="762000" h="762000">
                  <a:moveTo>
                    <a:pt x="228600" y="381000"/>
                  </a:moveTo>
                  <a:lnTo>
                    <a:pt x="236366" y="332817"/>
                  </a:lnTo>
                  <a:lnTo>
                    <a:pt x="257994" y="290980"/>
                  </a:lnTo>
                  <a:lnTo>
                    <a:pt x="290980" y="257994"/>
                  </a:lnTo>
                  <a:lnTo>
                    <a:pt x="332817" y="236366"/>
                  </a:lnTo>
                  <a:lnTo>
                    <a:pt x="381000" y="228600"/>
                  </a:lnTo>
                  <a:lnTo>
                    <a:pt x="429182" y="236366"/>
                  </a:lnTo>
                  <a:lnTo>
                    <a:pt x="471019" y="257994"/>
                  </a:lnTo>
                  <a:lnTo>
                    <a:pt x="504005" y="290980"/>
                  </a:lnTo>
                  <a:lnTo>
                    <a:pt x="525633" y="332817"/>
                  </a:lnTo>
                  <a:lnTo>
                    <a:pt x="533400" y="381000"/>
                  </a:lnTo>
                  <a:lnTo>
                    <a:pt x="525633" y="429182"/>
                  </a:lnTo>
                  <a:lnTo>
                    <a:pt x="504005" y="471019"/>
                  </a:lnTo>
                  <a:lnTo>
                    <a:pt x="471019" y="504005"/>
                  </a:lnTo>
                  <a:lnTo>
                    <a:pt x="429182" y="525633"/>
                  </a:lnTo>
                  <a:lnTo>
                    <a:pt x="381000" y="533400"/>
                  </a:lnTo>
                  <a:lnTo>
                    <a:pt x="332817" y="525633"/>
                  </a:lnTo>
                  <a:lnTo>
                    <a:pt x="290980" y="504005"/>
                  </a:lnTo>
                  <a:lnTo>
                    <a:pt x="257994" y="471019"/>
                  </a:lnTo>
                  <a:lnTo>
                    <a:pt x="236366" y="429182"/>
                  </a:lnTo>
                  <a:lnTo>
                    <a:pt x="22860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52154" y="1940813"/>
              <a:ext cx="228600" cy="228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852154" y="194081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300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600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30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80754" y="1620138"/>
              <a:ext cx="467995" cy="320675"/>
            </a:xfrm>
            <a:custGeom>
              <a:avLst/>
              <a:gdLst/>
              <a:ahLst/>
              <a:cxnLst/>
              <a:rect l="l" t="t" r="r" b="b"/>
              <a:pathLst>
                <a:path w="467995" h="320675">
                  <a:moveTo>
                    <a:pt x="63373" y="209676"/>
                  </a:moveTo>
                  <a:lnTo>
                    <a:pt x="0" y="320675"/>
                  </a:lnTo>
                  <a:lnTo>
                    <a:pt x="126746" y="304800"/>
                  </a:lnTo>
                  <a:lnTo>
                    <a:pt x="112700" y="283718"/>
                  </a:lnTo>
                  <a:lnTo>
                    <a:pt x="89789" y="283718"/>
                  </a:lnTo>
                  <a:lnTo>
                    <a:pt x="68706" y="251968"/>
                  </a:lnTo>
                  <a:lnTo>
                    <a:pt x="84523" y="241423"/>
                  </a:lnTo>
                  <a:lnTo>
                    <a:pt x="63373" y="209676"/>
                  </a:lnTo>
                  <a:close/>
                </a:path>
                <a:path w="467995" h="320675">
                  <a:moveTo>
                    <a:pt x="84523" y="241423"/>
                  </a:moveTo>
                  <a:lnTo>
                    <a:pt x="68706" y="251968"/>
                  </a:lnTo>
                  <a:lnTo>
                    <a:pt x="89789" y="283718"/>
                  </a:lnTo>
                  <a:lnTo>
                    <a:pt x="105654" y="273141"/>
                  </a:lnTo>
                  <a:lnTo>
                    <a:pt x="84523" y="241423"/>
                  </a:lnTo>
                  <a:close/>
                </a:path>
                <a:path w="467995" h="320675">
                  <a:moveTo>
                    <a:pt x="105654" y="273141"/>
                  </a:moveTo>
                  <a:lnTo>
                    <a:pt x="89789" y="283718"/>
                  </a:lnTo>
                  <a:lnTo>
                    <a:pt x="112700" y="283718"/>
                  </a:lnTo>
                  <a:lnTo>
                    <a:pt x="105654" y="273141"/>
                  </a:lnTo>
                  <a:close/>
                </a:path>
                <a:path w="467995" h="320675">
                  <a:moveTo>
                    <a:pt x="446659" y="0"/>
                  </a:moveTo>
                  <a:lnTo>
                    <a:pt x="84523" y="241423"/>
                  </a:lnTo>
                  <a:lnTo>
                    <a:pt x="105654" y="273141"/>
                  </a:lnTo>
                  <a:lnTo>
                    <a:pt x="467741" y="31750"/>
                  </a:lnTo>
                  <a:lnTo>
                    <a:pt x="446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1429" y="2849689"/>
            <a:ext cx="238125" cy="23812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525761" y="1312290"/>
            <a:ext cx="2087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 Linotype"/>
                <a:cs typeface="Palatino Linotype"/>
              </a:rPr>
              <a:t>Label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should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be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spc="-20" dirty="0">
                <a:latin typeface="Palatino Linotype"/>
                <a:cs typeface="Palatino Linotype"/>
              </a:rPr>
              <a:t>red.</a:t>
            </a:r>
            <a:endParaRPr sz="1800">
              <a:latin typeface="Palatino Linotype"/>
              <a:cs typeface="Palatino Linotype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869" y="4253293"/>
            <a:ext cx="238125" cy="23812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2869" y="5701093"/>
            <a:ext cx="238125" cy="23812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3469" y="3948493"/>
            <a:ext cx="238125" cy="23812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5669" y="5015293"/>
            <a:ext cx="238125" cy="238125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2003869" y="4634293"/>
            <a:ext cx="1228725" cy="1076325"/>
            <a:chOff x="2003869" y="4634293"/>
            <a:chExt cx="1228725" cy="107632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4469" y="4939093"/>
              <a:ext cx="238125" cy="2381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3869" y="4634293"/>
              <a:ext cx="238125" cy="2381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13469" y="5472493"/>
              <a:ext cx="238125" cy="2381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227787" y="2601976"/>
            <a:ext cx="5613400" cy="2014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Generalization:</a:t>
            </a:r>
            <a:endParaRPr sz="2400">
              <a:latin typeface="Calibri"/>
              <a:cs typeface="Calibri"/>
            </a:endParaRPr>
          </a:p>
          <a:p>
            <a:pPr marL="137160" marR="508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Segoe Print"/>
                <a:cs typeface="Segoe Print"/>
              </a:rPr>
              <a:t>Determine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label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k</a:t>
            </a:r>
            <a:r>
              <a:rPr sz="1800" b="1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nearest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neighbors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spc="-25" dirty="0">
                <a:latin typeface="Segoe Print"/>
                <a:cs typeface="Segoe Print"/>
              </a:rPr>
              <a:t>and </a:t>
            </a:r>
            <a:r>
              <a:rPr sz="1800" dirty="0">
                <a:latin typeface="Segoe Print"/>
                <a:cs typeface="Segoe Print"/>
              </a:rPr>
              <a:t>assign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most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frequent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label</a:t>
            </a:r>
            <a:endParaRPr sz="1800">
              <a:latin typeface="Segoe Print"/>
              <a:cs typeface="Segoe Print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1800">
              <a:latin typeface="Segoe Print"/>
              <a:cs typeface="Segoe Print"/>
            </a:endParaRPr>
          </a:p>
          <a:p>
            <a:pPr marL="2847340">
              <a:lnSpc>
                <a:spcPct val="100000"/>
              </a:lnSpc>
            </a:pPr>
            <a:r>
              <a:rPr sz="1800" dirty="0">
                <a:latin typeface="Palatino Linotype"/>
                <a:cs typeface="Palatino Linotype"/>
              </a:rPr>
              <a:t>Label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should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be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spc="-25" dirty="0">
                <a:latin typeface="Palatino Linotype"/>
                <a:cs typeface="Palatino Linotype"/>
              </a:rPr>
              <a:t>red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27669" y="4558093"/>
            <a:ext cx="1159510" cy="1076325"/>
            <a:chOff x="1927669" y="4558093"/>
            <a:chExt cx="1159510" cy="1076325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2294" y="4982718"/>
              <a:ext cx="228600" cy="228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352294" y="498271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299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599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29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18994" y="4623942"/>
              <a:ext cx="467995" cy="320675"/>
            </a:xfrm>
            <a:custGeom>
              <a:avLst/>
              <a:gdLst/>
              <a:ahLst/>
              <a:cxnLst/>
              <a:rect l="l" t="t" r="r" b="b"/>
              <a:pathLst>
                <a:path w="467994" h="320675">
                  <a:moveTo>
                    <a:pt x="63373" y="209676"/>
                  </a:moveTo>
                  <a:lnTo>
                    <a:pt x="0" y="320674"/>
                  </a:lnTo>
                  <a:lnTo>
                    <a:pt x="126745" y="304799"/>
                  </a:lnTo>
                  <a:lnTo>
                    <a:pt x="112700" y="283717"/>
                  </a:lnTo>
                  <a:lnTo>
                    <a:pt x="89788" y="283717"/>
                  </a:lnTo>
                  <a:lnTo>
                    <a:pt x="68706" y="251967"/>
                  </a:lnTo>
                  <a:lnTo>
                    <a:pt x="84523" y="241423"/>
                  </a:lnTo>
                  <a:lnTo>
                    <a:pt x="63373" y="209676"/>
                  </a:lnTo>
                  <a:close/>
                </a:path>
                <a:path w="467994" h="320675">
                  <a:moveTo>
                    <a:pt x="84523" y="241423"/>
                  </a:moveTo>
                  <a:lnTo>
                    <a:pt x="68706" y="251967"/>
                  </a:lnTo>
                  <a:lnTo>
                    <a:pt x="89788" y="283717"/>
                  </a:lnTo>
                  <a:lnTo>
                    <a:pt x="105654" y="273141"/>
                  </a:lnTo>
                  <a:lnTo>
                    <a:pt x="84523" y="241423"/>
                  </a:lnTo>
                  <a:close/>
                </a:path>
                <a:path w="467994" h="320675">
                  <a:moveTo>
                    <a:pt x="105654" y="273141"/>
                  </a:moveTo>
                  <a:lnTo>
                    <a:pt x="89788" y="283717"/>
                  </a:lnTo>
                  <a:lnTo>
                    <a:pt x="112700" y="283717"/>
                  </a:lnTo>
                  <a:lnTo>
                    <a:pt x="105654" y="273141"/>
                  </a:lnTo>
                  <a:close/>
                </a:path>
                <a:path w="467994" h="320675">
                  <a:moveTo>
                    <a:pt x="446658" y="0"/>
                  </a:moveTo>
                  <a:lnTo>
                    <a:pt x="84523" y="241423"/>
                  </a:lnTo>
                  <a:lnTo>
                    <a:pt x="105654" y="273141"/>
                  </a:lnTo>
                  <a:lnTo>
                    <a:pt x="467741" y="31749"/>
                  </a:lnTo>
                  <a:lnTo>
                    <a:pt x="446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32432" y="4562855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533400"/>
                  </a:moveTo>
                  <a:lnTo>
                    <a:pt x="2179" y="484842"/>
                  </a:lnTo>
                  <a:lnTo>
                    <a:pt x="8592" y="437507"/>
                  </a:lnTo>
                  <a:lnTo>
                    <a:pt x="19050" y="391583"/>
                  </a:lnTo>
                  <a:lnTo>
                    <a:pt x="33364" y="347258"/>
                  </a:lnTo>
                  <a:lnTo>
                    <a:pt x="51348" y="304721"/>
                  </a:lnTo>
                  <a:lnTo>
                    <a:pt x="72813" y="264160"/>
                  </a:lnTo>
                  <a:lnTo>
                    <a:pt x="97570" y="225762"/>
                  </a:lnTo>
                  <a:lnTo>
                    <a:pt x="125432" y="189716"/>
                  </a:lnTo>
                  <a:lnTo>
                    <a:pt x="156209" y="156210"/>
                  </a:lnTo>
                  <a:lnTo>
                    <a:pt x="189716" y="125432"/>
                  </a:lnTo>
                  <a:lnTo>
                    <a:pt x="225762" y="97570"/>
                  </a:lnTo>
                  <a:lnTo>
                    <a:pt x="264159" y="72813"/>
                  </a:lnTo>
                  <a:lnTo>
                    <a:pt x="304721" y="51348"/>
                  </a:lnTo>
                  <a:lnTo>
                    <a:pt x="347258" y="33364"/>
                  </a:lnTo>
                  <a:lnTo>
                    <a:pt x="391583" y="19050"/>
                  </a:lnTo>
                  <a:lnTo>
                    <a:pt x="437507" y="8592"/>
                  </a:lnTo>
                  <a:lnTo>
                    <a:pt x="484842" y="2179"/>
                  </a:lnTo>
                  <a:lnTo>
                    <a:pt x="533400" y="0"/>
                  </a:lnTo>
                  <a:lnTo>
                    <a:pt x="581957" y="2179"/>
                  </a:lnTo>
                  <a:lnTo>
                    <a:pt x="629292" y="8592"/>
                  </a:lnTo>
                  <a:lnTo>
                    <a:pt x="675216" y="19050"/>
                  </a:lnTo>
                  <a:lnTo>
                    <a:pt x="719541" y="33364"/>
                  </a:lnTo>
                  <a:lnTo>
                    <a:pt x="762078" y="51348"/>
                  </a:lnTo>
                  <a:lnTo>
                    <a:pt x="802640" y="72813"/>
                  </a:lnTo>
                  <a:lnTo>
                    <a:pt x="841037" y="97570"/>
                  </a:lnTo>
                  <a:lnTo>
                    <a:pt x="877083" y="125432"/>
                  </a:lnTo>
                  <a:lnTo>
                    <a:pt x="910590" y="156210"/>
                  </a:lnTo>
                  <a:lnTo>
                    <a:pt x="941367" y="189716"/>
                  </a:lnTo>
                  <a:lnTo>
                    <a:pt x="969229" y="225762"/>
                  </a:lnTo>
                  <a:lnTo>
                    <a:pt x="993986" y="264160"/>
                  </a:lnTo>
                  <a:lnTo>
                    <a:pt x="1015451" y="304721"/>
                  </a:lnTo>
                  <a:lnTo>
                    <a:pt x="1033435" y="347258"/>
                  </a:lnTo>
                  <a:lnTo>
                    <a:pt x="1047750" y="391583"/>
                  </a:lnTo>
                  <a:lnTo>
                    <a:pt x="1058207" y="437507"/>
                  </a:lnTo>
                  <a:lnTo>
                    <a:pt x="1064620" y="484842"/>
                  </a:lnTo>
                  <a:lnTo>
                    <a:pt x="1066800" y="533400"/>
                  </a:lnTo>
                  <a:lnTo>
                    <a:pt x="1064620" y="581957"/>
                  </a:lnTo>
                  <a:lnTo>
                    <a:pt x="1058207" y="629292"/>
                  </a:lnTo>
                  <a:lnTo>
                    <a:pt x="1047750" y="675216"/>
                  </a:lnTo>
                  <a:lnTo>
                    <a:pt x="1033435" y="719541"/>
                  </a:lnTo>
                  <a:lnTo>
                    <a:pt x="1015451" y="762078"/>
                  </a:lnTo>
                  <a:lnTo>
                    <a:pt x="993986" y="802640"/>
                  </a:lnTo>
                  <a:lnTo>
                    <a:pt x="969229" y="841037"/>
                  </a:lnTo>
                  <a:lnTo>
                    <a:pt x="941367" y="877083"/>
                  </a:lnTo>
                  <a:lnTo>
                    <a:pt x="910590" y="910590"/>
                  </a:lnTo>
                  <a:lnTo>
                    <a:pt x="877083" y="941367"/>
                  </a:lnTo>
                  <a:lnTo>
                    <a:pt x="841037" y="969229"/>
                  </a:lnTo>
                  <a:lnTo>
                    <a:pt x="802640" y="993986"/>
                  </a:lnTo>
                  <a:lnTo>
                    <a:pt x="762078" y="1015451"/>
                  </a:lnTo>
                  <a:lnTo>
                    <a:pt x="719541" y="1033435"/>
                  </a:lnTo>
                  <a:lnTo>
                    <a:pt x="675216" y="1047750"/>
                  </a:lnTo>
                  <a:lnTo>
                    <a:pt x="629292" y="1058207"/>
                  </a:lnTo>
                  <a:lnTo>
                    <a:pt x="581957" y="1064620"/>
                  </a:lnTo>
                  <a:lnTo>
                    <a:pt x="533400" y="1066800"/>
                  </a:lnTo>
                  <a:lnTo>
                    <a:pt x="484842" y="1064620"/>
                  </a:lnTo>
                  <a:lnTo>
                    <a:pt x="437507" y="1058207"/>
                  </a:lnTo>
                  <a:lnTo>
                    <a:pt x="391583" y="1047750"/>
                  </a:lnTo>
                  <a:lnTo>
                    <a:pt x="347258" y="1033435"/>
                  </a:lnTo>
                  <a:lnTo>
                    <a:pt x="304721" y="1015451"/>
                  </a:lnTo>
                  <a:lnTo>
                    <a:pt x="264159" y="993986"/>
                  </a:lnTo>
                  <a:lnTo>
                    <a:pt x="225762" y="969229"/>
                  </a:lnTo>
                  <a:lnTo>
                    <a:pt x="189716" y="941367"/>
                  </a:lnTo>
                  <a:lnTo>
                    <a:pt x="156209" y="910590"/>
                  </a:lnTo>
                  <a:lnTo>
                    <a:pt x="125432" y="877083"/>
                  </a:lnTo>
                  <a:lnTo>
                    <a:pt x="97570" y="841037"/>
                  </a:lnTo>
                  <a:lnTo>
                    <a:pt x="72813" y="802640"/>
                  </a:lnTo>
                  <a:lnTo>
                    <a:pt x="51348" y="762078"/>
                  </a:lnTo>
                  <a:lnTo>
                    <a:pt x="33364" y="719541"/>
                  </a:lnTo>
                  <a:lnTo>
                    <a:pt x="19050" y="675216"/>
                  </a:lnTo>
                  <a:lnTo>
                    <a:pt x="8592" y="629292"/>
                  </a:lnTo>
                  <a:lnTo>
                    <a:pt x="2179" y="581957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07995" y="6131458"/>
            <a:ext cx="478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k=3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354633" y="3683317"/>
            <a:ext cx="2066925" cy="1990725"/>
            <a:chOff x="7354633" y="3683317"/>
            <a:chExt cx="2066925" cy="199072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0833" y="3988117"/>
              <a:ext cx="238125" cy="2381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1833" y="5435917"/>
              <a:ext cx="238125" cy="2381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433" y="3683317"/>
              <a:ext cx="238125" cy="2381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4633" y="4750117"/>
              <a:ext cx="238125" cy="2381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3433" y="4673917"/>
              <a:ext cx="238125" cy="2381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2833" y="4369117"/>
              <a:ext cx="238125" cy="23812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433" y="5207317"/>
              <a:ext cx="238125" cy="23812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9732009" y="5641035"/>
            <a:ext cx="2131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 Linotype"/>
                <a:cs typeface="Palatino Linotype"/>
              </a:rPr>
              <a:t>Label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should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be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spc="-20" dirty="0">
                <a:latin typeface="Palatino Linotype"/>
                <a:cs typeface="Palatino Linotype"/>
              </a:rPr>
              <a:t>blue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269289" y="3483673"/>
            <a:ext cx="2708910" cy="2710180"/>
            <a:chOff x="7269289" y="3483673"/>
            <a:chExt cx="2708910" cy="2710180"/>
          </a:xfrm>
        </p:grpSpPr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1258" y="4717541"/>
              <a:ext cx="2286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541258" y="471754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299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599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299"/>
                  </a:lnTo>
                  <a:close/>
                </a:path>
              </a:pathLst>
            </a:custGeom>
            <a:ln w="381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807958" y="4908041"/>
              <a:ext cx="953769" cy="595630"/>
            </a:xfrm>
            <a:custGeom>
              <a:avLst/>
              <a:gdLst/>
              <a:ahLst/>
              <a:cxnLst/>
              <a:rect l="l" t="t" r="r" b="b"/>
              <a:pathLst>
                <a:path w="953770" h="595629">
                  <a:moveTo>
                    <a:pt x="107329" y="43564"/>
                  </a:moveTo>
                  <a:lnTo>
                    <a:pt x="87457" y="75993"/>
                  </a:lnTo>
                  <a:lnTo>
                    <a:pt x="933323" y="595375"/>
                  </a:lnTo>
                  <a:lnTo>
                    <a:pt x="953262" y="562863"/>
                  </a:lnTo>
                  <a:lnTo>
                    <a:pt x="107329" y="43564"/>
                  </a:lnTo>
                  <a:close/>
                </a:path>
                <a:path w="953770" h="595629">
                  <a:moveTo>
                    <a:pt x="0" y="0"/>
                  </a:moveTo>
                  <a:lnTo>
                    <a:pt x="67564" y="108457"/>
                  </a:lnTo>
                  <a:lnTo>
                    <a:pt x="87457" y="75993"/>
                  </a:lnTo>
                  <a:lnTo>
                    <a:pt x="71247" y="66039"/>
                  </a:lnTo>
                  <a:lnTo>
                    <a:pt x="91186" y="33654"/>
                  </a:lnTo>
                  <a:lnTo>
                    <a:pt x="113401" y="33654"/>
                  </a:lnTo>
                  <a:lnTo>
                    <a:pt x="127253" y="11048"/>
                  </a:lnTo>
                  <a:lnTo>
                    <a:pt x="0" y="0"/>
                  </a:lnTo>
                  <a:close/>
                </a:path>
                <a:path w="953770" h="595629">
                  <a:moveTo>
                    <a:pt x="91186" y="33654"/>
                  </a:moveTo>
                  <a:lnTo>
                    <a:pt x="71247" y="66039"/>
                  </a:lnTo>
                  <a:lnTo>
                    <a:pt x="87457" y="75993"/>
                  </a:lnTo>
                  <a:lnTo>
                    <a:pt x="107329" y="43564"/>
                  </a:lnTo>
                  <a:lnTo>
                    <a:pt x="91186" y="33654"/>
                  </a:lnTo>
                  <a:close/>
                </a:path>
                <a:path w="953770" h="595629">
                  <a:moveTo>
                    <a:pt x="113401" y="33654"/>
                  </a:moveTo>
                  <a:lnTo>
                    <a:pt x="91186" y="33654"/>
                  </a:lnTo>
                  <a:lnTo>
                    <a:pt x="107329" y="43564"/>
                  </a:lnTo>
                  <a:lnTo>
                    <a:pt x="113401" y="33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274052" y="3488435"/>
              <a:ext cx="2699385" cy="2700655"/>
            </a:xfrm>
            <a:custGeom>
              <a:avLst/>
              <a:gdLst/>
              <a:ahLst/>
              <a:cxnLst/>
              <a:rect l="l" t="t" r="r" b="b"/>
              <a:pathLst>
                <a:path w="2699384" h="2700654">
                  <a:moveTo>
                    <a:pt x="0" y="1350264"/>
                  </a:moveTo>
                  <a:lnTo>
                    <a:pt x="851" y="1301833"/>
                  </a:lnTo>
                  <a:lnTo>
                    <a:pt x="3388" y="1253832"/>
                  </a:lnTo>
                  <a:lnTo>
                    <a:pt x="7580" y="1206288"/>
                  </a:lnTo>
                  <a:lnTo>
                    <a:pt x="13400" y="1159230"/>
                  </a:lnTo>
                  <a:lnTo>
                    <a:pt x="20818" y="1112687"/>
                  </a:lnTo>
                  <a:lnTo>
                    <a:pt x="29807" y="1066687"/>
                  </a:lnTo>
                  <a:lnTo>
                    <a:pt x="40338" y="1021259"/>
                  </a:lnTo>
                  <a:lnTo>
                    <a:pt x="52382" y="976431"/>
                  </a:lnTo>
                  <a:lnTo>
                    <a:pt x="65911" y="932232"/>
                  </a:lnTo>
                  <a:lnTo>
                    <a:pt x="80897" y="888691"/>
                  </a:lnTo>
                  <a:lnTo>
                    <a:pt x="97310" y="845835"/>
                  </a:lnTo>
                  <a:lnTo>
                    <a:pt x="115122" y="803695"/>
                  </a:lnTo>
                  <a:lnTo>
                    <a:pt x="134304" y="762297"/>
                  </a:lnTo>
                  <a:lnTo>
                    <a:pt x="154829" y="721671"/>
                  </a:lnTo>
                  <a:lnTo>
                    <a:pt x="176668" y="681846"/>
                  </a:lnTo>
                  <a:lnTo>
                    <a:pt x="199791" y="642849"/>
                  </a:lnTo>
                  <a:lnTo>
                    <a:pt x="224171" y="604710"/>
                  </a:lnTo>
                  <a:lnTo>
                    <a:pt x="249779" y="567456"/>
                  </a:lnTo>
                  <a:lnTo>
                    <a:pt x="276586" y="531117"/>
                  </a:lnTo>
                  <a:lnTo>
                    <a:pt x="304565" y="495721"/>
                  </a:lnTo>
                  <a:lnTo>
                    <a:pt x="333685" y="461297"/>
                  </a:lnTo>
                  <a:lnTo>
                    <a:pt x="363920" y="427873"/>
                  </a:lnTo>
                  <a:lnTo>
                    <a:pt x="395239" y="395477"/>
                  </a:lnTo>
                  <a:lnTo>
                    <a:pt x="427616" y="364139"/>
                  </a:lnTo>
                  <a:lnTo>
                    <a:pt x="461021" y="333887"/>
                  </a:lnTo>
                  <a:lnTo>
                    <a:pt x="495425" y="304749"/>
                  </a:lnTo>
                  <a:lnTo>
                    <a:pt x="530800" y="276755"/>
                  </a:lnTo>
                  <a:lnTo>
                    <a:pt x="567119" y="249931"/>
                  </a:lnTo>
                  <a:lnTo>
                    <a:pt x="604351" y="224308"/>
                  </a:lnTo>
                  <a:lnTo>
                    <a:pt x="642468" y="199913"/>
                  </a:lnTo>
                  <a:lnTo>
                    <a:pt x="681443" y="176776"/>
                  </a:lnTo>
                  <a:lnTo>
                    <a:pt x="721246" y="154924"/>
                  </a:lnTo>
                  <a:lnTo>
                    <a:pt x="761850" y="134387"/>
                  </a:lnTo>
                  <a:lnTo>
                    <a:pt x="803224" y="115193"/>
                  </a:lnTo>
                  <a:lnTo>
                    <a:pt x="845342" y="97370"/>
                  </a:lnTo>
                  <a:lnTo>
                    <a:pt x="888173" y="80947"/>
                  </a:lnTo>
                  <a:lnTo>
                    <a:pt x="931691" y="65952"/>
                  </a:lnTo>
                  <a:lnTo>
                    <a:pt x="975866" y="52415"/>
                  </a:lnTo>
                  <a:lnTo>
                    <a:pt x="1020669" y="40363"/>
                  </a:lnTo>
                  <a:lnTo>
                    <a:pt x="1066073" y="29826"/>
                  </a:lnTo>
                  <a:lnTo>
                    <a:pt x="1112048" y="20831"/>
                  </a:lnTo>
                  <a:lnTo>
                    <a:pt x="1158567" y="13408"/>
                  </a:lnTo>
                  <a:lnTo>
                    <a:pt x="1205600" y="7585"/>
                  </a:lnTo>
                  <a:lnTo>
                    <a:pt x="1253119" y="3390"/>
                  </a:lnTo>
                  <a:lnTo>
                    <a:pt x="1301096" y="852"/>
                  </a:lnTo>
                  <a:lnTo>
                    <a:pt x="1349502" y="0"/>
                  </a:lnTo>
                  <a:lnTo>
                    <a:pt x="1397907" y="852"/>
                  </a:lnTo>
                  <a:lnTo>
                    <a:pt x="1445884" y="3390"/>
                  </a:lnTo>
                  <a:lnTo>
                    <a:pt x="1493403" y="7585"/>
                  </a:lnTo>
                  <a:lnTo>
                    <a:pt x="1540436" y="13408"/>
                  </a:lnTo>
                  <a:lnTo>
                    <a:pt x="1586955" y="20831"/>
                  </a:lnTo>
                  <a:lnTo>
                    <a:pt x="1632930" y="29826"/>
                  </a:lnTo>
                  <a:lnTo>
                    <a:pt x="1678334" y="40363"/>
                  </a:lnTo>
                  <a:lnTo>
                    <a:pt x="1723137" y="52415"/>
                  </a:lnTo>
                  <a:lnTo>
                    <a:pt x="1767312" y="65952"/>
                  </a:lnTo>
                  <a:lnTo>
                    <a:pt x="1810830" y="80947"/>
                  </a:lnTo>
                  <a:lnTo>
                    <a:pt x="1853661" y="97370"/>
                  </a:lnTo>
                  <a:lnTo>
                    <a:pt x="1895779" y="115193"/>
                  </a:lnTo>
                  <a:lnTo>
                    <a:pt x="1937153" y="134387"/>
                  </a:lnTo>
                  <a:lnTo>
                    <a:pt x="1977757" y="154924"/>
                  </a:lnTo>
                  <a:lnTo>
                    <a:pt x="2017560" y="176776"/>
                  </a:lnTo>
                  <a:lnTo>
                    <a:pt x="2056535" y="199913"/>
                  </a:lnTo>
                  <a:lnTo>
                    <a:pt x="2094652" y="224308"/>
                  </a:lnTo>
                  <a:lnTo>
                    <a:pt x="2131884" y="249931"/>
                  </a:lnTo>
                  <a:lnTo>
                    <a:pt x="2168203" y="276755"/>
                  </a:lnTo>
                  <a:lnTo>
                    <a:pt x="2203578" y="304749"/>
                  </a:lnTo>
                  <a:lnTo>
                    <a:pt x="2237982" y="333887"/>
                  </a:lnTo>
                  <a:lnTo>
                    <a:pt x="2271387" y="364139"/>
                  </a:lnTo>
                  <a:lnTo>
                    <a:pt x="2303764" y="395477"/>
                  </a:lnTo>
                  <a:lnTo>
                    <a:pt x="2335083" y="427873"/>
                  </a:lnTo>
                  <a:lnTo>
                    <a:pt x="2365318" y="461297"/>
                  </a:lnTo>
                  <a:lnTo>
                    <a:pt x="2394438" y="495721"/>
                  </a:lnTo>
                  <a:lnTo>
                    <a:pt x="2422417" y="531117"/>
                  </a:lnTo>
                  <a:lnTo>
                    <a:pt x="2449224" y="567456"/>
                  </a:lnTo>
                  <a:lnTo>
                    <a:pt x="2474832" y="604710"/>
                  </a:lnTo>
                  <a:lnTo>
                    <a:pt x="2499212" y="642849"/>
                  </a:lnTo>
                  <a:lnTo>
                    <a:pt x="2522335" y="681846"/>
                  </a:lnTo>
                  <a:lnTo>
                    <a:pt x="2544174" y="721671"/>
                  </a:lnTo>
                  <a:lnTo>
                    <a:pt x="2564699" y="762297"/>
                  </a:lnTo>
                  <a:lnTo>
                    <a:pt x="2583881" y="803695"/>
                  </a:lnTo>
                  <a:lnTo>
                    <a:pt x="2601693" y="845835"/>
                  </a:lnTo>
                  <a:lnTo>
                    <a:pt x="2618106" y="888691"/>
                  </a:lnTo>
                  <a:lnTo>
                    <a:pt x="2633092" y="932232"/>
                  </a:lnTo>
                  <a:lnTo>
                    <a:pt x="2646621" y="976431"/>
                  </a:lnTo>
                  <a:lnTo>
                    <a:pt x="2658665" y="1021259"/>
                  </a:lnTo>
                  <a:lnTo>
                    <a:pt x="2669196" y="1066687"/>
                  </a:lnTo>
                  <a:lnTo>
                    <a:pt x="2678185" y="1112687"/>
                  </a:lnTo>
                  <a:lnTo>
                    <a:pt x="2685603" y="1159230"/>
                  </a:lnTo>
                  <a:lnTo>
                    <a:pt x="2691423" y="1206288"/>
                  </a:lnTo>
                  <a:lnTo>
                    <a:pt x="2695615" y="1253832"/>
                  </a:lnTo>
                  <a:lnTo>
                    <a:pt x="2698152" y="1301833"/>
                  </a:lnTo>
                  <a:lnTo>
                    <a:pt x="2699004" y="1350264"/>
                  </a:lnTo>
                  <a:lnTo>
                    <a:pt x="2698152" y="1398694"/>
                  </a:lnTo>
                  <a:lnTo>
                    <a:pt x="2695615" y="1446695"/>
                  </a:lnTo>
                  <a:lnTo>
                    <a:pt x="2691423" y="1494239"/>
                  </a:lnTo>
                  <a:lnTo>
                    <a:pt x="2685603" y="1541297"/>
                  </a:lnTo>
                  <a:lnTo>
                    <a:pt x="2678185" y="1587840"/>
                  </a:lnTo>
                  <a:lnTo>
                    <a:pt x="2669196" y="1633840"/>
                  </a:lnTo>
                  <a:lnTo>
                    <a:pt x="2658665" y="1679268"/>
                  </a:lnTo>
                  <a:lnTo>
                    <a:pt x="2646621" y="1724096"/>
                  </a:lnTo>
                  <a:lnTo>
                    <a:pt x="2633092" y="1768295"/>
                  </a:lnTo>
                  <a:lnTo>
                    <a:pt x="2618106" y="1811836"/>
                  </a:lnTo>
                  <a:lnTo>
                    <a:pt x="2601693" y="1854692"/>
                  </a:lnTo>
                  <a:lnTo>
                    <a:pt x="2583881" y="1896832"/>
                  </a:lnTo>
                  <a:lnTo>
                    <a:pt x="2564699" y="1938230"/>
                  </a:lnTo>
                  <a:lnTo>
                    <a:pt x="2544174" y="1978856"/>
                  </a:lnTo>
                  <a:lnTo>
                    <a:pt x="2522335" y="2018681"/>
                  </a:lnTo>
                  <a:lnTo>
                    <a:pt x="2499212" y="2057678"/>
                  </a:lnTo>
                  <a:lnTo>
                    <a:pt x="2474832" y="2095817"/>
                  </a:lnTo>
                  <a:lnTo>
                    <a:pt x="2449224" y="2133071"/>
                  </a:lnTo>
                  <a:lnTo>
                    <a:pt x="2422417" y="2169410"/>
                  </a:lnTo>
                  <a:lnTo>
                    <a:pt x="2394438" y="2204806"/>
                  </a:lnTo>
                  <a:lnTo>
                    <a:pt x="2365318" y="2239230"/>
                  </a:lnTo>
                  <a:lnTo>
                    <a:pt x="2335083" y="2272654"/>
                  </a:lnTo>
                  <a:lnTo>
                    <a:pt x="2303764" y="2305050"/>
                  </a:lnTo>
                  <a:lnTo>
                    <a:pt x="2271387" y="2336388"/>
                  </a:lnTo>
                  <a:lnTo>
                    <a:pt x="2237982" y="2366640"/>
                  </a:lnTo>
                  <a:lnTo>
                    <a:pt x="2203578" y="2395778"/>
                  </a:lnTo>
                  <a:lnTo>
                    <a:pt x="2168203" y="2423772"/>
                  </a:lnTo>
                  <a:lnTo>
                    <a:pt x="2131884" y="2450596"/>
                  </a:lnTo>
                  <a:lnTo>
                    <a:pt x="2094652" y="2476219"/>
                  </a:lnTo>
                  <a:lnTo>
                    <a:pt x="2056535" y="2500614"/>
                  </a:lnTo>
                  <a:lnTo>
                    <a:pt x="2017560" y="2523751"/>
                  </a:lnTo>
                  <a:lnTo>
                    <a:pt x="1977757" y="2545603"/>
                  </a:lnTo>
                  <a:lnTo>
                    <a:pt x="1937153" y="2566140"/>
                  </a:lnTo>
                  <a:lnTo>
                    <a:pt x="1895779" y="2585334"/>
                  </a:lnTo>
                  <a:lnTo>
                    <a:pt x="1853661" y="2603157"/>
                  </a:lnTo>
                  <a:lnTo>
                    <a:pt x="1810830" y="2619580"/>
                  </a:lnTo>
                  <a:lnTo>
                    <a:pt x="1767312" y="2634575"/>
                  </a:lnTo>
                  <a:lnTo>
                    <a:pt x="1723137" y="2648112"/>
                  </a:lnTo>
                  <a:lnTo>
                    <a:pt x="1678334" y="2660164"/>
                  </a:lnTo>
                  <a:lnTo>
                    <a:pt x="1632930" y="2670701"/>
                  </a:lnTo>
                  <a:lnTo>
                    <a:pt x="1586955" y="2679696"/>
                  </a:lnTo>
                  <a:lnTo>
                    <a:pt x="1540436" y="2687119"/>
                  </a:lnTo>
                  <a:lnTo>
                    <a:pt x="1493403" y="2692942"/>
                  </a:lnTo>
                  <a:lnTo>
                    <a:pt x="1445884" y="2697137"/>
                  </a:lnTo>
                  <a:lnTo>
                    <a:pt x="1397907" y="2699675"/>
                  </a:lnTo>
                  <a:lnTo>
                    <a:pt x="1349502" y="2700528"/>
                  </a:lnTo>
                  <a:lnTo>
                    <a:pt x="1301096" y="2699675"/>
                  </a:lnTo>
                  <a:lnTo>
                    <a:pt x="1253119" y="2697137"/>
                  </a:lnTo>
                  <a:lnTo>
                    <a:pt x="1205600" y="2692942"/>
                  </a:lnTo>
                  <a:lnTo>
                    <a:pt x="1158567" y="2687119"/>
                  </a:lnTo>
                  <a:lnTo>
                    <a:pt x="1112048" y="2679696"/>
                  </a:lnTo>
                  <a:lnTo>
                    <a:pt x="1066073" y="2670701"/>
                  </a:lnTo>
                  <a:lnTo>
                    <a:pt x="1020669" y="2660164"/>
                  </a:lnTo>
                  <a:lnTo>
                    <a:pt x="975866" y="2648112"/>
                  </a:lnTo>
                  <a:lnTo>
                    <a:pt x="931691" y="2634575"/>
                  </a:lnTo>
                  <a:lnTo>
                    <a:pt x="888173" y="2619580"/>
                  </a:lnTo>
                  <a:lnTo>
                    <a:pt x="845342" y="2603157"/>
                  </a:lnTo>
                  <a:lnTo>
                    <a:pt x="803224" y="2585334"/>
                  </a:lnTo>
                  <a:lnTo>
                    <a:pt x="761850" y="2566140"/>
                  </a:lnTo>
                  <a:lnTo>
                    <a:pt x="721246" y="2545603"/>
                  </a:lnTo>
                  <a:lnTo>
                    <a:pt x="681443" y="2523751"/>
                  </a:lnTo>
                  <a:lnTo>
                    <a:pt x="642468" y="2500614"/>
                  </a:lnTo>
                  <a:lnTo>
                    <a:pt x="604351" y="2476219"/>
                  </a:lnTo>
                  <a:lnTo>
                    <a:pt x="567119" y="2450596"/>
                  </a:lnTo>
                  <a:lnTo>
                    <a:pt x="530800" y="2423772"/>
                  </a:lnTo>
                  <a:lnTo>
                    <a:pt x="495425" y="2395778"/>
                  </a:lnTo>
                  <a:lnTo>
                    <a:pt x="461021" y="2366640"/>
                  </a:lnTo>
                  <a:lnTo>
                    <a:pt x="427616" y="2336388"/>
                  </a:lnTo>
                  <a:lnTo>
                    <a:pt x="395239" y="2305050"/>
                  </a:lnTo>
                  <a:lnTo>
                    <a:pt x="363920" y="2272654"/>
                  </a:lnTo>
                  <a:lnTo>
                    <a:pt x="333685" y="2239230"/>
                  </a:lnTo>
                  <a:lnTo>
                    <a:pt x="304565" y="2204806"/>
                  </a:lnTo>
                  <a:lnTo>
                    <a:pt x="276586" y="2169410"/>
                  </a:lnTo>
                  <a:lnTo>
                    <a:pt x="249779" y="2133071"/>
                  </a:lnTo>
                  <a:lnTo>
                    <a:pt x="224171" y="2095817"/>
                  </a:lnTo>
                  <a:lnTo>
                    <a:pt x="199791" y="2057678"/>
                  </a:lnTo>
                  <a:lnTo>
                    <a:pt x="176668" y="2018681"/>
                  </a:lnTo>
                  <a:lnTo>
                    <a:pt x="154829" y="1978856"/>
                  </a:lnTo>
                  <a:lnTo>
                    <a:pt x="134304" y="1938230"/>
                  </a:lnTo>
                  <a:lnTo>
                    <a:pt x="115122" y="1896832"/>
                  </a:lnTo>
                  <a:lnTo>
                    <a:pt x="97310" y="1854692"/>
                  </a:lnTo>
                  <a:lnTo>
                    <a:pt x="80897" y="1811836"/>
                  </a:lnTo>
                  <a:lnTo>
                    <a:pt x="65911" y="1768295"/>
                  </a:lnTo>
                  <a:lnTo>
                    <a:pt x="52382" y="1724096"/>
                  </a:lnTo>
                  <a:lnTo>
                    <a:pt x="40338" y="1679268"/>
                  </a:lnTo>
                  <a:lnTo>
                    <a:pt x="29807" y="1633840"/>
                  </a:lnTo>
                  <a:lnTo>
                    <a:pt x="20818" y="1587840"/>
                  </a:lnTo>
                  <a:lnTo>
                    <a:pt x="13400" y="1541297"/>
                  </a:lnTo>
                  <a:lnTo>
                    <a:pt x="7580" y="1494239"/>
                  </a:lnTo>
                  <a:lnTo>
                    <a:pt x="3388" y="1446695"/>
                  </a:lnTo>
                  <a:lnTo>
                    <a:pt x="851" y="1398694"/>
                  </a:lnTo>
                  <a:lnTo>
                    <a:pt x="0" y="135026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549385" y="6129934"/>
            <a:ext cx="478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k=7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787" y="578865"/>
            <a:ext cx="659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Idea: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836" y="1211580"/>
            <a:ext cx="4934675" cy="4658092"/>
            <a:chOff x="973836" y="1211580"/>
            <a:chExt cx="4934675" cy="4658092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3836" y="1264171"/>
              <a:ext cx="4934675" cy="46055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43584" y="1211580"/>
              <a:ext cx="4604385" cy="4434840"/>
            </a:xfrm>
            <a:custGeom>
              <a:avLst/>
              <a:gdLst/>
              <a:ahLst/>
              <a:cxnLst/>
              <a:rect l="l" t="t" r="r" b="b"/>
              <a:pathLst>
                <a:path w="4604385" h="4434840">
                  <a:moveTo>
                    <a:pt x="0" y="4434840"/>
                  </a:moveTo>
                  <a:lnTo>
                    <a:pt x="4604004" y="4434840"/>
                  </a:lnTo>
                  <a:lnTo>
                    <a:pt x="4604004" y="0"/>
                  </a:lnTo>
                  <a:lnTo>
                    <a:pt x="0" y="0"/>
                  </a:lnTo>
                  <a:lnTo>
                    <a:pt x="0" y="443484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045" y="4431601"/>
              <a:ext cx="238125" cy="2381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1145" y="2631757"/>
              <a:ext cx="238125" cy="2381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5269" y="4320349"/>
              <a:ext cx="238125" cy="2381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5517" y="3840289"/>
              <a:ext cx="238125" cy="2381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1497" y="2599753"/>
              <a:ext cx="238125" cy="2381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5761" y="2371153"/>
              <a:ext cx="238125" cy="2381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5517" y="4448365"/>
              <a:ext cx="238125" cy="2381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5445" y="2310193"/>
              <a:ext cx="238125" cy="238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5738" y="2750819"/>
              <a:ext cx="347662" cy="5273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2665" y="1788985"/>
              <a:ext cx="238125" cy="2381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6845" y="1825561"/>
              <a:ext cx="238125" cy="2381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342132" y="2805683"/>
            <a:ext cx="317500" cy="243840"/>
          </a:xfrm>
          <a:prstGeom prst="rect">
            <a:avLst/>
          </a:prstGeom>
          <a:solidFill>
            <a:srgbClr val="5B9BD4"/>
          </a:solidFill>
          <a:ln w="12700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045">
              <a:lnSpc>
                <a:spcPts val="192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26729" y="2054161"/>
            <a:ext cx="1315720" cy="2565400"/>
            <a:chOff x="2026729" y="2054161"/>
            <a:chExt cx="1315720" cy="256540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4197" y="4381309"/>
              <a:ext cx="238125" cy="2381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3845" y="3904297"/>
              <a:ext cx="238125" cy="2381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4033" y="3526345"/>
              <a:ext cx="238125" cy="2381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6729" y="3159061"/>
              <a:ext cx="238125" cy="2381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2445" y="2054161"/>
              <a:ext cx="238125" cy="2381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914768" y="1243329"/>
            <a:ext cx="4257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Two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classes,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two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features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14768" y="2157348"/>
            <a:ext cx="44602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want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assign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label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to </a:t>
            </a:r>
            <a:r>
              <a:rPr sz="2400" dirty="0">
                <a:latin typeface="Segoe Print"/>
                <a:cs typeface="Segoe Print"/>
              </a:rPr>
              <a:t>unknown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point?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14768" y="3986606"/>
            <a:ext cx="34251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Label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should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be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Segoe Print"/>
                <a:cs typeface="Segoe Print"/>
              </a:rPr>
              <a:t>red</a:t>
            </a:r>
            <a:r>
              <a:rPr sz="2400" spc="-20" dirty="0">
                <a:latin typeface="Segoe Print"/>
                <a:cs typeface="Segoe Print"/>
              </a:rPr>
              <a:t>.</a:t>
            </a:r>
            <a:endParaRPr sz="2400">
              <a:latin typeface="Segoe Print"/>
              <a:cs typeface="Segoe Prin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578865"/>
            <a:ext cx="11346815" cy="575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Idea:</a:t>
            </a:r>
            <a:endParaRPr sz="2400" dirty="0">
              <a:latin typeface="Calibri"/>
              <a:cs typeface="Calibri"/>
            </a:endParaRPr>
          </a:p>
          <a:p>
            <a:pPr marL="504190" indent="-342900">
              <a:lnSpc>
                <a:spcPct val="100000"/>
              </a:lnSpc>
              <a:spcBef>
                <a:spcPts val="2175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have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labels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features.</a:t>
            </a:r>
            <a:endParaRPr sz="2400" dirty="0">
              <a:latin typeface="Segoe Print"/>
              <a:cs typeface="Segoe Print"/>
            </a:endParaRPr>
          </a:p>
          <a:p>
            <a:pPr marL="50419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classify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new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test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using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points.</a:t>
            </a:r>
            <a:endParaRPr sz="2400" dirty="0">
              <a:latin typeface="Segoe Print"/>
              <a:cs typeface="Segoe Print"/>
            </a:endParaRPr>
          </a:p>
          <a:p>
            <a:pPr marL="161290">
              <a:lnSpc>
                <a:spcPct val="100000"/>
              </a:lnSpc>
              <a:spcBef>
                <a:spcPts val="114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Algorithm</a:t>
            </a:r>
            <a:r>
              <a:rPr sz="2400" b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overview:</a:t>
            </a:r>
            <a:endParaRPr sz="2400" dirty="0">
              <a:latin typeface="Calibri"/>
              <a:cs typeface="Calibri"/>
            </a:endParaRPr>
          </a:p>
          <a:p>
            <a:pPr marL="504190" indent="-342900">
              <a:lnSpc>
                <a:spcPct val="100000"/>
              </a:lnSpc>
              <a:spcBef>
                <a:spcPts val="625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Given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some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new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test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x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which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need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predict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class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y.</a:t>
            </a:r>
            <a:endParaRPr sz="2400" dirty="0">
              <a:latin typeface="Segoe Print"/>
              <a:cs typeface="Segoe Print"/>
            </a:endParaRPr>
          </a:p>
          <a:p>
            <a:pPr marL="50419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Find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most</a:t>
            </a:r>
            <a:r>
              <a:rPr sz="2400" b="1" spc="-3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similar</a:t>
            </a:r>
            <a:r>
              <a:rPr sz="2400" b="1" spc="-40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data-</a:t>
            </a:r>
            <a:r>
              <a:rPr sz="2400" dirty="0">
                <a:latin typeface="Segoe Print"/>
                <a:cs typeface="Segoe Print"/>
              </a:rPr>
              <a:t>points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data.</a:t>
            </a:r>
            <a:endParaRPr sz="2400" dirty="0">
              <a:latin typeface="Segoe Print"/>
              <a:cs typeface="Segoe Print"/>
            </a:endParaRPr>
          </a:p>
          <a:p>
            <a:pPr marL="50419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Classify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x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“like”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these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most</a:t>
            </a:r>
            <a:r>
              <a:rPr sz="2400" b="1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points.</a:t>
            </a:r>
            <a:endParaRPr sz="2400" dirty="0">
              <a:latin typeface="Segoe Print"/>
              <a:cs typeface="Segoe Print"/>
            </a:endParaRPr>
          </a:p>
          <a:p>
            <a:pPr marL="161290">
              <a:lnSpc>
                <a:spcPct val="100000"/>
              </a:lnSpc>
              <a:spcBef>
                <a:spcPts val="1300"/>
              </a:spcBef>
            </a:pPr>
            <a:r>
              <a:rPr sz="2400" b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Questions: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How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determine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similarity?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How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many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points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consider?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How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resolve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inconsistencies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among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points?</a:t>
            </a:r>
            <a:endParaRPr sz="24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319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Formal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Definition: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1248155"/>
            <a:ext cx="8238744" cy="954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831" y="2644139"/>
            <a:ext cx="5734812" cy="3063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831" y="3913632"/>
            <a:ext cx="9991344" cy="1508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831" y="3279647"/>
            <a:ext cx="9221724" cy="3200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68523" y="5896355"/>
            <a:ext cx="6385560" cy="6400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73455" y="5468518"/>
            <a:ext cx="1892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Interpretation: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319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Formal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Definition: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647" y="1496567"/>
            <a:ext cx="9983724" cy="1505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478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Decision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Boundary: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1386839"/>
            <a:ext cx="10456164" cy="6400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831" y="2281427"/>
            <a:ext cx="8671560" cy="9723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77583" y="3605784"/>
            <a:ext cx="5608319" cy="28285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759" y="4108703"/>
            <a:ext cx="5945124" cy="6324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5759" y="5154167"/>
            <a:ext cx="5343144" cy="6400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8118475" cy="439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Characteristics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kNN: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5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No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assumptions</a:t>
            </a:r>
            <a:r>
              <a:rPr sz="2400" spc="-8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about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distribution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data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spc="-10" dirty="0">
                <a:latin typeface="Segoe Print"/>
                <a:cs typeface="Segoe Print"/>
              </a:rPr>
              <a:t>Non-</a:t>
            </a:r>
            <a:r>
              <a:rPr sz="2400" dirty="0">
                <a:latin typeface="Segoe Print"/>
                <a:cs typeface="Segoe Print"/>
              </a:rPr>
              <a:t>parametric</a:t>
            </a:r>
            <a:r>
              <a:rPr sz="2400" spc="-12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algorithm</a:t>
            </a:r>
            <a:endParaRPr sz="2400" dirty="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No </a:t>
            </a:r>
            <a:r>
              <a:rPr sz="2400" spc="-10" dirty="0">
                <a:latin typeface="Segoe Print"/>
                <a:cs typeface="Segoe Print"/>
              </a:rPr>
              <a:t>parameters</a:t>
            </a:r>
            <a:endParaRPr sz="2400" dirty="0">
              <a:latin typeface="Segoe Print"/>
              <a:cs typeface="Segoe Print"/>
            </a:endParaRPr>
          </a:p>
          <a:p>
            <a:pPr lvl="1">
              <a:lnSpc>
                <a:spcPct val="100000"/>
              </a:lnSpc>
              <a:spcBef>
                <a:spcPts val="1525"/>
              </a:spcBef>
              <a:buFont typeface="Segoe Print"/>
              <a:buChar char="-"/>
            </a:pP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buChar char="-"/>
              <a:tabLst>
                <a:tab pos="355600" algn="l"/>
              </a:tabLst>
            </a:pPr>
            <a:r>
              <a:rPr sz="2400" spc="-10" dirty="0">
                <a:latin typeface="Segoe Print"/>
                <a:cs typeface="Segoe Print"/>
              </a:rPr>
              <a:t>Hyper-Parameters</a:t>
            </a:r>
            <a:endParaRPr sz="2400" dirty="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k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(number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neighbors)</a:t>
            </a:r>
            <a:endParaRPr sz="2400" dirty="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Distance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metric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(to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quantify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similarity)</a:t>
            </a:r>
            <a:endParaRPr sz="24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2"/>
          <p:cNvSpPr txBox="1"/>
          <p:nvPr/>
        </p:nvSpPr>
        <p:spPr>
          <a:xfrm>
            <a:off x="258876" y="5198618"/>
            <a:ext cx="11536680" cy="10746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315"/>
              </a:spcBef>
            </a:pPr>
            <a:r>
              <a:rPr sz="2400" dirty="0" smtClean="0">
                <a:latin typeface="Segoe Print"/>
                <a:cs typeface="Segoe Print"/>
              </a:rPr>
              <a:t>-</a:t>
            </a:r>
            <a:r>
              <a:rPr sz="2400" spc="120" dirty="0" smtClean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Complexity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(both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time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and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storage)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prediction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increases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with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size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data.</a:t>
            </a:r>
            <a:endParaRPr sz="2400" dirty="0">
              <a:latin typeface="Segoe Print"/>
              <a:cs typeface="Segoe Prin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3255264"/>
            <a:ext cx="9576816" cy="12664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4599" y="1223035"/>
            <a:ext cx="981138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50100"/>
              </a:lnSpc>
              <a:spcBef>
                <a:spcPts val="100"/>
              </a:spcBef>
              <a:tabLst>
                <a:tab pos="9562465" algn="l"/>
              </a:tabLst>
            </a:pPr>
            <a:r>
              <a:rPr sz="2800" dirty="0">
                <a:latin typeface="Segoe Print"/>
                <a:cs typeface="Segoe Print"/>
              </a:rPr>
              <a:t>We</a:t>
            </a:r>
            <a:r>
              <a:rPr sz="2800" spc="-65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need</a:t>
            </a:r>
            <a:r>
              <a:rPr sz="2800" spc="-4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to</a:t>
            </a:r>
            <a:r>
              <a:rPr sz="2800" spc="-5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define</a:t>
            </a:r>
            <a:r>
              <a:rPr sz="2800" spc="-4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distance</a:t>
            </a:r>
            <a:r>
              <a:rPr sz="2800" spc="-35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metric</a:t>
            </a:r>
            <a:r>
              <a:rPr sz="2800" spc="-3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to</a:t>
            </a:r>
            <a:r>
              <a:rPr sz="2800" spc="-4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find</a:t>
            </a:r>
            <a:r>
              <a:rPr sz="2800" spc="-45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the</a:t>
            </a:r>
            <a:r>
              <a:rPr sz="2800" spc="-6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set</a:t>
            </a:r>
            <a:r>
              <a:rPr sz="2800" spc="-60" dirty="0">
                <a:latin typeface="Segoe Print"/>
                <a:cs typeface="Segoe Print"/>
              </a:rPr>
              <a:t> </a:t>
            </a:r>
            <a:r>
              <a:rPr sz="2800" spc="-25" dirty="0">
                <a:latin typeface="Segoe Print"/>
                <a:cs typeface="Segoe Print"/>
              </a:rPr>
              <a:t>of</a:t>
            </a:r>
            <a:r>
              <a:rPr sz="2800" dirty="0">
                <a:latin typeface="Segoe Print"/>
                <a:cs typeface="Segoe Print"/>
              </a:rPr>
              <a:t>	</a:t>
            </a:r>
            <a:r>
              <a:rPr sz="2800" spc="-50" dirty="0">
                <a:latin typeface="Segoe Print"/>
                <a:cs typeface="Segoe Print"/>
              </a:rPr>
              <a:t>k </a:t>
            </a:r>
            <a:r>
              <a:rPr sz="2800" dirty="0">
                <a:latin typeface="Segoe Print"/>
                <a:cs typeface="Segoe Print"/>
              </a:rPr>
              <a:t>nearest</a:t>
            </a:r>
            <a:r>
              <a:rPr sz="2800" spc="-14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neighbors,</a:t>
            </a:r>
            <a:r>
              <a:rPr sz="2800" spc="-100" dirty="0">
                <a:latin typeface="Segoe Print"/>
                <a:cs typeface="Segoe Print"/>
              </a:rPr>
              <a:t> </a:t>
            </a:r>
            <a:r>
              <a:rPr sz="2800" spc="-25" dirty="0">
                <a:latin typeface="Segoe Print"/>
                <a:cs typeface="Segoe Print"/>
              </a:rPr>
              <a:t>S</a:t>
            </a:r>
            <a:r>
              <a:rPr sz="2775" spc="-37" baseline="-21021" dirty="0">
                <a:latin typeface="Segoe Print"/>
                <a:cs typeface="Segoe Print"/>
              </a:rPr>
              <a:t>x</a:t>
            </a:r>
            <a:endParaRPr sz="2775" baseline="-21021">
              <a:latin typeface="Segoe Print"/>
              <a:cs typeface="Segoe Prin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096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Distance</a:t>
            </a:r>
            <a:r>
              <a:rPr sz="2400" b="1" u="sng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Metric: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1426463"/>
            <a:ext cx="1583436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5539" y="1054608"/>
            <a:ext cx="5433060" cy="1094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157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Norm</a:t>
            </a:r>
            <a:r>
              <a:rPr sz="24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a</a:t>
            </a:r>
            <a:r>
              <a:rPr sz="2400" b="1" u="sng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vector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248" y="1315211"/>
            <a:ext cx="7104888" cy="15666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487" y="3582923"/>
            <a:ext cx="5550408" cy="3169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248" y="3163823"/>
            <a:ext cx="3096767" cy="3154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4084320"/>
            <a:ext cx="2965704" cy="3169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248" y="4549140"/>
            <a:ext cx="6315456" cy="31546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57015" y="5657088"/>
            <a:ext cx="2749295" cy="31699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58357" y="1080119"/>
            <a:ext cx="3051901" cy="305336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58876" y="2524125"/>
            <a:ext cx="2456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Properties</a:t>
            </a:r>
            <a:r>
              <a:rPr sz="2400" b="1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Norm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096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Distance</a:t>
            </a:r>
            <a:r>
              <a:rPr sz="2400" b="1" u="sng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Metric: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3088" y="982980"/>
            <a:ext cx="9458325" cy="3877310"/>
            <a:chOff x="323088" y="982980"/>
            <a:chExt cx="9458325" cy="38773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088" y="3398519"/>
              <a:ext cx="8700516" cy="14615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05369" y="2831846"/>
              <a:ext cx="871219" cy="1418590"/>
            </a:xfrm>
            <a:custGeom>
              <a:avLst/>
              <a:gdLst/>
              <a:ahLst/>
              <a:cxnLst/>
              <a:rect l="l" t="t" r="r" b="b"/>
              <a:pathLst>
                <a:path w="871220" h="1418589">
                  <a:moveTo>
                    <a:pt x="594113" y="1264246"/>
                  </a:moveTo>
                  <a:lnTo>
                    <a:pt x="551306" y="1337564"/>
                  </a:lnTo>
                  <a:lnTo>
                    <a:pt x="515111" y="1399031"/>
                  </a:lnTo>
                  <a:lnTo>
                    <a:pt x="547877" y="1418335"/>
                  </a:lnTo>
                  <a:lnTo>
                    <a:pt x="620140" y="1295399"/>
                  </a:lnTo>
                  <a:lnTo>
                    <a:pt x="631013" y="1276412"/>
                  </a:lnTo>
                  <a:lnTo>
                    <a:pt x="587157" y="1276412"/>
                  </a:lnTo>
                  <a:lnTo>
                    <a:pt x="594113" y="1264246"/>
                  </a:lnTo>
                  <a:close/>
                </a:path>
                <a:path w="871220" h="1418589">
                  <a:moveTo>
                    <a:pt x="110554" y="35114"/>
                  </a:moveTo>
                  <a:lnTo>
                    <a:pt x="107091" y="41787"/>
                  </a:lnTo>
                  <a:lnTo>
                    <a:pt x="93073" y="69006"/>
                  </a:lnTo>
                  <a:lnTo>
                    <a:pt x="108330" y="76453"/>
                  </a:lnTo>
                  <a:lnTo>
                    <a:pt x="287527" y="156590"/>
                  </a:lnTo>
                  <a:lnTo>
                    <a:pt x="354383" y="187595"/>
                  </a:lnTo>
                  <a:lnTo>
                    <a:pt x="421104" y="219767"/>
                  </a:lnTo>
                  <a:lnTo>
                    <a:pt x="421536" y="219918"/>
                  </a:lnTo>
                  <a:lnTo>
                    <a:pt x="422566" y="220471"/>
                  </a:lnTo>
                  <a:lnTo>
                    <a:pt x="423377" y="220862"/>
                  </a:lnTo>
                  <a:lnTo>
                    <a:pt x="490088" y="255165"/>
                  </a:lnTo>
                  <a:lnTo>
                    <a:pt x="520553" y="271689"/>
                  </a:lnTo>
                  <a:lnTo>
                    <a:pt x="520970" y="271877"/>
                  </a:lnTo>
                  <a:lnTo>
                    <a:pt x="552676" y="289801"/>
                  </a:lnTo>
                  <a:lnTo>
                    <a:pt x="552912" y="290014"/>
                  </a:lnTo>
                  <a:lnTo>
                    <a:pt x="584609" y="308801"/>
                  </a:lnTo>
                  <a:lnTo>
                    <a:pt x="614044" y="327151"/>
                  </a:lnTo>
                  <a:lnTo>
                    <a:pt x="642279" y="345892"/>
                  </a:lnTo>
                  <a:lnTo>
                    <a:pt x="642697" y="346272"/>
                  </a:lnTo>
                  <a:lnTo>
                    <a:pt x="670045" y="365632"/>
                  </a:lnTo>
                  <a:lnTo>
                    <a:pt x="695287" y="384852"/>
                  </a:lnTo>
                  <a:lnTo>
                    <a:pt x="695721" y="385141"/>
                  </a:lnTo>
                  <a:lnTo>
                    <a:pt x="696895" y="386097"/>
                  </a:lnTo>
                  <a:lnTo>
                    <a:pt x="718820" y="404368"/>
                  </a:lnTo>
                  <a:lnTo>
                    <a:pt x="740502" y="424335"/>
                  </a:lnTo>
                  <a:lnTo>
                    <a:pt x="740612" y="424519"/>
                  </a:lnTo>
                  <a:lnTo>
                    <a:pt x="750757" y="434531"/>
                  </a:lnTo>
                  <a:lnTo>
                    <a:pt x="759735" y="444092"/>
                  </a:lnTo>
                  <a:lnTo>
                    <a:pt x="768441" y="453861"/>
                  </a:lnTo>
                  <a:lnTo>
                    <a:pt x="777189" y="464667"/>
                  </a:lnTo>
                  <a:lnTo>
                    <a:pt x="784672" y="474644"/>
                  </a:lnTo>
                  <a:lnTo>
                    <a:pt x="785149" y="475209"/>
                  </a:lnTo>
                  <a:lnTo>
                    <a:pt x="785495" y="475741"/>
                  </a:lnTo>
                  <a:lnTo>
                    <a:pt x="785693" y="476007"/>
                  </a:lnTo>
                  <a:lnTo>
                    <a:pt x="791590" y="484631"/>
                  </a:lnTo>
                  <a:lnTo>
                    <a:pt x="797637" y="494215"/>
                  </a:lnTo>
                  <a:lnTo>
                    <a:pt x="800451" y="499363"/>
                  </a:lnTo>
                  <a:lnTo>
                    <a:pt x="803275" y="504443"/>
                  </a:lnTo>
                  <a:lnTo>
                    <a:pt x="806605" y="511428"/>
                  </a:lnTo>
                  <a:lnTo>
                    <a:pt x="808101" y="514476"/>
                  </a:lnTo>
                  <a:lnTo>
                    <a:pt x="812164" y="524128"/>
                  </a:lnTo>
                  <a:lnTo>
                    <a:pt x="819292" y="545269"/>
                  </a:lnTo>
                  <a:lnTo>
                    <a:pt x="825246" y="567943"/>
                  </a:lnTo>
                  <a:lnTo>
                    <a:pt x="825106" y="567943"/>
                  </a:lnTo>
                  <a:lnTo>
                    <a:pt x="829055" y="588644"/>
                  </a:lnTo>
                  <a:lnTo>
                    <a:pt x="831730" y="611501"/>
                  </a:lnTo>
                  <a:lnTo>
                    <a:pt x="833120" y="633730"/>
                  </a:lnTo>
                  <a:lnTo>
                    <a:pt x="833031" y="659891"/>
                  </a:lnTo>
                  <a:lnTo>
                    <a:pt x="831811" y="682620"/>
                  </a:lnTo>
                  <a:lnTo>
                    <a:pt x="831767" y="682966"/>
                  </a:lnTo>
                  <a:lnTo>
                    <a:pt x="831668" y="684374"/>
                  </a:lnTo>
                  <a:lnTo>
                    <a:pt x="825626" y="732663"/>
                  </a:lnTo>
                  <a:lnTo>
                    <a:pt x="814577" y="784478"/>
                  </a:lnTo>
                  <a:lnTo>
                    <a:pt x="799072" y="838491"/>
                  </a:lnTo>
                  <a:lnTo>
                    <a:pt x="780956" y="890694"/>
                  </a:lnTo>
                  <a:lnTo>
                    <a:pt x="757870" y="948158"/>
                  </a:lnTo>
                  <a:lnTo>
                    <a:pt x="731122" y="1007548"/>
                  </a:lnTo>
                  <a:lnTo>
                    <a:pt x="707741" y="1055638"/>
                  </a:lnTo>
                  <a:lnTo>
                    <a:pt x="702665" y="1065580"/>
                  </a:lnTo>
                  <a:lnTo>
                    <a:pt x="693938" y="1082802"/>
                  </a:lnTo>
                  <a:lnTo>
                    <a:pt x="687593" y="1095139"/>
                  </a:lnTo>
                  <a:lnTo>
                    <a:pt x="687534" y="1095424"/>
                  </a:lnTo>
                  <a:lnTo>
                    <a:pt x="655868" y="1154406"/>
                  </a:lnTo>
                  <a:lnTo>
                    <a:pt x="622447" y="1214690"/>
                  </a:lnTo>
                  <a:lnTo>
                    <a:pt x="587157" y="1276412"/>
                  </a:lnTo>
                  <a:lnTo>
                    <a:pt x="631013" y="1276412"/>
                  </a:lnTo>
                  <a:lnTo>
                    <a:pt x="655192" y="1234185"/>
                  </a:lnTo>
                  <a:lnTo>
                    <a:pt x="688975" y="1173352"/>
                  </a:lnTo>
                  <a:lnTo>
                    <a:pt x="721359" y="1112901"/>
                  </a:lnTo>
                  <a:lnTo>
                    <a:pt x="751585" y="1052956"/>
                  </a:lnTo>
                  <a:lnTo>
                    <a:pt x="779399" y="993901"/>
                  </a:lnTo>
                  <a:lnTo>
                    <a:pt x="804290" y="935608"/>
                  </a:lnTo>
                  <a:lnTo>
                    <a:pt x="826134" y="878077"/>
                  </a:lnTo>
                  <a:lnTo>
                    <a:pt x="844041" y="821689"/>
                  </a:lnTo>
                  <a:lnTo>
                    <a:pt x="857884" y="766571"/>
                  </a:lnTo>
                  <a:lnTo>
                    <a:pt x="867155" y="712469"/>
                  </a:lnTo>
                  <a:lnTo>
                    <a:pt x="871220" y="659891"/>
                  </a:lnTo>
                  <a:lnTo>
                    <a:pt x="871204" y="633730"/>
                  </a:lnTo>
                  <a:lnTo>
                    <a:pt x="869696" y="608583"/>
                  </a:lnTo>
                  <a:lnTo>
                    <a:pt x="866901" y="583564"/>
                  </a:lnTo>
                  <a:lnTo>
                    <a:pt x="863907" y="567943"/>
                  </a:lnTo>
                  <a:lnTo>
                    <a:pt x="825246" y="567943"/>
                  </a:lnTo>
                  <a:lnTo>
                    <a:pt x="824911" y="566670"/>
                  </a:lnTo>
                  <a:lnTo>
                    <a:pt x="863663" y="566670"/>
                  </a:lnTo>
                  <a:lnTo>
                    <a:pt x="862202" y="559053"/>
                  </a:lnTo>
                  <a:lnTo>
                    <a:pt x="848105" y="511428"/>
                  </a:lnTo>
                  <a:lnTo>
                    <a:pt x="830960" y="475741"/>
                  </a:lnTo>
                  <a:lnTo>
                    <a:pt x="807338" y="441451"/>
                  </a:lnTo>
                  <a:lnTo>
                    <a:pt x="778255" y="408177"/>
                  </a:lnTo>
                  <a:lnTo>
                    <a:pt x="744220" y="376046"/>
                  </a:lnTo>
                  <a:lnTo>
                    <a:pt x="692403" y="334771"/>
                  </a:lnTo>
                  <a:lnTo>
                    <a:pt x="634491" y="295020"/>
                  </a:lnTo>
                  <a:lnTo>
                    <a:pt x="571880" y="256920"/>
                  </a:lnTo>
                  <a:lnTo>
                    <a:pt x="505840" y="220471"/>
                  </a:lnTo>
                  <a:lnTo>
                    <a:pt x="438276" y="185800"/>
                  </a:lnTo>
                  <a:lnTo>
                    <a:pt x="370331" y="152907"/>
                  </a:lnTo>
                  <a:lnTo>
                    <a:pt x="303402" y="121919"/>
                  </a:lnTo>
                  <a:lnTo>
                    <a:pt x="124216" y="41787"/>
                  </a:lnTo>
                  <a:lnTo>
                    <a:pt x="110554" y="35114"/>
                  </a:lnTo>
                  <a:close/>
                </a:path>
                <a:path w="871220" h="1418589">
                  <a:moveTo>
                    <a:pt x="707741" y="1055638"/>
                  </a:moveTo>
                  <a:lnTo>
                    <a:pt x="702663" y="1065580"/>
                  </a:lnTo>
                  <a:lnTo>
                    <a:pt x="702588" y="1065731"/>
                  </a:lnTo>
                  <a:lnTo>
                    <a:pt x="702792" y="1065580"/>
                  </a:lnTo>
                  <a:lnTo>
                    <a:pt x="707703" y="1055638"/>
                  </a:lnTo>
                  <a:close/>
                </a:path>
                <a:path w="871220" h="1418589">
                  <a:moveTo>
                    <a:pt x="640348" y="344610"/>
                  </a:moveTo>
                  <a:lnTo>
                    <a:pt x="642128" y="345892"/>
                  </a:lnTo>
                  <a:lnTo>
                    <a:pt x="642697" y="346272"/>
                  </a:lnTo>
                  <a:lnTo>
                    <a:pt x="642279" y="345892"/>
                  </a:lnTo>
                  <a:lnTo>
                    <a:pt x="640348" y="344610"/>
                  </a:lnTo>
                  <a:close/>
                </a:path>
                <a:path w="871220" h="1418589">
                  <a:moveTo>
                    <a:pt x="549432" y="287950"/>
                  </a:moveTo>
                  <a:lnTo>
                    <a:pt x="552914" y="290014"/>
                  </a:lnTo>
                  <a:lnTo>
                    <a:pt x="552676" y="289801"/>
                  </a:lnTo>
                  <a:lnTo>
                    <a:pt x="549429" y="287950"/>
                  </a:lnTo>
                  <a:close/>
                </a:path>
                <a:path w="871220" h="1418589">
                  <a:moveTo>
                    <a:pt x="0" y="0"/>
                  </a:moveTo>
                  <a:lnTo>
                    <a:pt x="75437" y="103250"/>
                  </a:lnTo>
                  <a:lnTo>
                    <a:pt x="93073" y="69006"/>
                  </a:lnTo>
                  <a:lnTo>
                    <a:pt x="76326" y="60832"/>
                  </a:lnTo>
                  <a:lnTo>
                    <a:pt x="92963" y="26542"/>
                  </a:lnTo>
                  <a:lnTo>
                    <a:pt x="114942" y="26542"/>
                  </a:lnTo>
                  <a:lnTo>
                    <a:pt x="127761" y="1650"/>
                  </a:lnTo>
                  <a:lnTo>
                    <a:pt x="0" y="0"/>
                  </a:lnTo>
                  <a:close/>
                </a:path>
                <a:path w="871220" h="1418589">
                  <a:moveTo>
                    <a:pt x="92963" y="26542"/>
                  </a:moveTo>
                  <a:lnTo>
                    <a:pt x="76326" y="60832"/>
                  </a:lnTo>
                  <a:lnTo>
                    <a:pt x="93073" y="69006"/>
                  </a:lnTo>
                  <a:lnTo>
                    <a:pt x="110528" y="35114"/>
                  </a:lnTo>
                  <a:lnTo>
                    <a:pt x="92963" y="26542"/>
                  </a:lnTo>
                  <a:close/>
                </a:path>
                <a:path w="871220" h="1418589">
                  <a:moveTo>
                    <a:pt x="114942" y="26542"/>
                  </a:moveTo>
                  <a:lnTo>
                    <a:pt x="92963" y="26542"/>
                  </a:lnTo>
                  <a:lnTo>
                    <a:pt x="110554" y="35114"/>
                  </a:lnTo>
                  <a:lnTo>
                    <a:pt x="114942" y="26542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2944" y="3113531"/>
              <a:ext cx="696468" cy="2590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899145" y="1605280"/>
              <a:ext cx="1303020" cy="2738120"/>
            </a:xfrm>
            <a:custGeom>
              <a:avLst/>
              <a:gdLst/>
              <a:ahLst/>
              <a:cxnLst/>
              <a:rect l="l" t="t" r="r" b="b"/>
              <a:pathLst>
                <a:path w="1303020" h="2738120">
                  <a:moveTo>
                    <a:pt x="526823" y="340153"/>
                  </a:moveTo>
                  <a:lnTo>
                    <a:pt x="583793" y="375108"/>
                  </a:lnTo>
                  <a:lnTo>
                    <a:pt x="637031" y="408432"/>
                  </a:lnTo>
                  <a:lnTo>
                    <a:pt x="685675" y="440050"/>
                  </a:lnTo>
                  <a:lnTo>
                    <a:pt x="740870" y="477032"/>
                  </a:lnTo>
                  <a:lnTo>
                    <a:pt x="787110" y="509321"/>
                  </a:lnTo>
                  <a:lnTo>
                    <a:pt x="787423" y="509478"/>
                  </a:lnTo>
                  <a:lnTo>
                    <a:pt x="834771" y="543839"/>
                  </a:lnTo>
                  <a:lnTo>
                    <a:pt x="881556" y="579460"/>
                  </a:lnTo>
                  <a:lnTo>
                    <a:pt x="927855" y="616551"/>
                  </a:lnTo>
                  <a:lnTo>
                    <a:pt x="928154" y="616942"/>
                  </a:lnTo>
                  <a:lnTo>
                    <a:pt x="971683" y="654034"/>
                  </a:lnTo>
                  <a:lnTo>
                    <a:pt x="1012698" y="691515"/>
                  </a:lnTo>
                  <a:lnTo>
                    <a:pt x="1051561" y="729742"/>
                  </a:lnTo>
                  <a:lnTo>
                    <a:pt x="1087762" y="768460"/>
                  </a:lnTo>
                  <a:lnTo>
                    <a:pt x="1087620" y="768460"/>
                  </a:lnTo>
                  <a:lnTo>
                    <a:pt x="1104112" y="787385"/>
                  </a:lnTo>
                  <a:lnTo>
                    <a:pt x="1136142" y="827278"/>
                  </a:lnTo>
                  <a:lnTo>
                    <a:pt x="1164933" y="867978"/>
                  </a:lnTo>
                  <a:lnTo>
                    <a:pt x="1189306" y="908153"/>
                  </a:lnTo>
                  <a:lnTo>
                    <a:pt x="1209100" y="947265"/>
                  </a:lnTo>
                  <a:lnTo>
                    <a:pt x="1225405" y="987765"/>
                  </a:lnTo>
                  <a:lnTo>
                    <a:pt x="1225407" y="988029"/>
                  </a:lnTo>
                  <a:lnTo>
                    <a:pt x="1225795" y="988804"/>
                  </a:lnTo>
                  <a:lnTo>
                    <a:pt x="1225662" y="988804"/>
                  </a:lnTo>
                  <a:lnTo>
                    <a:pt x="1228666" y="998093"/>
                  </a:lnTo>
                  <a:lnTo>
                    <a:pt x="1232028" y="1008256"/>
                  </a:lnTo>
                  <a:lnTo>
                    <a:pt x="1240936" y="1042289"/>
                  </a:lnTo>
                  <a:lnTo>
                    <a:pt x="1243076" y="1050290"/>
                  </a:lnTo>
                  <a:lnTo>
                    <a:pt x="1250471" y="1087501"/>
                  </a:lnTo>
                  <a:lnTo>
                    <a:pt x="1251712" y="1093473"/>
                  </a:lnTo>
                  <a:lnTo>
                    <a:pt x="1257576" y="1133729"/>
                  </a:lnTo>
                  <a:lnTo>
                    <a:pt x="1258188" y="1137793"/>
                  </a:lnTo>
                  <a:lnTo>
                    <a:pt x="1262352" y="1182249"/>
                  </a:lnTo>
                  <a:lnTo>
                    <a:pt x="1264357" y="1228852"/>
                  </a:lnTo>
                  <a:lnTo>
                    <a:pt x="1264359" y="1277620"/>
                  </a:lnTo>
                  <a:lnTo>
                    <a:pt x="1262446" y="1323643"/>
                  </a:lnTo>
                  <a:lnTo>
                    <a:pt x="1258610" y="1372028"/>
                  </a:lnTo>
                  <a:lnTo>
                    <a:pt x="1258513" y="1373251"/>
                  </a:lnTo>
                  <a:lnTo>
                    <a:pt x="1258443" y="1373508"/>
                  </a:lnTo>
                  <a:lnTo>
                    <a:pt x="1252820" y="1423109"/>
                  </a:lnTo>
                  <a:lnTo>
                    <a:pt x="1252727" y="1423297"/>
                  </a:lnTo>
                  <a:lnTo>
                    <a:pt x="1245219" y="1473848"/>
                  </a:lnTo>
                  <a:lnTo>
                    <a:pt x="1245105" y="1473975"/>
                  </a:lnTo>
                  <a:lnTo>
                    <a:pt x="1235948" y="1525390"/>
                  </a:lnTo>
                  <a:lnTo>
                    <a:pt x="1235836" y="1525909"/>
                  </a:lnTo>
                  <a:lnTo>
                    <a:pt x="1235718" y="1526568"/>
                  </a:lnTo>
                  <a:lnTo>
                    <a:pt x="1225022" y="1577589"/>
                  </a:lnTo>
                  <a:lnTo>
                    <a:pt x="1224914" y="1578103"/>
                  </a:lnTo>
                  <a:lnTo>
                    <a:pt x="1212544" y="1630517"/>
                  </a:lnTo>
                  <a:lnTo>
                    <a:pt x="1212490" y="1630813"/>
                  </a:lnTo>
                  <a:lnTo>
                    <a:pt x="1198879" y="1683422"/>
                  </a:lnTo>
                  <a:lnTo>
                    <a:pt x="1198753" y="1683764"/>
                  </a:lnTo>
                  <a:lnTo>
                    <a:pt x="1166879" y="1792485"/>
                  </a:lnTo>
                  <a:lnTo>
                    <a:pt x="1166749" y="1792730"/>
                  </a:lnTo>
                  <a:lnTo>
                    <a:pt x="1129898" y="1903787"/>
                  </a:lnTo>
                  <a:lnTo>
                    <a:pt x="1129792" y="1903982"/>
                  </a:lnTo>
                  <a:lnTo>
                    <a:pt x="1088488" y="2017030"/>
                  </a:lnTo>
                  <a:lnTo>
                    <a:pt x="1088382" y="2017159"/>
                  </a:lnTo>
                  <a:lnTo>
                    <a:pt x="1043379" y="2131817"/>
                  </a:lnTo>
                  <a:lnTo>
                    <a:pt x="1043302" y="2131956"/>
                  </a:lnTo>
                  <a:lnTo>
                    <a:pt x="995868" y="2246546"/>
                  </a:lnTo>
                  <a:lnTo>
                    <a:pt x="941731" y="2371560"/>
                  </a:lnTo>
                  <a:lnTo>
                    <a:pt x="891202" y="2485035"/>
                  </a:lnTo>
                  <a:lnTo>
                    <a:pt x="783208" y="2721864"/>
                  </a:lnTo>
                  <a:lnTo>
                    <a:pt x="817879" y="2737612"/>
                  </a:lnTo>
                  <a:lnTo>
                    <a:pt x="926464" y="2499487"/>
                  </a:lnTo>
                  <a:lnTo>
                    <a:pt x="979170" y="2380996"/>
                  </a:lnTo>
                  <a:lnTo>
                    <a:pt x="1030224" y="2263267"/>
                  </a:lnTo>
                  <a:lnTo>
                    <a:pt x="1078610" y="2146427"/>
                  </a:lnTo>
                  <a:lnTo>
                    <a:pt x="1123950" y="2030857"/>
                  </a:lnTo>
                  <a:lnTo>
                    <a:pt x="1165732" y="1916811"/>
                  </a:lnTo>
                  <a:lnTo>
                    <a:pt x="1203071" y="1804416"/>
                  </a:lnTo>
                  <a:lnTo>
                    <a:pt x="1235455" y="1694180"/>
                  </a:lnTo>
                  <a:lnTo>
                    <a:pt x="1249552" y="1639824"/>
                  </a:lnTo>
                  <a:lnTo>
                    <a:pt x="1262252" y="1586103"/>
                  </a:lnTo>
                  <a:lnTo>
                    <a:pt x="1273302" y="1532890"/>
                  </a:lnTo>
                  <a:lnTo>
                    <a:pt x="1282700" y="1480439"/>
                  </a:lnTo>
                  <a:lnTo>
                    <a:pt x="1290447" y="1428623"/>
                  </a:lnTo>
                  <a:lnTo>
                    <a:pt x="1296415" y="1377569"/>
                  </a:lnTo>
                  <a:lnTo>
                    <a:pt x="1300479" y="1327150"/>
                  </a:lnTo>
                  <a:lnTo>
                    <a:pt x="1302511" y="1277620"/>
                  </a:lnTo>
                  <a:lnTo>
                    <a:pt x="1302511" y="1228852"/>
                  </a:lnTo>
                  <a:lnTo>
                    <a:pt x="1300609" y="1183897"/>
                  </a:lnTo>
                  <a:lnTo>
                    <a:pt x="1300539" y="1182249"/>
                  </a:lnTo>
                  <a:lnTo>
                    <a:pt x="1300479" y="1180846"/>
                  </a:lnTo>
                  <a:lnTo>
                    <a:pt x="1296034" y="1133729"/>
                  </a:lnTo>
                  <a:lnTo>
                    <a:pt x="1289303" y="1087501"/>
                  </a:lnTo>
                  <a:lnTo>
                    <a:pt x="1280286" y="1042289"/>
                  </a:lnTo>
                  <a:lnTo>
                    <a:pt x="1268729" y="998093"/>
                  </a:lnTo>
                  <a:lnTo>
                    <a:pt x="1265740" y="988804"/>
                  </a:lnTo>
                  <a:lnTo>
                    <a:pt x="1225795" y="988804"/>
                  </a:lnTo>
                  <a:lnTo>
                    <a:pt x="1225504" y="988029"/>
                  </a:lnTo>
                  <a:lnTo>
                    <a:pt x="1265491" y="988029"/>
                  </a:lnTo>
                  <a:lnTo>
                    <a:pt x="1261618" y="975995"/>
                  </a:lnTo>
                  <a:lnTo>
                    <a:pt x="1243964" y="931926"/>
                  </a:lnTo>
                  <a:lnTo>
                    <a:pt x="1222121" y="888873"/>
                  </a:lnTo>
                  <a:lnTo>
                    <a:pt x="1196212" y="846328"/>
                  </a:lnTo>
                  <a:lnTo>
                    <a:pt x="1166749" y="804545"/>
                  </a:lnTo>
                  <a:lnTo>
                    <a:pt x="1133855" y="763524"/>
                  </a:lnTo>
                  <a:lnTo>
                    <a:pt x="1098042" y="723138"/>
                  </a:lnTo>
                  <a:lnTo>
                    <a:pt x="1059306" y="683387"/>
                  </a:lnTo>
                  <a:lnTo>
                    <a:pt x="1018158" y="644398"/>
                  </a:lnTo>
                  <a:lnTo>
                    <a:pt x="952246" y="587375"/>
                  </a:lnTo>
                  <a:lnTo>
                    <a:pt x="906018" y="550291"/>
                  </a:lnTo>
                  <a:lnTo>
                    <a:pt x="858393" y="513842"/>
                  </a:lnTo>
                  <a:lnTo>
                    <a:pt x="809371" y="478282"/>
                  </a:lnTo>
                  <a:lnTo>
                    <a:pt x="759332" y="443484"/>
                  </a:lnTo>
                  <a:lnTo>
                    <a:pt x="708659" y="409575"/>
                  </a:lnTo>
                  <a:lnTo>
                    <a:pt x="657769" y="376534"/>
                  </a:lnTo>
                  <a:lnTo>
                    <a:pt x="608498" y="345553"/>
                  </a:lnTo>
                  <a:lnTo>
                    <a:pt x="535875" y="345553"/>
                  </a:lnTo>
                  <a:lnTo>
                    <a:pt x="526823" y="340153"/>
                  </a:lnTo>
                  <a:close/>
                </a:path>
                <a:path w="1303020" h="2738120">
                  <a:moveTo>
                    <a:pt x="1084435" y="764805"/>
                  </a:moveTo>
                  <a:lnTo>
                    <a:pt x="1087918" y="768810"/>
                  </a:lnTo>
                  <a:lnTo>
                    <a:pt x="1087739" y="768460"/>
                  </a:lnTo>
                  <a:lnTo>
                    <a:pt x="1084435" y="764805"/>
                  </a:lnTo>
                  <a:close/>
                </a:path>
                <a:path w="1303020" h="2738120">
                  <a:moveTo>
                    <a:pt x="924801" y="614083"/>
                  </a:moveTo>
                  <a:lnTo>
                    <a:pt x="928154" y="616942"/>
                  </a:lnTo>
                  <a:lnTo>
                    <a:pt x="927855" y="616551"/>
                  </a:lnTo>
                  <a:lnTo>
                    <a:pt x="924801" y="614083"/>
                  </a:lnTo>
                  <a:close/>
                </a:path>
                <a:path w="1303020" h="2738120">
                  <a:moveTo>
                    <a:pt x="104885" y="49503"/>
                  </a:moveTo>
                  <a:lnTo>
                    <a:pt x="83091" y="80735"/>
                  </a:lnTo>
                  <a:lnTo>
                    <a:pt x="93218" y="87503"/>
                  </a:lnTo>
                  <a:lnTo>
                    <a:pt x="110489" y="98044"/>
                  </a:lnTo>
                  <a:lnTo>
                    <a:pt x="165734" y="130937"/>
                  </a:lnTo>
                  <a:lnTo>
                    <a:pt x="435355" y="285877"/>
                  </a:lnTo>
                  <a:lnTo>
                    <a:pt x="535875" y="345553"/>
                  </a:lnTo>
                  <a:lnTo>
                    <a:pt x="608498" y="345553"/>
                  </a:lnTo>
                  <a:lnTo>
                    <a:pt x="606298" y="344170"/>
                  </a:lnTo>
                  <a:lnTo>
                    <a:pt x="555371" y="312800"/>
                  </a:lnTo>
                  <a:lnTo>
                    <a:pt x="454659" y="252984"/>
                  </a:lnTo>
                  <a:lnTo>
                    <a:pt x="185038" y="98044"/>
                  </a:lnTo>
                  <a:lnTo>
                    <a:pt x="165988" y="86868"/>
                  </a:lnTo>
                  <a:lnTo>
                    <a:pt x="131761" y="66420"/>
                  </a:lnTo>
                  <a:lnTo>
                    <a:pt x="114142" y="55690"/>
                  </a:lnTo>
                  <a:lnTo>
                    <a:pt x="104885" y="49503"/>
                  </a:lnTo>
                  <a:close/>
                </a:path>
                <a:path w="1303020" h="2738120">
                  <a:moveTo>
                    <a:pt x="0" y="0"/>
                  </a:moveTo>
                  <a:lnTo>
                    <a:pt x="61086" y="112268"/>
                  </a:lnTo>
                  <a:lnTo>
                    <a:pt x="83091" y="80735"/>
                  </a:lnTo>
                  <a:lnTo>
                    <a:pt x="67563" y="70358"/>
                  </a:lnTo>
                  <a:lnTo>
                    <a:pt x="88773" y="38735"/>
                  </a:lnTo>
                  <a:lnTo>
                    <a:pt x="112400" y="38735"/>
                  </a:lnTo>
                  <a:lnTo>
                    <a:pt x="126492" y="18542"/>
                  </a:lnTo>
                  <a:lnTo>
                    <a:pt x="0" y="0"/>
                  </a:lnTo>
                  <a:close/>
                </a:path>
                <a:path w="1303020" h="2738120">
                  <a:moveTo>
                    <a:pt x="88773" y="38735"/>
                  </a:moveTo>
                  <a:lnTo>
                    <a:pt x="67563" y="70358"/>
                  </a:lnTo>
                  <a:lnTo>
                    <a:pt x="83091" y="80735"/>
                  </a:lnTo>
                  <a:lnTo>
                    <a:pt x="104885" y="49503"/>
                  </a:lnTo>
                  <a:lnTo>
                    <a:pt x="88773" y="38735"/>
                  </a:lnTo>
                  <a:close/>
                </a:path>
                <a:path w="1303020" h="2738120">
                  <a:moveTo>
                    <a:pt x="112400" y="38735"/>
                  </a:moveTo>
                  <a:lnTo>
                    <a:pt x="88773" y="38735"/>
                  </a:lnTo>
                  <a:lnTo>
                    <a:pt x="104885" y="49503"/>
                  </a:lnTo>
                  <a:lnTo>
                    <a:pt x="112400" y="3873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82099" y="2142744"/>
              <a:ext cx="598931" cy="262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280" y="1426463"/>
              <a:ext cx="1583436" cy="2133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280" y="2557272"/>
              <a:ext cx="1757172" cy="2133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2095" y="982980"/>
              <a:ext cx="5433059" cy="10927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5539" y="2327147"/>
              <a:ext cx="4922520" cy="88696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2668" y="5391911"/>
            <a:ext cx="856488" cy="1920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76727" y="5818632"/>
            <a:ext cx="5868924" cy="48463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82100" y="5922264"/>
            <a:ext cx="2647188" cy="277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3928110" cy="992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Distance</a:t>
            </a:r>
            <a:r>
              <a:rPr sz="2400" b="1" u="sng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Metric: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Properties</a:t>
            </a:r>
            <a:r>
              <a:rPr sz="2400" b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Distance</a:t>
            </a:r>
            <a:r>
              <a:rPr sz="2400" b="1" u="sng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Metrics: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415" y="3098292"/>
            <a:ext cx="4600956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415" y="2145792"/>
            <a:ext cx="3784091" cy="3063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415" y="4049267"/>
            <a:ext cx="3595116" cy="3063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0415" y="4980432"/>
            <a:ext cx="7869935" cy="306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096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Distance</a:t>
            </a:r>
            <a:r>
              <a:rPr sz="2400" b="1" u="sng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Metric: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" y="1524000"/>
            <a:ext cx="6870192" cy="15194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015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Cosine</a:t>
            </a:r>
            <a:r>
              <a:rPr sz="2400" b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Distance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400555"/>
            <a:ext cx="9994392" cy="9464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80842" y="5748020"/>
            <a:ext cx="72701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Segoe Print"/>
                <a:cs typeface="Segoe Print"/>
              </a:rPr>
              <a:t>What</a:t>
            </a:r>
            <a:r>
              <a:rPr sz="2400" b="1" spc="-2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is</a:t>
            </a:r>
            <a:r>
              <a:rPr sz="2400" b="1" spc="-1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the</a:t>
            </a:r>
            <a:r>
              <a:rPr sz="2400" b="1" spc="-2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range</a:t>
            </a:r>
            <a:r>
              <a:rPr sz="2400" b="1" spc="-2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of</a:t>
            </a:r>
            <a:r>
              <a:rPr sz="2400" b="1" spc="-3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values</a:t>
            </a:r>
            <a:r>
              <a:rPr sz="2400" b="1" spc="-3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of</a:t>
            </a:r>
            <a:r>
              <a:rPr sz="2400" b="1" spc="-2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angular</a:t>
            </a:r>
            <a:r>
              <a:rPr sz="2400" b="1" spc="-25" dirty="0">
                <a:latin typeface="Segoe Print"/>
                <a:cs typeface="Segoe Print"/>
              </a:rPr>
              <a:t> </a:t>
            </a:r>
            <a:r>
              <a:rPr sz="2400" b="1" spc="-10" dirty="0">
                <a:latin typeface="Segoe Print"/>
                <a:cs typeface="Segoe Print"/>
              </a:rPr>
              <a:t>distance </a:t>
            </a:r>
            <a:r>
              <a:rPr sz="2400" b="1" dirty="0">
                <a:latin typeface="Segoe Print"/>
                <a:cs typeface="Segoe Print"/>
              </a:rPr>
              <a:t>and</a:t>
            </a:r>
            <a:r>
              <a:rPr sz="2400" b="1" spc="-4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what</a:t>
            </a:r>
            <a:r>
              <a:rPr sz="2400" b="1" spc="-2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is</a:t>
            </a:r>
            <a:r>
              <a:rPr sz="2400" b="1" spc="-4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the</a:t>
            </a:r>
            <a:r>
              <a:rPr sz="2400" b="1" spc="-4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interpretation</a:t>
            </a:r>
            <a:r>
              <a:rPr sz="2400" b="1" spc="-3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of</a:t>
            </a:r>
            <a:r>
              <a:rPr sz="2400" b="1" spc="-3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these</a:t>
            </a:r>
            <a:r>
              <a:rPr sz="2400" b="1" spc="-35" dirty="0">
                <a:latin typeface="Segoe Print"/>
                <a:cs typeface="Segoe Print"/>
              </a:rPr>
              <a:t> </a:t>
            </a:r>
            <a:r>
              <a:rPr sz="2400" b="1" spc="-10" dirty="0">
                <a:latin typeface="Segoe Print"/>
                <a:cs typeface="Segoe Print"/>
              </a:rPr>
              <a:t>values?</a:t>
            </a:r>
            <a:endParaRPr sz="2400">
              <a:latin typeface="Segoe Print"/>
              <a:cs typeface="Segoe Prin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23" y="2691383"/>
            <a:ext cx="9992868" cy="2278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131" y="799338"/>
            <a:ext cx="9587230" cy="3850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Practical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issues</a:t>
            </a:r>
            <a:r>
              <a:rPr sz="2400" b="1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in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computing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distance: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5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Mismatch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values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5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data</a:t>
            </a:r>
            <a:endParaRPr sz="2400">
              <a:latin typeface="Segoe Print"/>
              <a:cs typeface="Segoe Print"/>
            </a:endParaRPr>
          </a:p>
          <a:p>
            <a:pPr marL="812800" marR="5080" lvl="1" indent="-342900">
              <a:lnSpc>
                <a:spcPct val="150000"/>
              </a:lnSpc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Issue: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Distance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metric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is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mapping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from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d-dimensional </a:t>
            </a:r>
            <a:r>
              <a:rPr sz="2400" dirty="0">
                <a:latin typeface="Segoe Print"/>
                <a:cs typeface="Segoe Print"/>
              </a:rPr>
              <a:t>space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scaler.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values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should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be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same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order </a:t>
            </a:r>
            <a:r>
              <a:rPr sz="2400" dirty="0">
                <a:latin typeface="Segoe Print"/>
                <a:cs typeface="Segoe Print"/>
              </a:rPr>
              <a:t>along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each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dimension.</a:t>
            </a:r>
            <a:endParaRPr sz="2400">
              <a:latin typeface="Segoe Print"/>
              <a:cs typeface="Segoe Print"/>
            </a:endParaRPr>
          </a:p>
          <a:p>
            <a:pPr lvl="1">
              <a:lnSpc>
                <a:spcPct val="100000"/>
              </a:lnSpc>
              <a:spcBef>
                <a:spcPts val="1520"/>
              </a:spcBef>
              <a:buFont typeface="Segoe Print"/>
              <a:buChar char="-"/>
            </a:pP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Solution:</a:t>
            </a:r>
            <a:r>
              <a:rPr sz="2400" spc="-8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Normalization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Segoe Print"/>
              <a:buChar char="-"/>
              <a:tabLst>
                <a:tab pos="355600" algn="l"/>
              </a:tabLst>
            </a:pPr>
            <a:r>
              <a:rPr spc="-20" dirty="0"/>
              <a:t>k-</a:t>
            </a:r>
            <a:r>
              <a:rPr dirty="0"/>
              <a:t>Nearest</a:t>
            </a:r>
            <a:r>
              <a:rPr spc="-75" dirty="0"/>
              <a:t> </a:t>
            </a:r>
            <a:r>
              <a:rPr dirty="0"/>
              <a:t>Neighbor</a:t>
            </a:r>
            <a:r>
              <a:rPr spc="-80" dirty="0"/>
              <a:t> </a:t>
            </a:r>
            <a:r>
              <a:rPr dirty="0"/>
              <a:t>(kNN)</a:t>
            </a:r>
            <a:r>
              <a:rPr spc="-90" dirty="0"/>
              <a:t> </a:t>
            </a:r>
            <a:r>
              <a:rPr dirty="0"/>
              <a:t>Algroithm</a:t>
            </a:r>
            <a:r>
              <a:rPr spc="-85" dirty="0"/>
              <a:t> </a:t>
            </a:r>
            <a:r>
              <a:rPr spc="-10" dirty="0"/>
              <a:t>Overview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Algorithm</a:t>
            </a:r>
            <a:r>
              <a:rPr spc="-70" dirty="0"/>
              <a:t> </a:t>
            </a:r>
            <a:r>
              <a:rPr spc="-10" dirty="0"/>
              <a:t>Formulation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Distance</a:t>
            </a:r>
            <a:r>
              <a:rPr spc="-45" dirty="0"/>
              <a:t> </a:t>
            </a:r>
            <a:r>
              <a:rPr spc="-10" dirty="0"/>
              <a:t>Metrics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Segoe Print"/>
              <a:buChar char="-"/>
              <a:tabLst>
                <a:tab pos="355600" algn="l"/>
              </a:tabLst>
            </a:pP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Choice</a:t>
            </a:r>
            <a:r>
              <a:rPr b="1" spc="-1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of</a:t>
            </a:r>
            <a:r>
              <a:rPr b="1" spc="-2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b="1" spc="-50" dirty="0">
                <a:solidFill>
                  <a:srgbClr val="C00000"/>
                </a:solidFill>
                <a:latin typeface="Segoe Print"/>
                <a:cs typeface="Segoe Print"/>
              </a:rPr>
              <a:t>k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Algorithm</a:t>
            </a:r>
            <a:r>
              <a:rPr spc="-15" dirty="0"/>
              <a:t> </a:t>
            </a:r>
            <a:r>
              <a:rPr spc="-10" dirty="0"/>
              <a:t>Convergence</a:t>
            </a: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355600" algn="l"/>
              </a:tabLst>
            </a:pPr>
            <a:r>
              <a:rPr dirty="0"/>
              <a:t>Storage,</a:t>
            </a:r>
            <a:r>
              <a:rPr spc="-35" dirty="0"/>
              <a:t> </a:t>
            </a:r>
            <a:r>
              <a:rPr dirty="0"/>
              <a:t>Time</a:t>
            </a:r>
            <a:r>
              <a:rPr spc="-55" dirty="0"/>
              <a:t> </a:t>
            </a:r>
            <a:r>
              <a:rPr dirty="0"/>
              <a:t>Complexity</a:t>
            </a:r>
            <a:r>
              <a:rPr spc="-65" dirty="0"/>
              <a:t> </a:t>
            </a:r>
            <a:r>
              <a:rPr spc="-10" dirty="0"/>
              <a:t>Analysis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Fast </a:t>
            </a:r>
            <a:r>
              <a:rPr spc="-25" dirty="0"/>
              <a:t>kNN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Curse</a:t>
            </a:r>
            <a:r>
              <a:rPr spc="-25" dirty="0"/>
              <a:t> </a:t>
            </a:r>
            <a:r>
              <a:rPr dirty="0"/>
              <a:t>of</a:t>
            </a:r>
            <a:r>
              <a:rPr spc="-10" dirty="0"/>
              <a:t> Dimensionality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35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8348980" cy="4636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Choice</a:t>
            </a:r>
            <a:r>
              <a:rPr sz="24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k:</a:t>
            </a:r>
            <a:endParaRPr sz="2400">
              <a:latin typeface="Calibri"/>
              <a:cs typeface="Calibri"/>
            </a:endParaRPr>
          </a:p>
          <a:p>
            <a:pPr marL="229870">
              <a:lnSpc>
                <a:spcPct val="100000"/>
              </a:lnSpc>
              <a:spcBef>
                <a:spcPts val="2225"/>
              </a:spcBef>
              <a:tabLst>
                <a:tab pos="572770" algn="l"/>
              </a:tabLst>
            </a:pPr>
            <a:r>
              <a:rPr sz="2000" spc="-50" dirty="0">
                <a:latin typeface="Segoe Print"/>
                <a:cs typeface="Segoe Print"/>
              </a:rPr>
              <a:t>-</a:t>
            </a:r>
            <a:r>
              <a:rPr sz="2000" dirty="0">
                <a:latin typeface="Segoe Print"/>
                <a:cs typeface="Segoe Print"/>
              </a:rPr>
              <a:t>	</a:t>
            </a:r>
            <a:r>
              <a:rPr sz="2000" spc="-25" dirty="0">
                <a:latin typeface="Segoe Print"/>
                <a:cs typeface="Segoe Print"/>
              </a:rPr>
              <a:t>k=1</a:t>
            </a:r>
            <a:endParaRPr sz="2000">
              <a:latin typeface="Segoe Print"/>
              <a:cs typeface="Segoe Print"/>
            </a:endParaRPr>
          </a:p>
          <a:p>
            <a:pPr marL="229870" marR="5915025">
              <a:lnSpc>
                <a:spcPct val="120000"/>
              </a:lnSpc>
            </a:pPr>
            <a:r>
              <a:rPr sz="2000" dirty="0">
                <a:latin typeface="Segoe Print"/>
                <a:cs typeface="Segoe Print"/>
              </a:rPr>
              <a:t>Sensitive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noise </a:t>
            </a:r>
            <a:r>
              <a:rPr sz="2000" dirty="0">
                <a:latin typeface="Segoe Print"/>
                <a:cs typeface="Segoe Print"/>
              </a:rPr>
              <a:t>High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variance</a:t>
            </a:r>
            <a:endParaRPr sz="2000">
              <a:latin typeface="Segoe Print"/>
              <a:cs typeface="Segoe Print"/>
            </a:endParaRPr>
          </a:p>
          <a:p>
            <a:pPr marL="22987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Increasing</a:t>
            </a:r>
            <a:r>
              <a:rPr sz="2000" spc="-5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k</a:t>
            </a:r>
            <a:r>
              <a:rPr sz="2000" spc="-1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makes</a:t>
            </a:r>
            <a:r>
              <a:rPr sz="2000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algorithm</a:t>
            </a:r>
            <a:r>
              <a:rPr sz="2000" spc="-5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less</a:t>
            </a:r>
            <a:r>
              <a:rPr sz="2000" spc="-2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sensitive</a:t>
            </a:r>
            <a:r>
              <a:rPr sz="2000" spc="-5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to</a:t>
            </a:r>
            <a:r>
              <a:rPr sz="2000" spc="-2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/>
                <a:cs typeface="Segoe Print"/>
              </a:rPr>
              <a:t>noise</a:t>
            </a:r>
            <a:endParaRPr sz="2000">
              <a:latin typeface="Segoe Print"/>
              <a:cs typeface="Segoe Print"/>
            </a:endParaRPr>
          </a:p>
          <a:p>
            <a:pPr marL="229870">
              <a:lnSpc>
                <a:spcPct val="100000"/>
              </a:lnSpc>
              <a:spcBef>
                <a:spcPts val="3360"/>
              </a:spcBef>
              <a:tabLst>
                <a:tab pos="572770" algn="l"/>
              </a:tabLst>
            </a:pPr>
            <a:r>
              <a:rPr sz="2000" spc="-50" dirty="0">
                <a:latin typeface="Segoe Print"/>
                <a:cs typeface="Segoe Print"/>
              </a:rPr>
              <a:t>-</a:t>
            </a:r>
            <a:r>
              <a:rPr sz="2000" dirty="0">
                <a:latin typeface="Segoe Print"/>
                <a:cs typeface="Segoe Print"/>
              </a:rPr>
              <a:t>	</a:t>
            </a:r>
            <a:r>
              <a:rPr sz="2000" spc="-25" dirty="0">
                <a:latin typeface="Segoe Print"/>
                <a:cs typeface="Segoe Print"/>
              </a:rPr>
              <a:t>k=n</a:t>
            </a:r>
            <a:endParaRPr sz="2000">
              <a:latin typeface="Segoe Print"/>
              <a:cs typeface="Segoe Print"/>
            </a:endParaRPr>
          </a:p>
          <a:p>
            <a:pPr marL="22987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Decreasing</a:t>
            </a:r>
            <a:r>
              <a:rPr sz="2000" spc="-5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k</a:t>
            </a:r>
            <a:r>
              <a:rPr sz="2000" spc="-2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enables</a:t>
            </a:r>
            <a:r>
              <a:rPr sz="20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capturing</a:t>
            </a:r>
            <a:r>
              <a:rPr sz="2000" spc="-5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finer</a:t>
            </a:r>
            <a:r>
              <a:rPr sz="2000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structure</a:t>
            </a:r>
            <a:r>
              <a:rPr sz="20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of</a:t>
            </a:r>
            <a:r>
              <a:rPr sz="20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/>
                <a:cs typeface="Segoe Print"/>
              </a:rPr>
              <a:t>space</a:t>
            </a:r>
            <a:endParaRPr sz="2000">
              <a:latin typeface="Segoe Print"/>
              <a:cs typeface="Segoe Print"/>
            </a:endParaRPr>
          </a:p>
          <a:p>
            <a:pPr>
              <a:lnSpc>
                <a:spcPct val="100000"/>
              </a:lnSpc>
              <a:spcBef>
                <a:spcPts val="2230"/>
              </a:spcBef>
            </a:pPr>
            <a:endParaRPr sz="2000">
              <a:latin typeface="Segoe Print"/>
              <a:cs typeface="Segoe Print"/>
            </a:endParaRPr>
          </a:p>
          <a:p>
            <a:pPr marL="229870" marR="5080">
              <a:lnSpc>
                <a:spcPct val="120000"/>
              </a:lnSpc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Idea:</a:t>
            </a:r>
            <a:r>
              <a:rPr sz="2000" b="1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Pick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k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not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too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large,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but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not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too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small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(depends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on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data) </a:t>
            </a:r>
            <a:r>
              <a:rPr sz="2000" spc="-20" dirty="0">
                <a:latin typeface="Segoe Print"/>
                <a:cs typeface="Segoe Print"/>
              </a:rPr>
              <a:t>How?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10215245" cy="451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Choice</a:t>
            </a:r>
            <a:r>
              <a:rPr sz="24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k:</a:t>
            </a:r>
            <a:endParaRPr sz="2400">
              <a:latin typeface="Calibri"/>
              <a:cs typeface="Calibri"/>
            </a:endParaRPr>
          </a:p>
          <a:p>
            <a:pPr marL="572770" indent="-342900">
              <a:lnSpc>
                <a:spcPct val="100000"/>
              </a:lnSpc>
              <a:spcBef>
                <a:spcPts val="2225"/>
              </a:spcBef>
              <a:buChar char="-"/>
              <a:tabLst>
                <a:tab pos="572770" algn="l"/>
              </a:tabLst>
            </a:pPr>
            <a:r>
              <a:rPr sz="2000" dirty="0">
                <a:latin typeface="Segoe Print"/>
                <a:cs typeface="Segoe Print"/>
              </a:rPr>
              <a:t>Learn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best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hyper-</a:t>
            </a:r>
            <a:r>
              <a:rPr sz="2000" dirty="0">
                <a:latin typeface="Segoe Print"/>
                <a:cs typeface="Segoe Print"/>
              </a:rPr>
              <a:t>parameter,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k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using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data.</a:t>
            </a:r>
            <a:endParaRPr sz="2000">
              <a:latin typeface="Segoe Print"/>
              <a:cs typeface="Segoe Print"/>
            </a:endParaRPr>
          </a:p>
          <a:p>
            <a:pPr marL="572770" indent="-342900">
              <a:lnSpc>
                <a:spcPct val="100000"/>
              </a:lnSpc>
              <a:spcBef>
                <a:spcPts val="3354"/>
              </a:spcBef>
              <a:buChar char="-"/>
              <a:tabLst>
                <a:tab pos="572770" algn="l"/>
              </a:tabLst>
            </a:pPr>
            <a:r>
              <a:rPr sz="2000" dirty="0">
                <a:latin typeface="Segoe Print"/>
                <a:cs typeface="Segoe Print"/>
              </a:rPr>
              <a:t>Split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data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into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training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and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validation.</a:t>
            </a:r>
            <a:endParaRPr sz="2000">
              <a:latin typeface="Segoe Print"/>
              <a:cs typeface="Segoe Print"/>
            </a:endParaRPr>
          </a:p>
          <a:p>
            <a:pPr marL="572770" marR="5080" indent="-342900">
              <a:lnSpc>
                <a:spcPct val="100000"/>
              </a:lnSpc>
              <a:spcBef>
                <a:spcPts val="3360"/>
              </a:spcBef>
              <a:buChar char="-"/>
              <a:tabLst>
                <a:tab pos="572770" algn="l"/>
              </a:tabLst>
            </a:pPr>
            <a:r>
              <a:rPr sz="2000" dirty="0">
                <a:latin typeface="Segoe Print"/>
                <a:cs typeface="Segoe Print"/>
              </a:rPr>
              <a:t>Start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from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k=1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and</a:t>
            </a:r>
            <a:r>
              <a:rPr sz="2000" spc="-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keep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iterating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by</a:t>
            </a:r>
            <a:r>
              <a:rPr sz="2000" spc="-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carrying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out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(5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or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10, for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example) cross-</a:t>
            </a:r>
            <a:r>
              <a:rPr sz="2000" dirty="0">
                <a:latin typeface="Segoe Print"/>
                <a:cs typeface="Segoe Print"/>
              </a:rPr>
              <a:t>validation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and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computing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loss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on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validation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data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using</a:t>
            </a:r>
            <a:r>
              <a:rPr sz="2000" spc="-25" dirty="0">
                <a:latin typeface="Segoe Print"/>
                <a:cs typeface="Segoe Print"/>
              </a:rPr>
              <a:t> the </a:t>
            </a:r>
            <a:r>
              <a:rPr sz="2000" dirty="0">
                <a:latin typeface="Segoe Print"/>
                <a:cs typeface="Segoe Print"/>
              </a:rPr>
              <a:t>training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spc="-20" dirty="0">
                <a:latin typeface="Segoe Print"/>
                <a:cs typeface="Segoe Print"/>
              </a:rPr>
              <a:t>data.</a:t>
            </a:r>
            <a:endParaRPr sz="2000">
              <a:latin typeface="Segoe Print"/>
              <a:cs typeface="Segoe Print"/>
            </a:endParaRPr>
          </a:p>
          <a:p>
            <a:pPr marL="572770" indent="-342900">
              <a:lnSpc>
                <a:spcPct val="100000"/>
              </a:lnSpc>
              <a:spcBef>
                <a:spcPts val="3365"/>
              </a:spcBef>
              <a:buChar char="-"/>
              <a:tabLst>
                <a:tab pos="572770" algn="l"/>
              </a:tabLst>
            </a:pPr>
            <a:r>
              <a:rPr sz="2000" dirty="0">
                <a:latin typeface="Segoe Print"/>
                <a:cs typeface="Segoe Print"/>
              </a:rPr>
              <a:t>Choose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value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for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k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that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minimizes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validation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loss.</a:t>
            </a:r>
            <a:endParaRPr sz="2000">
              <a:latin typeface="Segoe Print"/>
              <a:cs typeface="Segoe Print"/>
            </a:endParaRPr>
          </a:p>
          <a:p>
            <a:pPr marL="572770" indent="-342900">
              <a:lnSpc>
                <a:spcPct val="100000"/>
              </a:lnSpc>
              <a:spcBef>
                <a:spcPts val="3360"/>
              </a:spcBef>
              <a:buChar char="-"/>
              <a:tabLst>
                <a:tab pos="572770" algn="l"/>
              </a:tabLst>
            </a:pPr>
            <a:r>
              <a:rPr sz="2000" dirty="0">
                <a:latin typeface="Segoe Print"/>
                <a:cs typeface="Segoe Print"/>
              </a:rPr>
              <a:t>This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only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learning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required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for</a:t>
            </a:r>
            <a:r>
              <a:rPr sz="2000" spc="-65" dirty="0">
                <a:latin typeface="Segoe Print"/>
                <a:cs typeface="Segoe Print"/>
              </a:rPr>
              <a:t> </a:t>
            </a:r>
            <a:r>
              <a:rPr sz="2000" spc="-20" dirty="0">
                <a:latin typeface="Segoe Print"/>
                <a:cs typeface="Segoe Print"/>
              </a:rPr>
              <a:t>kNN.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Segoe Print"/>
              <a:buChar char="-"/>
              <a:tabLst>
                <a:tab pos="355600" algn="l"/>
              </a:tabLst>
            </a:pPr>
            <a:r>
              <a:rPr spc="-20" dirty="0"/>
              <a:t>k-</a:t>
            </a:r>
            <a:r>
              <a:rPr dirty="0"/>
              <a:t>Nearest</a:t>
            </a:r>
            <a:r>
              <a:rPr spc="-75" dirty="0"/>
              <a:t> </a:t>
            </a:r>
            <a:r>
              <a:rPr dirty="0"/>
              <a:t>Neighbor</a:t>
            </a:r>
            <a:r>
              <a:rPr spc="-80" dirty="0"/>
              <a:t> </a:t>
            </a:r>
            <a:r>
              <a:rPr dirty="0"/>
              <a:t>(kNN)</a:t>
            </a:r>
            <a:r>
              <a:rPr spc="-90" dirty="0"/>
              <a:t> </a:t>
            </a:r>
            <a:r>
              <a:rPr dirty="0"/>
              <a:t>Algroithm</a:t>
            </a:r>
            <a:r>
              <a:rPr spc="-85" dirty="0"/>
              <a:t> </a:t>
            </a:r>
            <a:r>
              <a:rPr spc="-10" dirty="0"/>
              <a:t>Overview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Algorithm</a:t>
            </a:r>
            <a:r>
              <a:rPr spc="-70" dirty="0"/>
              <a:t> </a:t>
            </a:r>
            <a:r>
              <a:rPr spc="-10" dirty="0"/>
              <a:t>Formulation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Distance</a:t>
            </a:r>
            <a:r>
              <a:rPr spc="-45" dirty="0"/>
              <a:t> </a:t>
            </a:r>
            <a:r>
              <a:rPr spc="-10" dirty="0"/>
              <a:t>Metrics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Choice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k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Segoe Print"/>
              <a:buChar char="-"/>
              <a:tabLst>
                <a:tab pos="355600" algn="l"/>
              </a:tabLst>
            </a:pP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Algorithm</a:t>
            </a:r>
            <a:r>
              <a:rPr b="1" spc="-5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b="1" spc="-10" dirty="0">
                <a:solidFill>
                  <a:srgbClr val="C00000"/>
                </a:solidFill>
                <a:latin typeface="Segoe Print"/>
                <a:cs typeface="Segoe Print"/>
              </a:rPr>
              <a:t>Convergence</a:t>
            </a: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355600" algn="l"/>
              </a:tabLst>
            </a:pPr>
            <a:r>
              <a:rPr dirty="0"/>
              <a:t>Storage,</a:t>
            </a:r>
            <a:r>
              <a:rPr spc="-35" dirty="0"/>
              <a:t> </a:t>
            </a:r>
            <a:r>
              <a:rPr dirty="0"/>
              <a:t>Time</a:t>
            </a:r>
            <a:r>
              <a:rPr spc="-55" dirty="0"/>
              <a:t> </a:t>
            </a:r>
            <a:r>
              <a:rPr dirty="0"/>
              <a:t>Complexity</a:t>
            </a:r>
            <a:r>
              <a:rPr spc="-65" dirty="0"/>
              <a:t> </a:t>
            </a:r>
            <a:r>
              <a:rPr spc="-10" dirty="0"/>
              <a:t>Analysis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Fast </a:t>
            </a:r>
            <a:r>
              <a:rPr spc="-25" dirty="0"/>
              <a:t>kNN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Curse</a:t>
            </a:r>
            <a:r>
              <a:rPr spc="-25" dirty="0"/>
              <a:t> </a:t>
            </a:r>
            <a:r>
              <a:rPr dirty="0"/>
              <a:t>of</a:t>
            </a:r>
            <a:r>
              <a:rPr spc="-10" dirty="0"/>
              <a:t> Dimensionality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35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876" y="-40946"/>
            <a:ext cx="9307830" cy="101473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378075">
              <a:lnSpc>
                <a:spcPct val="100000"/>
              </a:lnSpc>
              <a:spcBef>
                <a:spcPts val="455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Error</a:t>
            </a:r>
            <a:r>
              <a:rPr sz="2400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Convergence: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04" y="2525267"/>
            <a:ext cx="10463784" cy="5821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704" y="1592580"/>
            <a:ext cx="7322820" cy="277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704" y="3749040"/>
            <a:ext cx="10454640" cy="6355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551" y="722121"/>
            <a:ext cx="2250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Learning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88" y="1389888"/>
            <a:ext cx="5305044" cy="2727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1632" y="2177795"/>
            <a:ext cx="6185916" cy="33527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80059" y="3363467"/>
            <a:ext cx="10462260" cy="1744980"/>
            <a:chOff x="480059" y="3363467"/>
            <a:chExt cx="10462260" cy="174498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59" y="3363467"/>
              <a:ext cx="10462260" cy="17449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561069" y="4348733"/>
              <a:ext cx="1556385" cy="485140"/>
            </a:xfrm>
            <a:custGeom>
              <a:avLst/>
              <a:gdLst/>
              <a:ahLst/>
              <a:cxnLst/>
              <a:rect l="l" t="t" r="r" b="b"/>
              <a:pathLst>
                <a:path w="1556384" h="485139">
                  <a:moveTo>
                    <a:pt x="0" y="484631"/>
                  </a:moveTo>
                  <a:lnTo>
                    <a:pt x="1556003" y="484631"/>
                  </a:lnTo>
                  <a:lnTo>
                    <a:pt x="1556003" y="0"/>
                  </a:lnTo>
                  <a:lnTo>
                    <a:pt x="0" y="0"/>
                  </a:lnTo>
                  <a:lnTo>
                    <a:pt x="0" y="484631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-40946"/>
            <a:ext cx="9307830" cy="101473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378075">
              <a:lnSpc>
                <a:spcPct val="100000"/>
              </a:lnSpc>
              <a:spcBef>
                <a:spcPts val="455"/>
              </a:spcBef>
            </a:pP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k-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Nearest</a:t>
            </a:r>
            <a:r>
              <a:rPr sz="3600" b="1" spc="-1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Neighbor</a:t>
            </a:r>
            <a:r>
              <a:rPr sz="3600" b="1" spc="-11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(kNN)</a:t>
            </a:r>
            <a:r>
              <a:rPr sz="3600" b="1" spc="-1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Algorithm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Bayes</a:t>
            </a:r>
            <a:r>
              <a:rPr sz="2400" b="1" u="sng" spc="-11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Optimal</a:t>
            </a:r>
            <a:r>
              <a:rPr sz="2400" b="1" u="sng" spc="-11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Classifier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" y="1351788"/>
            <a:ext cx="10454640" cy="5958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120" y="2410967"/>
            <a:ext cx="3183635" cy="455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7179" y="3939540"/>
            <a:ext cx="8531352" cy="9707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8876" y="3354070"/>
            <a:ext cx="1386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Error</a:t>
            </a:r>
            <a:r>
              <a:rPr sz="24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Rate: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876" y="-40946"/>
            <a:ext cx="9307830" cy="101473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378075">
              <a:lnSpc>
                <a:spcPct val="100000"/>
              </a:lnSpc>
              <a:spcBef>
                <a:spcPts val="455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Error</a:t>
            </a:r>
            <a:r>
              <a:rPr sz="2400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Convergence: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176398" y="6321653"/>
            <a:ext cx="6241415" cy="35560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185"/>
              </a:spcBef>
            </a:pP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Reference:</a:t>
            </a:r>
            <a:r>
              <a:rPr sz="1100" b="1" spc="-7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Cover,</a:t>
            </a:r>
            <a:r>
              <a:rPr sz="11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Thomas,</a:t>
            </a:r>
            <a:r>
              <a:rPr sz="11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and,</a:t>
            </a:r>
            <a:r>
              <a:rPr sz="11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Hart,</a:t>
            </a:r>
            <a:r>
              <a:rPr sz="11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Peter.</a:t>
            </a:r>
            <a:r>
              <a:rPr sz="11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Nearest</a:t>
            </a:r>
            <a:r>
              <a:rPr sz="1100" b="1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neighbor</a:t>
            </a:r>
            <a:r>
              <a:rPr sz="11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solidFill>
                  <a:srgbClr val="333333"/>
                </a:solidFill>
                <a:latin typeface="Verdana"/>
                <a:cs typeface="Verdana"/>
              </a:rPr>
              <a:t>pattern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classification[J].</a:t>
            </a:r>
            <a:r>
              <a:rPr sz="11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IEEE</a:t>
            </a:r>
            <a:r>
              <a:rPr sz="1100" b="1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Transactions</a:t>
            </a:r>
            <a:r>
              <a:rPr sz="1100" b="1" spc="-5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sz="11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Information</a:t>
            </a:r>
            <a:r>
              <a:rPr sz="1100" b="1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Theory,</a:t>
            </a:r>
            <a:r>
              <a:rPr sz="1100" b="1" spc="-6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1967,</a:t>
            </a:r>
            <a:r>
              <a:rPr sz="110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333333"/>
                </a:solidFill>
                <a:latin typeface="Verdana"/>
                <a:cs typeface="Verdana"/>
              </a:rPr>
              <a:t>13(1):</a:t>
            </a:r>
            <a:r>
              <a:rPr sz="11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100" b="1" spc="-40" dirty="0">
                <a:solidFill>
                  <a:srgbClr val="333333"/>
                </a:solidFill>
                <a:latin typeface="Verdana"/>
                <a:cs typeface="Verdana"/>
              </a:rPr>
              <a:t>21-</a:t>
            </a:r>
            <a:r>
              <a:rPr sz="1100" b="1" spc="-25" dirty="0">
                <a:solidFill>
                  <a:srgbClr val="333333"/>
                </a:solidFill>
                <a:latin typeface="Verdana"/>
                <a:cs typeface="Verdana"/>
              </a:rPr>
              <a:t>27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1" y="1379219"/>
            <a:ext cx="7766304" cy="2209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091" y="2194560"/>
            <a:ext cx="9506712" cy="2758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091" y="2976372"/>
            <a:ext cx="7487411" cy="10835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8876" y="4348683"/>
            <a:ext cx="13868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Error</a:t>
            </a:r>
            <a:r>
              <a:rPr sz="24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Rate: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891" y="5010911"/>
            <a:ext cx="10465308" cy="6400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-40946"/>
            <a:ext cx="9307830" cy="101473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378075">
              <a:lnSpc>
                <a:spcPct val="100000"/>
              </a:lnSpc>
              <a:spcBef>
                <a:spcPts val="455"/>
              </a:spcBef>
            </a:pP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k-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Nearest</a:t>
            </a:r>
            <a:r>
              <a:rPr sz="3600" b="1" spc="-1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Neighbor</a:t>
            </a:r>
            <a:r>
              <a:rPr sz="3600" b="1" spc="-11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(kNN)</a:t>
            </a:r>
            <a:r>
              <a:rPr sz="3600" b="1" spc="-1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Algorithm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Error</a:t>
            </a:r>
            <a:r>
              <a:rPr sz="2400" b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Convergence: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276" y="3954526"/>
            <a:ext cx="1386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Error</a:t>
            </a:r>
            <a:r>
              <a:rPr sz="24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Rate: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3964" y="1711451"/>
            <a:ext cx="2993136" cy="3642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1179575"/>
            <a:ext cx="9677400" cy="2773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3964" y="3454908"/>
            <a:ext cx="2993136" cy="3642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2231" y="2869692"/>
            <a:ext cx="8738616" cy="2773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5175" y="4613147"/>
            <a:ext cx="10483596" cy="1351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582548"/>
            <a:ext cx="2675255" cy="1038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Error</a:t>
            </a:r>
            <a:r>
              <a:rPr sz="2400" b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Convergence: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Bound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Error</a:t>
            </a:r>
            <a:r>
              <a:rPr sz="24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Rate: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40" y="1882139"/>
            <a:ext cx="7312152" cy="3642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559" y="3622547"/>
            <a:ext cx="6560820" cy="6797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9140" y="2513076"/>
            <a:ext cx="7082028" cy="7574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33215" y="4550664"/>
            <a:ext cx="2699004" cy="3642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25940" y="4427220"/>
            <a:ext cx="2427731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33215" y="5215128"/>
            <a:ext cx="2831591" cy="2910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73935" y="6109715"/>
            <a:ext cx="9383267" cy="2758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Segoe Print"/>
              <a:buChar char="-"/>
              <a:tabLst>
                <a:tab pos="355600" algn="l"/>
              </a:tabLst>
            </a:pPr>
            <a:r>
              <a:rPr spc="-20" dirty="0"/>
              <a:t>k-</a:t>
            </a:r>
            <a:r>
              <a:rPr dirty="0"/>
              <a:t>Nearest</a:t>
            </a:r>
            <a:r>
              <a:rPr spc="-75" dirty="0"/>
              <a:t> </a:t>
            </a:r>
            <a:r>
              <a:rPr dirty="0"/>
              <a:t>Neighbor</a:t>
            </a:r>
            <a:r>
              <a:rPr spc="-80" dirty="0"/>
              <a:t> </a:t>
            </a:r>
            <a:r>
              <a:rPr dirty="0"/>
              <a:t>(kNN)</a:t>
            </a:r>
            <a:r>
              <a:rPr spc="-90" dirty="0"/>
              <a:t> </a:t>
            </a:r>
            <a:r>
              <a:rPr dirty="0"/>
              <a:t>Algroithm</a:t>
            </a:r>
            <a:r>
              <a:rPr spc="-85" dirty="0"/>
              <a:t> </a:t>
            </a:r>
            <a:r>
              <a:rPr spc="-10" dirty="0"/>
              <a:t>Overview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Algorithm</a:t>
            </a:r>
            <a:r>
              <a:rPr spc="-70" dirty="0"/>
              <a:t> </a:t>
            </a:r>
            <a:r>
              <a:rPr spc="-10" dirty="0"/>
              <a:t>Formulation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Distance</a:t>
            </a:r>
            <a:r>
              <a:rPr spc="-45" dirty="0"/>
              <a:t> </a:t>
            </a:r>
            <a:r>
              <a:rPr spc="-10" dirty="0"/>
              <a:t>Metrics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Choice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k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Algorithm</a:t>
            </a:r>
            <a:r>
              <a:rPr spc="-15" dirty="0"/>
              <a:t> </a:t>
            </a:r>
            <a:r>
              <a:rPr spc="-10" dirty="0"/>
              <a:t>Convergence</a:t>
            </a: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Font typeface="Segoe Print"/>
              <a:buChar char="-"/>
              <a:tabLst>
                <a:tab pos="355600" algn="l"/>
              </a:tabLst>
            </a:pP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Storage,</a:t>
            </a:r>
            <a:r>
              <a:rPr b="1" spc="-6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Time</a:t>
            </a:r>
            <a:r>
              <a:rPr b="1" spc="-6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Complexity</a:t>
            </a:r>
            <a:r>
              <a:rPr b="1" spc="-5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b="1" spc="-10" dirty="0">
                <a:solidFill>
                  <a:srgbClr val="C00000"/>
                </a:solidFill>
                <a:latin typeface="Segoe Print"/>
                <a:cs typeface="Segoe Print"/>
              </a:rPr>
              <a:t>Analysis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Fast </a:t>
            </a:r>
            <a:r>
              <a:rPr spc="-25" dirty="0"/>
              <a:t>kNN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Curse</a:t>
            </a:r>
            <a:r>
              <a:rPr spc="-25" dirty="0"/>
              <a:t> </a:t>
            </a:r>
            <a:r>
              <a:rPr dirty="0"/>
              <a:t>of</a:t>
            </a:r>
            <a:r>
              <a:rPr spc="-10" dirty="0"/>
              <a:t> Dimensionality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35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708" y="3759"/>
            <a:ext cx="69424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876" y="392302"/>
            <a:ext cx="639381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2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Algorithm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Computational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and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Storage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Complexity: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Input/Output: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1734311"/>
            <a:ext cx="8939784" cy="2758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8876" y="2641168"/>
            <a:ext cx="7943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Steps: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036" y="2228088"/>
            <a:ext cx="4107179" cy="2209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240" y="3195827"/>
            <a:ext cx="8654796" cy="11445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240" y="4847844"/>
            <a:ext cx="9198864" cy="11399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582548"/>
            <a:ext cx="1374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Algorithm: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3727" y="1748408"/>
            <a:ext cx="10545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1.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	Find</a:t>
            </a:r>
            <a:r>
              <a:rPr sz="2000" spc="-3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distance</a:t>
            </a:r>
            <a:r>
              <a:rPr sz="2000" spc="-1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between</a:t>
            </a:r>
            <a:r>
              <a:rPr sz="2000" spc="-4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given</a:t>
            </a:r>
            <a:r>
              <a:rPr sz="2000" spc="-3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test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point</a:t>
            </a:r>
            <a:r>
              <a:rPr sz="2000" spc="-4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and</a:t>
            </a:r>
            <a:r>
              <a:rPr sz="2000" spc="-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feature</a:t>
            </a:r>
            <a:r>
              <a:rPr sz="2000" spc="-3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vector</a:t>
            </a:r>
            <a:r>
              <a:rPr sz="2000" spc="-3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of</a:t>
            </a:r>
            <a:r>
              <a:rPr sz="2000" spc="-3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every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point</a:t>
            </a:r>
            <a:r>
              <a:rPr sz="2000" spc="-4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in</a:t>
            </a:r>
            <a:r>
              <a:rPr sz="2000" spc="-1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D.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8327" y="2846070"/>
            <a:ext cx="9918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90220" algn="l"/>
              </a:tabLst>
            </a:pP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2.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	Find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k points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in</a:t>
            </a:r>
            <a:r>
              <a:rPr sz="2000" spc="-1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D</a:t>
            </a:r>
            <a:r>
              <a:rPr sz="2000" spc="-1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closest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to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the</a:t>
            </a:r>
            <a:r>
              <a:rPr sz="2000" spc="-1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given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test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point</a:t>
            </a:r>
            <a:r>
              <a:rPr sz="2000" spc="-3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vector</a:t>
            </a:r>
            <a:r>
              <a:rPr sz="2000" spc="-4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to</a:t>
            </a:r>
            <a:r>
              <a:rPr sz="2000" spc="-1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form</a:t>
            </a:r>
            <a:r>
              <a:rPr sz="2000" spc="-3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a</a:t>
            </a:r>
            <a:r>
              <a:rPr sz="2000" spc="-1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set</a:t>
            </a:r>
            <a:r>
              <a:rPr sz="2000" spc="-2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S</a:t>
            </a:r>
            <a:r>
              <a:rPr sz="1950" spc="-37" baseline="-21367" dirty="0">
                <a:solidFill>
                  <a:srgbClr val="006FC0"/>
                </a:solidFill>
                <a:latin typeface="Segoe Print"/>
                <a:cs typeface="Segoe Print"/>
              </a:rPr>
              <a:t>X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.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876" y="1151890"/>
            <a:ext cx="793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Steps: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4992" y="2307335"/>
            <a:ext cx="778764" cy="304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863" y="2340864"/>
            <a:ext cx="8909304" cy="2301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42450" y="1256791"/>
            <a:ext cx="2556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Computational</a:t>
            </a:r>
            <a:r>
              <a:rPr sz="1800" b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Complexity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004" y="3317747"/>
            <a:ext cx="7138250" cy="2301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84992" y="3317747"/>
            <a:ext cx="623316" cy="304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4004" y="3745991"/>
            <a:ext cx="8330044" cy="2270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77371" y="3710940"/>
            <a:ext cx="623316" cy="3063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77371" y="4398264"/>
            <a:ext cx="608076" cy="3048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0332" y="5053584"/>
            <a:ext cx="780288" cy="30632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25627" y="4309364"/>
            <a:ext cx="9883775" cy="156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02920" algn="l"/>
              </a:tabLst>
            </a:pP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3.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	Find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the</a:t>
            </a:r>
            <a:r>
              <a:rPr sz="2000" spc="-1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most</a:t>
            </a:r>
            <a:r>
              <a:rPr sz="2000" spc="-3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frequent</a:t>
            </a:r>
            <a:r>
              <a:rPr sz="2000" spc="-3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label</a:t>
            </a:r>
            <a:r>
              <a:rPr sz="2000" spc="-1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in</a:t>
            </a:r>
            <a:r>
              <a:rPr sz="2000" spc="-1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the</a:t>
            </a:r>
            <a:r>
              <a:rPr sz="2000" spc="-3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set</a:t>
            </a:r>
            <a:r>
              <a:rPr sz="2000" spc="-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S</a:t>
            </a:r>
            <a:r>
              <a:rPr sz="1950" baseline="-21367" dirty="0">
                <a:solidFill>
                  <a:srgbClr val="006FC0"/>
                </a:solidFill>
                <a:latin typeface="Segoe Print"/>
                <a:cs typeface="Segoe Print"/>
              </a:rPr>
              <a:t>x</a:t>
            </a:r>
            <a:r>
              <a:rPr sz="1950" spc="-15" baseline="-21367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and</a:t>
            </a:r>
            <a:r>
              <a:rPr sz="2000" spc="-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assign</a:t>
            </a:r>
            <a:r>
              <a:rPr sz="2000" spc="-3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it</a:t>
            </a:r>
            <a:r>
              <a:rPr sz="2000" spc="-1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to</a:t>
            </a:r>
            <a:r>
              <a:rPr sz="2000" spc="-1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the</a:t>
            </a:r>
            <a:r>
              <a:rPr sz="2000" spc="-20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6FC0"/>
                </a:solidFill>
                <a:latin typeface="Segoe Print"/>
                <a:cs typeface="Segoe Print"/>
              </a:rPr>
              <a:t>test</a:t>
            </a:r>
            <a:r>
              <a:rPr sz="2000" spc="-2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Segoe Print"/>
                <a:cs typeface="Segoe Print"/>
              </a:rPr>
              <a:t>point.</a:t>
            </a:r>
            <a:endParaRPr sz="2000">
              <a:latin typeface="Segoe Print"/>
              <a:cs typeface="Segoe Print"/>
            </a:endParaRPr>
          </a:p>
          <a:p>
            <a:pPr marL="50800" marR="6360795">
              <a:lnSpc>
                <a:spcPct val="148300"/>
              </a:lnSpc>
              <a:spcBef>
                <a:spcPts val="114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Computational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Complexity: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Space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Complexity: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0332" y="5596128"/>
            <a:ext cx="780288" cy="306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35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Char char="-"/>
              <a:tabLst>
                <a:tab pos="355600" algn="l"/>
              </a:tabLst>
            </a:pPr>
            <a:r>
              <a:rPr spc="-20" dirty="0"/>
              <a:t>k-</a:t>
            </a:r>
            <a:r>
              <a:rPr dirty="0"/>
              <a:t>Nearest</a:t>
            </a:r>
            <a:r>
              <a:rPr spc="-75" dirty="0"/>
              <a:t> </a:t>
            </a:r>
            <a:r>
              <a:rPr dirty="0"/>
              <a:t>Neighbor</a:t>
            </a:r>
            <a:r>
              <a:rPr spc="-80" dirty="0"/>
              <a:t> </a:t>
            </a:r>
            <a:r>
              <a:rPr dirty="0"/>
              <a:t>(kNN)</a:t>
            </a:r>
            <a:r>
              <a:rPr spc="-90" dirty="0"/>
              <a:t> </a:t>
            </a:r>
            <a:r>
              <a:rPr dirty="0"/>
              <a:t>Algroithm</a:t>
            </a:r>
            <a:r>
              <a:rPr spc="-85" dirty="0"/>
              <a:t> </a:t>
            </a:r>
            <a:r>
              <a:rPr spc="-10" dirty="0"/>
              <a:t>Overview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Algorithm</a:t>
            </a:r>
            <a:r>
              <a:rPr spc="-70" dirty="0"/>
              <a:t> </a:t>
            </a:r>
            <a:r>
              <a:rPr spc="-10" dirty="0"/>
              <a:t>Formulation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Distance</a:t>
            </a:r>
            <a:r>
              <a:rPr spc="-45" dirty="0"/>
              <a:t> </a:t>
            </a:r>
            <a:r>
              <a:rPr spc="-10" dirty="0"/>
              <a:t>Metrics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Choice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k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Algorithm</a:t>
            </a:r>
            <a:r>
              <a:rPr spc="-15" dirty="0"/>
              <a:t> </a:t>
            </a:r>
            <a:r>
              <a:rPr spc="-10" dirty="0"/>
              <a:t>Convergence</a:t>
            </a: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355600" algn="l"/>
              </a:tabLst>
            </a:pPr>
            <a:r>
              <a:rPr dirty="0"/>
              <a:t>Storage,</a:t>
            </a:r>
            <a:r>
              <a:rPr spc="-35" dirty="0"/>
              <a:t> </a:t>
            </a:r>
            <a:r>
              <a:rPr dirty="0"/>
              <a:t>Time</a:t>
            </a:r>
            <a:r>
              <a:rPr spc="-55" dirty="0"/>
              <a:t> </a:t>
            </a:r>
            <a:r>
              <a:rPr dirty="0"/>
              <a:t>Complexity</a:t>
            </a:r>
            <a:r>
              <a:rPr spc="-65" dirty="0"/>
              <a:t> </a:t>
            </a:r>
            <a:r>
              <a:rPr spc="-10" dirty="0"/>
              <a:t>Analysis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Segoe Print"/>
              <a:buChar char="-"/>
              <a:tabLst>
                <a:tab pos="355600" algn="l"/>
              </a:tabLst>
            </a:pP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Fast</a:t>
            </a:r>
            <a:r>
              <a:rPr b="1" spc="-25" dirty="0">
                <a:solidFill>
                  <a:srgbClr val="C00000"/>
                </a:solidFill>
                <a:latin typeface="Segoe Print"/>
                <a:cs typeface="Segoe Print"/>
              </a:rPr>
              <a:t> kNN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Curse</a:t>
            </a:r>
            <a:r>
              <a:rPr spc="-25" dirty="0"/>
              <a:t> </a:t>
            </a:r>
            <a:r>
              <a:rPr dirty="0"/>
              <a:t>of</a:t>
            </a:r>
            <a:r>
              <a:rPr spc="-10" dirty="0"/>
              <a:t> Dimensionality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787" y="582548"/>
            <a:ext cx="7983220" cy="542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Fast</a:t>
            </a:r>
            <a:r>
              <a:rPr sz="2400" b="1" u="sng" spc="-1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kNN: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14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kNN</a:t>
            </a:r>
            <a:r>
              <a:rPr sz="2400" spc="-7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Computational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complexity:</a:t>
            </a:r>
            <a:r>
              <a:rPr sz="2400" spc="-7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O(nd)</a:t>
            </a:r>
            <a:endParaRPr sz="2400">
              <a:latin typeface="Segoe Print"/>
              <a:cs typeface="Segoe Print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buFont typeface="Segoe Print"/>
              <a:buChar char="-"/>
            </a:pP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How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make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it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faster?</a:t>
            </a: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Dimensionality</a:t>
            </a:r>
            <a:r>
              <a:rPr sz="2400" spc="-1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Reduction</a:t>
            </a:r>
            <a:endParaRPr sz="2400">
              <a:latin typeface="Segoe Print"/>
              <a:cs typeface="Segoe Print"/>
            </a:endParaRPr>
          </a:p>
          <a:p>
            <a:pPr marL="1270000" lvl="2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1270000" algn="l"/>
              </a:tabLst>
            </a:pPr>
            <a:r>
              <a:rPr sz="2400" dirty="0">
                <a:latin typeface="Segoe Print"/>
                <a:cs typeface="Segoe Print"/>
              </a:rPr>
              <a:t>Feature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Selection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(to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be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covered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later)</a:t>
            </a:r>
            <a:endParaRPr sz="2400">
              <a:latin typeface="Segoe Print"/>
              <a:cs typeface="Segoe Print"/>
            </a:endParaRPr>
          </a:p>
          <a:p>
            <a:pPr marL="1270000" lvl="2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1270000" algn="l"/>
              </a:tabLst>
            </a:pPr>
            <a:r>
              <a:rPr sz="2400" dirty="0">
                <a:latin typeface="Segoe Print"/>
                <a:cs typeface="Segoe Print"/>
              </a:rPr>
              <a:t>PCA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(to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be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covered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later)</a:t>
            </a:r>
            <a:endParaRPr sz="2400">
              <a:latin typeface="Segoe Print"/>
              <a:cs typeface="Segoe Print"/>
            </a:endParaRPr>
          </a:p>
          <a:p>
            <a:pPr lvl="2">
              <a:lnSpc>
                <a:spcPct val="100000"/>
              </a:lnSpc>
              <a:spcBef>
                <a:spcPts val="1525"/>
              </a:spcBef>
              <a:buFont typeface="Segoe Print"/>
              <a:buChar char="-"/>
            </a:pP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Use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efficient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method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find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nearest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neighbors</a:t>
            </a:r>
            <a:endParaRPr sz="2400">
              <a:latin typeface="Segoe Print"/>
              <a:cs typeface="Segoe Print"/>
            </a:endParaRPr>
          </a:p>
          <a:p>
            <a:pPr marL="1270000" lvl="2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1270000" algn="l"/>
              </a:tabLst>
            </a:pPr>
            <a:r>
              <a:rPr sz="2400" dirty="0">
                <a:latin typeface="Segoe Print"/>
                <a:cs typeface="Segoe Print"/>
              </a:rPr>
              <a:t>KD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Tree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787" y="582548"/>
            <a:ext cx="11275695" cy="552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</a:t>
            </a:r>
            <a:r>
              <a:rPr sz="2400" b="1" u="sng" spc="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Tree: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20"/>
              </a:spcBef>
              <a:buChar char="-"/>
              <a:tabLst>
                <a:tab pos="355600" algn="l"/>
              </a:tabLst>
            </a:pPr>
            <a:r>
              <a:rPr sz="2000" spc="-20" dirty="0">
                <a:latin typeface="Segoe Print"/>
                <a:cs typeface="Segoe Print"/>
              </a:rPr>
              <a:t>k-</a:t>
            </a:r>
            <a:r>
              <a:rPr sz="2000" dirty="0">
                <a:latin typeface="Segoe Print"/>
                <a:cs typeface="Segoe Print"/>
              </a:rPr>
              <a:t>Dimensional</a:t>
            </a:r>
            <a:r>
              <a:rPr sz="2000" spc="-80" dirty="0">
                <a:latin typeface="Segoe Print"/>
                <a:cs typeface="Segoe Print"/>
              </a:rPr>
              <a:t> </a:t>
            </a:r>
            <a:r>
              <a:rPr sz="2000" spc="-20" dirty="0">
                <a:latin typeface="Segoe Print"/>
                <a:cs typeface="Segoe Print"/>
              </a:rPr>
              <a:t>tree</a:t>
            </a:r>
            <a:endParaRPr sz="20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812800" algn="l"/>
              </a:tabLst>
            </a:pPr>
            <a:r>
              <a:rPr sz="2000" dirty="0">
                <a:latin typeface="Segoe Print"/>
                <a:cs typeface="Segoe Print"/>
              </a:rPr>
              <a:t>Extended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version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binary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search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tree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in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higher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dimension</a:t>
            </a:r>
            <a:endParaRPr sz="2000">
              <a:latin typeface="Segoe Print"/>
              <a:cs typeface="Segoe Print"/>
            </a:endParaRPr>
          </a:p>
          <a:p>
            <a:pPr lvl="1">
              <a:lnSpc>
                <a:spcPct val="100000"/>
              </a:lnSpc>
              <a:spcBef>
                <a:spcPts val="1270"/>
              </a:spcBef>
              <a:buFont typeface="Segoe Print"/>
              <a:buChar char="-"/>
            </a:pPr>
            <a:endParaRPr sz="20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buChar char="-"/>
              <a:tabLst>
                <a:tab pos="355600" algn="l"/>
              </a:tabLst>
            </a:pPr>
            <a:r>
              <a:rPr sz="2000" dirty="0">
                <a:latin typeface="Segoe Print"/>
                <a:cs typeface="Segoe Print"/>
              </a:rPr>
              <a:t>Pick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splitting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dimension</a:t>
            </a:r>
            <a:endParaRPr sz="20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812800" algn="l"/>
              </a:tabLst>
            </a:pPr>
            <a:r>
              <a:rPr sz="2000" spc="-10" dirty="0">
                <a:latin typeface="Segoe Print"/>
                <a:cs typeface="Segoe Print"/>
              </a:rPr>
              <a:t>Randomly</a:t>
            </a:r>
            <a:endParaRPr sz="20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812800" algn="l"/>
              </a:tabLst>
            </a:pPr>
            <a:r>
              <a:rPr sz="2000" dirty="0">
                <a:latin typeface="Segoe Print"/>
                <a:cs typeface="Segoe Print"/>
              </a:rPr>
              <a:t>Large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variance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dimension</a:t>
            </a:r>
            <a:endParaRPr sz="2000">
              <a:latin typeface="Segoe Print"/>
              <a:cs typeface="Segoe Print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Font typeface="Segoe Print"/>
              <a:buChar char="-"/>
            </a:pPr>
            <a:endParaRPr sz="2000">
              <a:latin typeface="Segoe Print"/>
              <a:cs typeface="Segoe Print"/>
            </a:endParaRPr>
          </a:p>
          <a:p>
            <a:pPr marL="355600" marR="5080" indent="-343535">
              <a:lnSpc>
                <a:spcPct val="150000"/>
              </a:lnSpc>
              <a:spcBef>
                <a:spcPts val="5"/>
              </a:spcBef>
              <a:buChar char="-"/>
              <a:tabLst>
                <a:tab pos="355600" algn="l"/>
              </a:tabLst>
            </a:pPr>
            <a:r>
              <a:rPr sz="2000" dirty="0">
                <a:latin typeface="Segoe Print"/>
                <a:cs typeface="Segoe Print"/>
              </a:rPr>
              <a:t>Pick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middle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value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feature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along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selected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dimension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after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sorting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along </a:t>
            </a:r>
            <a:r>
              <a:rPr sz="2000" dirty="0">
                <a:latin typeface="Segoe Print"/>
                <a:cs typeface="Segoe Print"/>
              </a:rPr>
              <a:t>that</a:t>
            </a:r>
            <a:r>
              <a:rPr sz="2000" spc="-10" dirty="0">
                <a:latin typeface="Segoe Print"/>
                <a:cs typeface="Segoe Print"/>
              </a:rPr>
              <a:t> dimension.</a:t>
            </a:r>
            <a:endParaRPr sz="2000">
              <a:latin typeface="Segoe Print"/>
              <a:cs typeface="Segoe Prin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Segoe Print"/>
              <a:buChar char="-"/>
            </a:pPr>
            <a:endParaRPr sz="20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buChar char="-"/>
              <a:tabLst>
                <a:tab pos="355600" algn="l"/>
              </a:tabLst>
            </a:pPr>
            <a:r>
              <a:rPr sz="2000" dirty="0">
                <a:latin typeface="Segoe Print"/>
                <a:cs typeface="Segoe Print"/>
              </a:rPr>
              <a:t>Use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this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value</a:t>
            </a:r>
            <a:r>
              <a:rPr sz="2000" spc="-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as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root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node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and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construct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</a:t>
            </a:r>
            <a:r>
              <a:rPr sz="2000" spc="-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binary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tree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and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keep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going.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582548"/>
            <a:ext cx="1179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</a:t>
            </a:r>
            <a:r>
              <a:rPr sz="2400" b="1" u="sng" spc="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Tree: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8876" y="1151890"/>
            <a:ext cx="1184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1735835"/>
            <a:ext cx="4558284" cy="32613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110739" y="1898650"/>
            <a:ext cx="8417560" cy="4394200"/>
            <a:chOff x="2110739" y="1898650"/>
            <a:chExt cx="8417560" cy="4394200"/>
          </a:xfrm>
        </p:grpSpPr>
        <p:sp>
          <p:nvSpPr>
            <p:cNvPr id="7" name="object 7"/>
            <p:cNvSpPr/>
            <p:nvPr/>
          </p:nvSpPr>
          <p:spPr>
            <a:xfrm>
              <a:off x="5657087" y="1905000"/>
              <a:ext cx="1167765" cy="619125"/>
            </a:xfrm>
            <a:custGeom>
              <a:avLst/>
              <a:gdLst/>
              <a:ahLst/>
              <a:cxnLst/>
              <a:rect l="l" t="t" r="r" b="b"/>
              <a:pathLst>
                <a:path w="1167765" h="619125">
                  <a:moveTo>
                    <a:pt x="583691" y="0"/>
                  </a:moveTo>
                  <a:lnTo>
                    <a:pt x="524019" y="1597"/>
                  </a:lnTo>
                  <a:lnTo>
                    <a:pt x="466068" y="6287"/>
                  </a:lnTo>
                  <a:lnTo>
                    <a:pt x="410134" y="13912"/>
                  </a:lnTo>
                  <a:lnTo>
                    <a:pt x="356508" y="24318"/>
                  </a:lnTo>
                  <a:lnTo>
                    <a:pt x="305486" y="37348"/>
                  </a:lnTo>
                  <a:lnTo>
                    <a:pt x="257361" y="52848"/>
                  </a:lnTo>
                  <a:lnTo>
                    <a:pt x="212425" y="70660"/>
                  </a:lnTo>
                  <a:lnTo>
                    <a:pt x="170973" y="90630"/>
                  </a:lnTo>
                  <a:lnTo>
                    <a:pt x="133299" y="112601"/>
                  </a:lnTo>
                  <a:lnTo>
                    <a:pt x="99695" y="136419"/>
                  </a:lnTo>
                  <a:lnTo>
                    <a:pt x="70456" y="161927"/>
                  </a:lnTo>
                  <a:lnTo>
                    <a:pt x="26244" y="217391"/>
                  </a:lnTo>
                  <a:lnTo>
                    <a:pt x="3013" y="277748"/>
                  </a:lnTo>
                  <a:lnTo>
                    <a:pt x="0" y="309372"/>
                  </a:lnTo>
                  <a:lnTo>
                    <a:pt x="3013" y="340995"/>
                  </a:lnTo>
                  <a:lnTo>
                    <a:pt x="26244" y="401352"/>
                  </a:lnTo>
                  <a:lnTo>
                    <a:pt x="70456" y="456816"/>
                  </a:lnTo>
                  <a:lnTo>
                    <a:pt x="99695" y="482324"/>
                  </a:lnTo>
                  <a:lnTo>
                    <a:pt x="133299" y="506142"/>
                  </a:lnTo>
                  <a:lnTo>
                    <a:pt x="170973" y="528113"/>
                  </a:lnTo>
                  <a:lnTo>
                    <a:pt x="212425" y="548083"/>
                  </a:lnTo>
                  <a:lnTo>
                    <a:pt x="257361" y="565895"/>
                  </a:lnTo>
                  <a:lnTo>
                    <a:pt x="305486" y="581395"/>
                  </a:lnTo>
                  <a:lnTo>
                    <a:pt x="356508" y="594425"/>
                  </a:lnTo>
                  <a:lnTo>
                    <a:pt x="410134" y="604831"/>
                  </a:lnTo>
                  <a:lnTo>
                    <a:pt x="466068" y="612456"/>
                  </a:lnTo>
                  <a:lnTo>
                    <a:pt x="524019" y="617146"/>
                  </a:lnTo>
                  <a:lnTo>
                    <a:pt x="583691" y="618744"/>
                  </a:lnTo>
                  <a:lnTo>
                    <a:pt x="643364" y="617146"/>
                  </a:lnTo>
                  <a:lnTo>
                    <a:pt x="701315" y="612456"/>
                  </a:lnTo>
                  <a:lnTo>
                    <a:pt x="757249" y="604831"/>
                  </a:lnTo>
                  <a:lnTo>
                    <a:pt x="810875" y="594425"/>
                  </a:lnTo>
                  <a:lnTo>
                    <a:pt x="861897" y="581395"/>
                  </a:lnTo>
                  <a:lnTo>
                    <a:pt x="910022" y="565895"/>
                  </a:lnTo>
                  <a:lnTo>
                    <a:pt x="954958" y="548083"/>
                  </a:lnTo>
                  <a:lnTo>
                    <a:pt x="996410" y="528113"/>
                  </a:lnTo>
                  <a:lnTo>
                    <a:pt x="1034084" y="506142"/>
                  </a:lnTo>
                  <a:lnTo>
                    <a:pt x="1067688" y="482324"/>
                  </a:lnTo>
                  <a:lnTo>
                    <a:pt x="1096927" y="456816"/>
                  </a:lnTo>
                  <a:lnTo>
                    <a:pt x="1141139" y="401352"/>
                  </a:lnTo>
                  <a:lnTo>
                    <a:pt x="1164370" y="340995"/>
                  </a:lnTo>
                  <a:lnTo>
                    <a:pt x="1167384" y="309372"/>
                  </a:lnTo>
                  <a:lnTo>
                    <a:pt x="1164370" y="277748"/>
                  </a:lnTo>
                  <a:lnTo>
                    <a:pt x="1141139" y="217391"/>
                  </a:lnTo>
                  <a:lnTo>
                    <a:pt x="1096927" y="161927"/>
                  </a:lnTo>
                  <a:lnTo>
                    <a:pt x="1067688" y="136419"/>
                  </a:lnTo>
                  <a:lnTo>
                    <a:pt x="1034084" y="112601"/>
                  </a:lnTo>
                  <a:lnTo>
                    <a:pt x="996410" y="90630"/>
                  </a:lnTo>
                  <a:lnTo>
                    <a:pt x="954958" y="70660"/>
                  </a:lnTo>
                  <a:lnTo>
                    <a:pt x="910022" y="52848"/>
                  </a:lnTo>
                  <a:lnTo>
                    <a:pt x="861897" y="37348"/>
                  </a:lnTo>
                  <a:lnTo>
                    <a:pt x="810875" y="24318"/>
                  </a:lnTo>
                  <a:lnTo>
                    <a:pt x="757249" y="13912"/>
                  </a:lnTo>
                  <a:lnTo>
                    <a:pt x="701315" y="6287"/>
                  </a:lnTo>
                  <a:lnTo>
                    <a:pt x="643364" y="1597"/>
                  </a:lnTo>
                  <a:lnTo>
                    <a:pt x="58369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57087" y="1905000"/>
              <a:ext cx="1167765" cy="619125"/>
            </a:xfrm>
            <a:custGeom>
              <a:avLst/>
              <a:gdLst/>
              <a:ahLst/>
              <a:cxnLst/>
              <a:rect l="l" t="t" r="r" b="b"/>
              <a:pathLst>
                <a:path w="1167765" h="619125">
                  <a:moveTo>
                    <a:pt x="0" y="309372"/>
                  </a:moveTo>
                  <a:lnTo>
                    <a:pt x="11860" y="247036"/>
                  </a:lnTo>
                  <a:lnTo>
                    <a:pt x="45874" y="188970"/>
                  </a:lnTo>
                  <a:lnTo>
                    <a:pt x="99695" y="136419"/>
                  </a:lnTo>
                  <a:lnTo>
                    <a:pt x="133299" y="112601"/>
                  </a:lnTo>
                  <a:lnTo>
                    <a:pt x="170973" y="90630"/>
                  </a:lnTo>
                  <a:lnTo>
                    <a:pt x="212425" y="70660"/>
                  </a:lnTo>
                  <a:lnTo>
                    <a:pt x="257361" y="52848"/>
                  </a:lnTo>
                  <a:lnTo>
                    <a:pt x="305486" y="37348"/>
                  </a:lnTo>
                  <a:lnTo>
                    <a:pt x="356508" y="24318"/>
                  </a:lnTo>
                  <a:lnTo>
                    <a:pt x="410134" y="13912"/>
                  </a:lnTo>
                  <a:lnTo>
                    <a:pt x="466068" y="6287"/>
                  </a:lnTo>
                  <a:lnTo>
                    <a:pt x="524019" y="1597"/>
                  </a:lnTo>
                  <a:lnTo>
                    <a:pt x="583691" y="0"/>
                  </a:lnTo>
                  <a:lnTo>
                    <a:pt x="643364" y="1597"/>
                  </a:lnTo>
                  <a:lnTo>
                    <a:pt x="701315" y="6287"/>
                  </a:lnTo>
                  <a:lnTo>
                    <a:pt x="757249" y="13912"/>
                  </a:lnTo>
                  <a:lnTo>
                    <a:pt x="810875" y="24318"/>
                  </a:lnTo>
                  <a:lnTo>
                    <a:pt x="861897" y="37348"/>
                  </a:lnTo>
                  <a:lnTo>
                    <a:pt x="910022" y="52848"/>
                  </a:lnTo>
                  <a:lnTo>
                    <a:pt x="954958" y="70660"/>
                  </a:lnTo>
                  <a:lnTo>
                    <a:pt x="996410" y="90630"/>
                  </a:lnTo>
                  <a:lnTo>
                    <a:pt x="1034084" y="112601"/>
                  </a:lnTo>
                  <a:lnTo>
                    <a:pt x="1067688" y="136419"/>
                  </a:lnTo>
                  <a:lnTo>
                    <a:pt x="1096927" y="161927"/>
                  </a:lnTo>
                  <a:lnTo>
                    <a:pt x="1141139" y="217391"/>
                  </a:lnTo>
                  <a:lnTo>
                    <a:pt x="1164370" y="277748"/>
                  </a:lnTo>
                  <a:lnTo>
                    <a:pt x="1167384" y="309372"/>
                  </a:lnTo>
                  <a:lnTo>
                    <a:pt x="1164370" y="340995"/>
                  </a:lnTo>
                  <a:lnTo>
                    <a:pt x="1141139" y="401352"/>
                  </a:lnTo>
                  <a:lnTo>
                    <a:pt x="1096927" y="456816"/>
                  </a:lnTo>
                  <a:lnTo>
                    <a:pt x="1067688" y="482324"/>
                  </a:lnTo>
                  <a:lnTo>
                    <a:pt x="1034084" y="506142"/>
                  </a:lnTo>
                  <a:lnTo>
                    <a:pt x="996410" y="528113"/>
                  </a:lnTo>
                  <a:lnTo>
                    <a:pt x="954958" y="548083"/>
                  </a:lnTo>
                  <a:lnTo>
                    <a:pt x="910022" y="565895"/>
                  </a:lnTo>
                  <a:lnTo>
                    <a:pt x="861897" y="581395"/>
                  </a:lnTo>
                  <a:lnTo>
                    <a:pt x="810875" y="594425"/>
                  </a:lnTo>
                  <a:lnTo>
                    <a:pt x="757249" y="604831"/>
                  </a:lnTo>
                  <a:lnTo>
                    <a:pt x="701315" y="612456"/>
                  </a:lnTo>
                  <a:lnTo>
                    <a:pt x="643364" y="617146"/>
                  </a:lnTo>
                  <a:lnTo>
                    <a:pt x="583691" y="618744"/>
                  </a:lnTo>
                  <a:lnTo>
                    <a:pt x="524019" y="617146"/>
                  </a:lnTo>
                  <a:lnTo>
                    <a:pt x="466068" y="612456"/>
                  </a:lnTo>
                  <a:lnTo>
                    <a:pt x="410134" y="604831"/>
                  </a:lnTo>
                  <a:lnTo>
                    <a:pt x="356508" y="594425"/>
                  </a:lnTo>
                  <a:lnTo>
                    <a:pt x="305486" y="581395"/>
                  </a:lnTo>
                  <a:lnTo>
                    <a:pt x="257361" y="565895"/>
                  </a:lnTo>
                  <a:lnTo>
                    <a:pt x="212425" y="548083"/>
                  </a:lnTo>
                  <a:lnTo>
                    <a:pt x="170973" y="528113"/>
                  </a:lnTo>
                  <a:lnTo>
                    <a:pt x="133299" y="506142"/>
                  </a:lnTo>
                  <a:lnTo>
                    <a:pt x="99695" y="482324"/>
                  </a:lnTo>
                  <a:lnTo>
                    <a:pt x="70456" y="456816"/>
                  </a:lnTo>
                  <a:lnTo>
                    <a:pt x="26244" y="401352"/>
                  </a:lnTo>
                  <a:lnTo>
                    <a:pt x="3013" y="340995"/>
                  </a:lnTo>
                  <a:lnTo>
                    <a:pt x="0" y="309372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32732" y="2523744"/>
              <a:ext cx="1908810" cy="786765"/>
            </a:xfrm>
            <a:custGeom>
              <a:avLst/>
              <a:gdLst/>
              <a:ahLst/>
              <a:cxnLst/>
              <a:rect l="l" t="t" r="r" b="b"/>
              <a:pathLst>
                <a:path w="1908810" h="786764">
                  <a:moveTo>
                    <a:pt x="1908302" y="0"/>
                  </a:moveTo>
                  <a:lnTo>
                    <a:pt x="0" y="786256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49040" y="3310127"/>
              <a:ext cx="4989830" cy="619125"/>
            </a:xfrm>
            <a:custGeom>
              <a:avLst/>
              <a:gdLst/>
              <a:ahLst/>
              <a:cxnLst/>
              <a:rect l="l" t="t" r="r" b="b"/>
              <a:pathLst>
                <a:path w="4989830" h="619125">
                  <a:moveTo>
                    <a:pt x="1167384" y="309372"/>
                  </a:moveTo>
                  <a:lnTo>
                    <a:pt x="1155522" y="247040"/>
                  </a:lnTo>
                  <a:lnTo>
                    <a:pt x="1121498" y="188976"/>
                  </a:lnTo>
                  <a:lnTo>
                    <a:pt x="1067676" y="136423"/>
                  </a:lnTo>
                  <a:lnTo>
                    <a:pt x="1034072" y="112610"/>
                  </a:lnTo>
                  <a:lnTo>
                    <a:pt x="996403" y="90639"/>
                  </a:lnTo>
                  <a:lnTo>
                    <a:pt x="954951" y="70662"/>
                  </a:lnTo>
                  <a:lnTo>
                    <a:pt x="910018" y="52857"/>
                  </a:lnTo>
                  <a:lnTo>
                    <a:pt x="861885" y="37350"/>
                  </a:lnTo>
                  <a:lnTo>
                    <a:pt x="810869" y="24320"/>
                  </a:lnTo>
                  <a:lnTo>
                    <a:pt x="757237" y="13919"/>
                  </a:lnTo>
                  <a:lnTo>
                    <a:pt x="701306" y="6299"/>
                  </a:lnTo>
                  <a:lnTo>
                    <a:pt x="643356" y="1600"/>
                  </a:lnTo>
                  <a:lnTo>
                    <a:pt x="583692" y="0"/>
                  </a:lnTo>
                  <a:lnTo>
                    <a:pt x="524014" y="1600"/>
                  </a:lnTo>
                  <a:lnTo>
                    <a:pt x="466064" y="6299"/>
                  </a:lnTo>
                  <a:lnTo>
                    <a:pt x="410133" y="13919"/>
                  </a:lnTo>
                  <a:lnTo>
                    <a:pt x="356501" y="24320"/>
                  </a:lnTo>
                  <a:lnTo>
                    <a:pt x="305485" y="37350"/>
                  </a:lnTo>
                  <a:lnTo>
                    <a:pt x="257352" y="52857"/>
                  </a:lnTo>
                  <a:lnTo>
                    <a:pt x="212420" y="70662"/>
                  </a:lnTo>
                  <a:lnTo>
                    <a:pt x="170967" y="90639"/>
                  </a:lnTo>
                  <a:lnTo>
                    <a:pt x="133299" y="112610"/>
                  </a:lnTo>
                  <a:lnTo>
                    <a:pt x="99695" y="136423"/>
                  </a:lnTo>
                  <a:lnTo>
                    <a:pt x="70446" y="161937"/>
                  </a:lnTo>
                  <a:lnTo>
                    <a:pt x="26238" y="217398"/>
                  </a:lnTo>
                  <a:lnTo>
                    <a:pt x="3009" y="277749"/>
                  </a:lnTo>
                  <a:lnTo>
                    <a:pt x="0" y="309372"/>
                  </a:lnTo>
                  <a:lnTo>
                    <a:pt x="3009" y="341007"/>
                  </a:lnTo>
                  <a:lnTo>
                    <a:pt x="26238" y="401358"/>
                  </a:lnTo>
                  <a:lnTo>
                    <a:pt x="70446" y="456819"/>
                  </a:lnTo>
                  <a:lnTo>
                    <a:pt x="99695" y="482333"/>
                  </a:lnTo>
                  <a:lnTo>
                    <a:pt x="133299" y="506145"/>
                  </a:lnTo>
                  <a:lnTo>
                    <a:pt x="170967" y="528116"/>
                  </a:lnTo>
                  <a:lnTo>
                    <a:pt x="212420" y="548093"/>
                  </a:lnTo>
                  <a:lnTo>
                    <a:pt x="257352" y="565899"/>
                  </a:lnTo>
                  <a:lnTo>
                    <a:pt x="305485" y="581406"/>
                  </a:lnTo>
                  <a:lnTo>
                    <a:pt x="356501" y="594436"/>
                  </a:lnTo>
                  <a:lnTo>
                    <a:pt x="410133" y="604837"/>
                  </a:lnTo>
                  <a:lnTo>
                    <a:pt x="466064" y="612457"/>
                  </a:lnTo>
                  <a:lnTo>
                    <a:pt x="524014" y="617156"/>
                  </a:lnTo>
                  <a:lnTo>
                    <a:pt x="583692" y="618744"/>
                  </a:lnTo>
                  <a:lnTo>
                    <a:pt x="643356" y="617156"/>
                  </a:lnTo>
                  <a:lnTo>
                    <a:pt x="701306" y="612457"/>
                  </a:lnTo>
                  <a:lnTo>
                    <a:pt x="757237" y="604837"/>
                  </a:lnTo>
                  <a:lnTo>
                    <a:pt x="810869" y="594436"/>
                  </a:lnTo>
                  <a:lnTo>
                    <a:pt x="861885" y="581406"/>
                  </a:lnTo>
                  <a:lnTo>
                    <a:pt x="910018" y="565899"/>
                  </a:lnTo>
                  <a:lnTo>
                    <a:pt x="954951" y="548093"/>
                  </a:lnTo>
                  <a:lnTo>
                    <a:pt x="996403" y="528116"/>
                  </a:lnTo>
                  <a:lnTo>
                    <a:pt x="1034072" y="506145"/>
                  </a:lnTo>
                  <a:lnTo>
                    <a:pt x="1067676" y="482333"/>
                  </a:lnTo>
                  <a:lnTo>
                    <a:pt x="1096924" y="456819"/>
                  </a:lnTo>
                  <a:lnTo>
                    <a:pt x="1141133" y="401358"/>
                  </a:lnTo>
                  <a:lnTo>
                    <a:pt x="1164361" y="341007"/>
                  </a:lnTo>
                  <a:lnTo>
                    <a:pt x="1167384" y="309372"/>
                  </a:lnTo>
                  <a:close/>
                </a:path>
                <a:path w="4989830" h="619125">
                  <a:moveTo>
                    <a:pt x="4989576" y="309372"/>
                  </a:moveTo>
                  <a:lnTo>
                    <a:pt x="4977714" y="247040"/>
                  </a:lnTo>
                  <a:lnTo>
                    <a:pt x="4943691" y="188976"/>
                  </a:lnTo>
                  <a:lnTo>
                    <a:pt x="4889868" y="136423"/>
                  </a:lnTo>
                  <a:lnTo>
                    <a:pt x="4856264" y="112610"/>
                  </a:lnTo>
                  <a:lnTo>
                    <a:pt x="4818596" y="90639"/>
                  </a:lnTo>
                  <a:lnTo>
                    <a:pt x="4777143" y="70662"/>
                  </a:lnTo>
                  <a:lnTo>
                    <a:pt x="4732210" y="52857"/>
                  </a:lnTo>
                  <a:lnTo>
                    <a:pt x="4684077" y="37350"/>
                  </a:lnTo>
                  <a:lnTo>
                    <a:pt x="4633061" y="24320"/>
                  </a:lnTo>
                  <a:lnTo>
                    <a:pt x="4579429" y="13919"/>
                  </a:lnTo>
                  <a:lnTo>
                    <a:pt x="4523498" y="6299"/>
                  </a:lnTo>
                  <a:lnTo>
                    <a:pt x="4465548" y="1600"/>
                  </a:lnTo>
                  <a:lnTo>
                    <a:pt x="4405884" y="0"/>
                  </a:lnTo>
                  <a:lnTo>
                    <a:pt x="4346206" y="1600"/>
                  </a:lnTo>
                  <a:lnTo>
                    <a:pt x="4288256" y="6299"/>
                  </a:lnTo>
                  <a:lnTo>
                    <a:pt x="4232326" y="13919"/>
                  </a:lnTo>
                  <a:lnTo>
                    <a:pt x="4178693" y="24320"/>
                  </a:lnTo>
                  <a:lnTo>
                    <a:pt x="4127677" y="37350"/>
                  </a:lnTo>
                  <a:lnTo>
                    <a:pt x="4079544" y="52857"/>
                  </a:lnTo>
                  <a:lnTo>
                    <a:pt x="4034612" y="70662"/>
                  </a:lnTo>
                  <a:lnTo>
                    <a:pt x="3993159" y="90639"/>
                  </a:lnTo>
                  <a:lnTo>
                    <a:pt x="3955491" y="112610"/>
                  </a:lnTo>
                  <a:lnTo>
                    <a:pt x="3921887" y="136423"/>
                  </a:lnTo>
                  <a:lnTo>
                    <a:pt x="3892639" y="161937"/>
                  </a:lnTo>
                  <a:lnTo>
                    <a:pt x="3848430" y="217398"/>
                  </a:lnTo>
                  <a:lnTo>
                    <a:pt x="3825202" y="277749"/>
                  </a:lnTo>
                  <a:lnTo>
                    <a:pt x="3822192" y="309372"/>
                  </a:lnTo>
                  <a:lnTo>
                    <a:pt x="3825202" y="341007"/>
                  </a:lnTo>
                  <a:lnTo>
                    <a:pt x="3848430" y="401358"/>
                  </a:lnTo>
                  <a:lnTo>
                    <a:pt x="3892639" y="456819"/>
                  </a:lnTo>
                  <a:lnTo>
                    <a:pt x="3921887" y="482333"/>
                  </a:lnTo>
                  <a:lnTo>
                    <a:pt x="3955491" y="506145"/>
                  </a:lnTo>
                  <a:lnTo>
                    <a:pt x="3993159" y="528116"/>
                  </a:lnTo>
                  <a:lnTo>
                    <a:pt x="4034612" y="548093"/>
                  </a:lnTo>
                  <a:lnTo>
                    <a:pt x="4079544" y="565899"/>
                  </a:lnTo>
                  <a:lnTo>
                    <a:pt x="4127677" y="581406"/>
                  </a:lnTo>
                  <a:lnTo>
                    <a:pt x="4178693" y="594436"/>
                  </a:lnTo>
                  <a:lnTo>
                    <a:pt x="4232326" y="604837"/>
                  </a:lnTo>
                  <a:lnTo>
                    <a:pt x="4288256" y="612457"/>
                  </a:lnTo>
                  <a:lnTo>
                    <a:pt x="4346206" y="617156"/>
                  </a:lnTo>
                  <a:lnTo>
                    <a:pt x="4405884" y="618744"/>
                  </a:lnTo>
                  <a:lnTo>
                    <a:pt x="4465548" y="617156"/>
                  </a:lnTo>
                  <a:lnTo>
                    <a:pt x="4523498" y="612457"/>
                  </a:lnTo>
                  <a:lnTo>
                    <a:pt x="4579429" y="604837"/>
                  </a:lnTo>
                  <a:lnTo>
                    <a:pt x="4633061" y="594436"/>
                  </a:lnTo>
                  <a:lnTo>
                    <a:pt x="4684077" y="581406"/>
                  </a:lnTo>
                  <a:lnTo>
                    <a:pt x="4732210" y="565899"/>
                  </a:lnTo>
                  <a:lnTo>
                    <a:pt x="4777143" y="548093"/>
                  </a:lnTo>
                  <a:lnTo>
                    <a:pt x="4818596" y="528116"/>
                  </a:lnTo>
                  <a:lnTo>
                    <a:pt x="4856264" y="506145"/>
                  </a:lnTo>
                  <a:lnTo>
                    <a:pt x="4889868" y="482333"/>
                  </a:lnTo>
                  <a:lnTo>
                    <a:pt x="4919116" y="456819"/>
                  </a:lnTo>
                  <a:lnTo>
                    <a:pt x="4963325" y="401358"/>
                  </a:lnTo>
                  <a:lnTo>
                    <a:pt x="4986553" y="341007"/>
                  </a:lnTo>
                  <a:lnTo>
                    <a:pt x="4989576" y="309372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40780" y="2505455"/>
              <a:ext cx="1908810" cy="786765"/>
            </a:xfrm>
            <a:custGeom>
              <a:avLst/>
              <a:gdLst/>
              <a:ahLst/>
              <a:cxnLst/>
              <a:rect l="l" t="t" r="r" b="b"/>
              <a:pathLst>
                <a:path w="1908809" h="786764">
                  <a:moveTo>
                    <a:pt x="0" y="0"/>
                  </a:moveTo>
                  <a:lnTo>
                    <a:pt x="1908302" y="786257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0739" y="3925697"/>
              <a:ext cx="8417052" cy="23668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2931" y="2061971"/>
              <a:ext cx="615695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4780" y="3467100"/>
              <a:ext cx="768096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4883" y="3467100"/>
              <a:ext cx="615696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17792" y="4695444"/>
              <a:ext cx="768096" cy="304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83396" y="4687823"/>
              <a:ext cx="615696" cy="30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77967" y="4687823"/>
              <a:ext cx="615696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0707" y="2337816"/>
              <a:ext cx="617220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49167" y="2316480"/>
              <a:ext cx="615695" cy="3063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5251" y="2304288"/>
              <a:ext cx="768096" cy="3063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29599" y="2304288"/>
              <a:ext cx="768096" cy="3063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25283" y="2301240"/>
              <a:ext cx="615696" cy="3048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7772" y="3657600"/>
              <a:ext cx="768096" cy="306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14459" y="3659123"/>
              <a:ext cx="617220" cy="3048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631806" y="1059307"/>
            <a:ext cx="2509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Segoe Print"/>
                <a:cs typeface="Segoe Print"/>
              </a:rPr>
              <a:t>Splitting</a:t>
            </a:r>
            <a:r>
              <a:rPr sz="2000" b="1" spc="-105" dirty="0">
                <a:latin typeface="Segoe Print"/>
                <a:cs typeface="Segoe Print"/>
              </a:rPr>
              <a:t> </a:t>
            </a:r>
            <a:r>
              <a:rPr sz="2000" b="1" spc="-10" dirty="0">
                <a:latin typeface="Segoe Print"/>
                <a:cs typeface="Segoe Print"/>
              </a:rPr>
              <a:t>dimension</a:t>
            </a:r>
            <a:endParaRPr sz="2000">
              <a:latin typeface="Segoe Print"/>
              <a:cs typeface="Segoe Prin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901171" y="2113788"/>
            <a:ext cx="266700" cy="17983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924031" y="3467100"/>
            <a:ext cx="274320" cy="17830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931652" y="4818888"/>
            <a:ext cx="266700" cy="17983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901171" y="5992367"/>
            <a:ext cx="274320" cy="17830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26136" y="2430779"/>
            <a:ext cx="768096" cy="21275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56716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88671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20627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52582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84538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16493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48450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652243" y="1126889"/>
            <a:ext cx="5833110" cy="4605020"/>
            <a:chOff x="5652243" y="1126889"/>
            <a:chExt cx="5833110" cy="4605020"/>
          </a:xfrm>
        </p:grpSpPr>
        <p:sp>
          <p:nvSpPr>
            <p:cNvPr id="10" name="object 10"/>
            <p:cNvSpPr/>
            <p:nvPr/>
          </p:nvSpPr>
          <p:spPr>
            <a:xfrm>
              <a:off x="5656716" y="1131361"/>
              <a:ext cx="5824220" cy="4595495"/>
            </a:xfrm>
            <a:custGeom>
              <a:avLst/>
              <a:gdLst/>
              <a:ahLst/>
              <a:cxnLst/>
              <a:rect l="l" t="t" r="r" b="b"/>
              <a:pathLst>
                <a:path w="5824220" h="4595495">
                  <a:moveTo>
                    <a:pt x="5823689" y="4595477"/>
                  </a:moveTo>
                  <a:lnTo>
                    <a:pt x="5823689" y="0"/>
                  </a:lnTo>
                </a:path>
                <a:path w="5824220" h="4595495">
                  <a:moveTo>
                    <a:pt x="5823689" y="4595477"/>
                  </a:moveTo>
                  <a:lnTo>
                    <a:pt x="0" y="4595477"/>
                  </a:lnTo>
                </a:path>
                <a:path w="5824220" h="4595495">
                  <a:moveTo>
                    <a:pt x="5823689" y="4021038"/>
                  </a:moveTo>
                  <a:lnTo>
                    <a:pt x="0" y="4021038"/>
                  </a:lnTo>
                </a:path>
                <a:path w="5824220" h="4595495">
                  <a:moveTo>
                    <a:pt x="5823689" y="3446599"/>
                  </a:moveTo>
                  <a:lnTo>
                    <a:pt x="0" y="3446599"/>
                  </a:lnTo>
                </a:path>
                <a:path w="5824220" h="4595495">
                  <a:moveTo>
                    <a:pt x="5823689" y="2872106"/>
                  </a:moveTo>
                  <a:lnTo>
                    <a:pt x="0" y="2872106"/>
                  </a:lnTo>
                </a:path>
                <a:path w="5824220" h="4595495">
                  <a:moveTo>
                    <a:pt x="5823689" y="2297649"/>
                  </a:moveTo>
                  <a:lnTo>
                    <a:pt x="0" y="2297649"/>
                  </a:lnTo>
                </a:path>
                <a:path w="5824220" h="4595495">
                  <a:moveTo>
                    <a:pt x="5823689" y="1723192"/>
                  </a:moveTo>
                  <a:lnTo>
                    <a:pt x="0" y="1723192"/>
                  </a:lnTo>
                </a:path>
                <a:path w="5824220" h="4595495">
                  <a:moveTo>
                    <a:pt x="5823689" y="1148735"/>
                  </a:moveTo>
                  <a:lnTo>
                    <a:pt x="0" y="1148735"/>
                  </a:lnTo>
                </a:path>
                <a:path w="5824220" h="4595495">
                  <a:moveTo>
                    <a:pt x="5823689" y="574278"/>
                  </a:moveTo>
                  <a:lnTo>
                    <a:pt x="0" y="574278"/>
                  </a:lnTo>
                </a:path>
                <a:path w="5824220" h="4595495">
                  <a:moveTo>
                    <a:pt x="5823689" y="0"/>
                  </a:moveTo>
                  <a:lnTo>
                    <a:pt x="0" y="0"/>
                  </a:lnTo>
                </a:path>
              </a:pathLst>
            </a:custGeom>
            <a:ln w="894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52236" y="1126896"/>
              <a:ext cx="5833110" cy="4605020"/>
            </a:xfrm>
            <a:custGeom>
              <a:avLst/>
              <a:gdLst/>
              <a:ahLst/>
              <a:cxnLst/>
              <a:rect l="l" t="t" r="r" b="b"/>
              <a:pathLst>
                <a:path w="5833109" h="4605020">
                  <a:moveTo>
                    <a:pt x="5832640" y="4537240"/>
                  </a:moveTo>
                  <a:lnTo>
                    <a:pt x="5823686" y="4537240"/>
                  </a:lnTo>
                  <a:lnTo>
                    <a:pt x="5823686" y="4595482"/>
                  </a:lnTo>
                  <a:lnTo>
                    <a:pt x="5000676" y="4595482"/>
                  </a:lnTo>
                  <a:lnTo>
                    <a:pt x="5000676" y="4537240"/>
                  </a:lnTo>
                  <a:lnTo>
                    <a:pt x="4991735" y="4537240"/>
                  </a:lnTo>
                  <a:lnTo>
                    <a:pt x="4991735" y="4595482"/>
                  </a:lnTo>
                  <a:lnTo>
                    <a:pt x="4168724" y="4595482"/>
                  </a:lnTo>
                  <a:lnTo>
                    <a:pt x="4168724" y="4537240"/>
                  </a:lnTo>
                  <a:lnTo>
                    <a:pt x="4159783" y="4537240"/>
                  </a:lnTo>
                  <a:lnTo>
                    <a:pt x="4159783" y="4595482"/>
                  </a:lnTo>
                  <a:lnTo>
                    <a:pt x="3336772" y="4595482"/>
                  </a:lnTo>
                  <a:lnTo>
                    <a:pt x="3336772" y="4537240"/>
                  </a:lnTo>
                  <a:lnTo>
                    <a:pt x="3327819" y="4537240"/>
                  </a:lnTo>
                  <a:lnTo>
                    <a:pt x="3327819" y="4595482"/>
                  </a:lnTo>
                  <a:lnTo>
                    <a:pt x="2504808" y="4595482"/>
                  </a:lnTo>
                  <a:lnTo>
                    <a:pt x="2504808" y="4537240"/>
                  </a:lnTo>
                  <a:lnTo>
                    <a:pt x="2495867" y="4537240"/>
                  </a:lnTo>
                  <a:lnTo>
                    <a:pt x="2495867" y="4595482"/>
                  </a:lnTo>
                  <a:lnTo>
                    <a:pt x="1672856" y="4595482"/>
                  </a:lnTo>
                  <a:lnTo>
                    <a:pt x="1672856" y="4537240"/>
                  </a:lnTo>
                  <a:lnTo>
                    <a:pt x="1663915" y="4537240"/>
                  </a:lnTo>
                  <a:lnTo>
                    <a:pt x="1663915" y="4595482"/>
                  </a:lnTo>
                  <a:lnTo>
                    <a:pt x="840905" y="4595482"/>
                  </a:lnTo>
                  <a:lnTo>
                    <a:pt x="840905" y="4537240"/>
                  </a:lnTo>
                  <a:lnTo>
                    <a:pt x="831951" y="4537240"/>
                  </a:lnTo>
                  <a:lnTo>
                    <a:pt x="831951" y="4595482"/>
                  </a:lnTo>
                  <a:lnTo>
                    <a:pt x="8940" y="4595482"/>
                  </a:lnTo>
                  <a:lnTo>
                    <a:pt x="8940" y="4537240"/>
                  </a:lnTo>
                  <a:lnTo>
                    <a:pt x="0" y="4537240"/>
                  </a:lnTo>
                  <a:lnTo>
                    <a:pt x="0" y="4599952"/>
                  </a:lnTo>
                  <a:lnTo>
                    <a:pt x="4470" y="4599952"/>
                  </a:lnTo>
                  <a:lnTo>
                    <a:pt x="4470" y="4604423"/>
                  </a:lnTo>
                  <a:lnTo>
                    <a:pt x="5832640" y="4604423"/>
                  </a:lnTo>
                  <a:lnTo>
                    <a:pt x="5832640" y="4599952"/>
                  </a:lnTo>
                  <a:lnTo>
                    <a:pt x="5832640" y="4595482"/>
                  </a:lnTo>
                  <a:lnTo>
                    <a:pt x="5832640" y="4537240"/>
                  </a:lnTo>
                  <a:close/>
                </a:path>
                <a:path w="5833109" h="4605020">
                  <a:moveTo>
                    <a:pt x="5832640" y="0"/>
                  </a:moveTo>
                  <a:lnTo>
                    <a:pt x="4470" y="0"/>
                  </a:lnTo>
                  <a:lnTo>
                    <a:pt x="4470" y="4381"/>
                  </a:lnTo>
                  <a:lnTo>
                    <a:pt x="0" y="4381"/>
                  </a:lnTo>
                  <a:lnTo>
                    <a:pt x="0" y="67094"/>
                  </a:lnTo>
                  <a:lnTo>
                    <a:pt x="8940" y="67094"/>
                  </a:lnTo>
                  <a:lnTo>
                    <a:pt x="8940" y="8940"/>
                  </a:lnTo>
                  <a:lnTo>
                    <a:pt x="831951" y="8940"/>
                  </a:lnTo>
                  <a:lnTo>
                    <a:pt x="831951" y="67094"/>
                  </a:lnTo>
                  <a:lnTo>
                    <a:pt x="840905" y="67094"/>
                  </a:lnTo>
                  <a:lnTo>
                    <a:pt x="840905" y="8940"/>
                  </a:lnTo>
                  <a:lnTo>
                    <a:pt x="1663915" y="8940"/>
                  </a:lnTo>
                  <a:lnTo>
                    <a:pt x="1663915" y="67094"/>
                  </a:lnTo>
                  <a:lnTo>
                    <a:pt x="1672856" y="67094"/>
                  </a:lnTo>
                  <a:lnTo>
                    <a:pt x="1672856" y="8940"/>
                  </a:lnTo>
                  <a:lnTo>
                    <a:pt x="2495867" y="8940"/>
                  </a:lnTo>
                  <a:lnTo>
                    <a:pt x="2495867" y="67094"/>
                  </a:lnTo>
                  <a:lnTo>
                    <a:pt x="2504808" y="67094"/>
                  </a:lnTo>
                  <a:lnTo>
                    <a:pt x="2504808" y="8940"/>
                  </a:lnTo>
                  <a:lnTo>
                    <a:pt x="3327819" y="8940"/>
                  </a:lnTo>
                  <a:lnTo>
                    <a:pt x="3327819" y="67094"/>
                  </a:lnTo>
                  <a:lnTo>
                    <a:pt x="3336772" y="67094"/>
                  </a:lnTo>
                  <a:lnTo>
                    <a:pt x="3336772" y="8940"/>
                  </a:lnTo>
                  <a:lnTo>
                    <a:pt x="4159783" y="8940"/>
                  </a:lnTo>
                  <a:lnTo>
                    <a:pt x="4159783" y="67094"/>
                  </a:lnTo>
                  <a:lnTo>
                    <a:pt x="4168724" y="67094"/>
                  </a:lnTo>
                  <a:lnTo>
                    <a:pt x="4168724" y="8940"/>
                  </a:lnTo>
                  <a:lnTo>
                    <a:pt x="4991735" y="8940"/>
                  </a:lnTo>
                  <a:lnTo>
                    <a:pt x="4991735" y="67094"/>
                  </a:lnTo>
                  <a:lnTo>
                    <a:pt x="5000676" y="67094"/>
                  </a:lnTo>
                  <a:lnTo>
                    <a:pt x="5000676" y="8940"/>
                  </a:lnTo>
                  <a:lnTo>
                    <a:pt x="5823686" y="8940"/>
                  </a:lnTo>
                  <a:lnTo>
                    <a:pt x="5823686" y="67094"/>
                  </a:lnTo>
                  <a:lnTo>
                    <a:pt x="5832640" y="67094"/>
                  </a:lnTo>
                  <a:lnTo>
                    <a:pt x="5832640" y="8940"/>
                  </a:lnTo>
                  <a:lnTo>
                    <a:pt x="5832640" y="4381"/>
                  </a:lnTo>
                  <a:lnTo>
                    <a:pt x="583264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3580" y="5849978"/>
            <a:ext cx="81084" cy="12696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3478" y="5849978"/>
            <a:ext cx="82229" cy="1248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2499" y="5850497"/>
            <a:ext cx="86058" cy="12433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08827" y="5849978"/>
            <a:ext cx="82043" cy="12696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41241" y="5849978"/>
            <a:ext cx="81943" cy="12696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34729" y="5849978"/>
            <a:ext cx="168895" cy="12696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66686" y="5849978"/>
            <a:ext cx="168001" cy="12485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98641" y="5849978"/>
            <a:ext cx="168717" cy="124856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5652243" y="1126889"/>
            <a:ext cx="9525" cy="4600575"/>
          </a:xfrm>
          <a:custGeom>
            <a:avLst/>
            <a:gdLst/>
            <a:ahLst/>
            <a:cxnLst/>
            <a:rect l="l" t="t" r="r" b="b"/>
            <a:pathLst>
              <a:path w="9525" h="4600575">
                <a:moveTo>
                  <a:pt x="8945" y="0"/>
                </a:moveTo>
                <a:lnTo>
                  <a:pt x="0" y="0"/>
                </a:lnTo>
                <a:lnTo>
                  <a:pt x="0" y="4599950"/>
                </a:lnTo>
                <a:lnTo>
                  <a:pt x="8946" y="4599950"/>
                </a:lnTo>
                <a:lnTo>
                  <a:pt x="894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475932" y="1126889"/>
            <a:ext cx="9525" cy="4600575"/>
          </a:xfrm>
          <a:custGeom>
            <a:avLst/>
            <a:gdLst/>
            <a:ahLst/>
            <a:cxnLst/>
            <a:rect l="l" t="t" r="r" b="b"/>
            <a:pathLst>
              <a:path w="9525" h="4600575">
                <a:moveTo>
                  <a:pt x="8945" y="0"/>
                </a:moveTo>
                <a:lnTo>
                  <a:pt x="0" y="0"/>
                </a:lnTo>
                <a:lnTo>
                  <a:pt x="0" y="4599950"/>
                </a:lnTo>
                <a:lnTo>
                  <a:pt x="8946" y="4599950"/>
                </a:lnTo>
                <a:lnTo>
                  <a:pt x="894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56716" y="5722366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56716" y="5147927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56716" y="4573470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4"/>
                </a:lnTo>
                <a:lnTo>
                  <a:pt x="62709" y="8944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56716" y="3998995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56716" y="3424538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56716" y="2850081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56716" y="2275624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56716" y="1701167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56716" y="1126889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417606" y="5722366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417606" y="5147927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417606" y="4573470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4"/>
                </a:lnTo>
                <a:lnTo>
                  <a:pt x="62709" y="8944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1417606" y="3998995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417606" y="3424538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417606" y="2850081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417606" y="2275624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417606" y="1701167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417606" y="1126889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91685" y="5667730"/>
            <a:ext cx="81084" cy="126967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503404" y="5093290"/>
            <a:ext cx="46355" cy="125095"/>
          </a:xfrm>
          <a:custGeom>
            <a:avLst/>
            <a:gdLst/>
            <a:ahLst/>
            <a:cxnLst/>
            <a:rect l="l" t="t" r="r" b="b"/>
            <a:pathLst>
              <a:path w="46354" h="125095">
                <a:moveTo>
                  <a:pt x="45784" y="0"/>
                </a:moveTo>
                <a:lnTo>
                  <a:pt x="35961" y="0"/>
                </a:lnTo>
                <a:lnTo>
                  <a:pt x="33296" y="5367"/>
                </a:lnTo>
                <a:lnTo>
                  <a:pt x="28769" y="10913"/>
                </a:lnTo>
                <a:lnTo>
                  <a:pt x="0" y="31200"/>
                </a:lnTo>
                <a:lnTo>
                  <a:pt x="0" y="45960"/>
                </a:lnTo>
                <a:lnTo>
                  <a:pt x="30522" y="27551"/>
                </a:lnTo>
                <a:lnTo>
                  <a:pt x="30522" y="124838"/>
                </a:lnTo>
                <a:lnTo>
                  <a:pt x="45784" y="124838"/>
                </a:lnTo>
                <a:lnTo>
                  <a:pt x="4578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89627" y="4518887"/>
            <a:ext cx="82300" cy="12478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491774" y="3944430"/>
            <a:ext cx="81424" cy="127021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86693" y="3370510"/>
            <a:ext cx="86004" cy="12433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91684" y="2797662"/>
            <a:ext cx="82444" cy="124874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91084" y="2221059"/>
            <a:ext cx="82024" cy="12702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92704" y="1648748"/>
            <a:ext cx="80493" cy="12272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491523" y="1072145"/>
            <a:ext cx="81925" cy="12702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811256" y="5058977"/>
            <a:ext cx="186787" cy="186846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643211" y="3335623"/>
            <a:ext cx="186787" cy="18677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395242" y="2186709"/>
            <a:ext cx="186823" cy="18695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23100" y="4484537"/>
            <a:ext cx="186787" cy="186846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971034" y="3910081"/>
            <a:ext cx="186787" cy="186774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329184" y="947927"/>
            <a:ext cx="11338560" cy="5093335"/>
            <a:chOff x="329184" y="947927"/>
            <a:chExt cx="11338560" cy="5093335"/>
          </a:xfrm>
        </p:grpSpPr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891145" y="1612252"/>
              <a:ext cx="186787" cy="18695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627239" y="947927"/>
              <a:ext cx="171450" cy="5093335"/>
            </a:xfrm>
            <a:custGeom>
              <a:avLst/>
              <a:gdLst/>
              <a:ahLst/>
              <a:cxnLst/>
              <a:rect l="l" t="t" r="r" b="b"/>
              <a:pathLst>
                <a:path w="171450" h="5093335">
                  <a:moveTo>
                    <a:pt x="57150" y="4921529"/>
                  </a:moveTo>
                  <a:lnTo>
                    <a:pt x="0" y="4921529"/>
                  </a:lnTo>
                  <a:lnTo>
                    <a:pt x="85725" y="5092979"/>
                  </a:lnTo>
                  <a:lnTo>
                    <a:pt x="157162" y="4950104"/>
                  </a:lnTo>
                  <a:lnTo>
                    <a:pt x="57150" y="4950104"/>
                  </a:lnTo>
                  <a:lnTo>
                    <a:pt x="57150" y="4921529"/>
                  </a:lnTo>
                  <a:close/>
                </a:path>
                <a:path w="171450" h="5093335">
                  <a:moveTo>
                    <a:pt x="114300" y="142875"/>
                  </a:moveTo>
                  <a:lnTo>
                    <a:pt x="57150" y="142875"/>
                  </a:lnTo>
                  <a:lnTo>
                    <a:pt x="57150" y="4950104"/>
                  </a:lnTo>
                  <a:lnTo>
                    <a:pt x="114300" y="4950104"/>
                  </a:lnTo>
                  <a:lnTo>
                    <a:pt x="114300" y="142875"/>
                  </a:lnTo>
                  <a:close/>
                </a:path>
                <a:path w="171450" h="5093335">
                  <a:moveTo>
                    <a:pt x="171450" y="4921529"/>
                  </a:moveTo>
                  <a:lnTo>
                    <a:pt x="114300" y="4921529"/>
                  </a:lnTo>
                  <a:lnTo>
                    <a:pt x="114300" y="4950104"/>
                  </a:lnTo>
                  <a:lnTo>
                    <a:pt x="157162" y="4950104"/>
                  </a:lnTo>
                  <a:lnTo>
                    <a:pt x="171450" y="4921529"/>
                  </a:lnTo>
                  <a:close/>
                </a:path>
                <a:path w="171450" h="5093335">
                  <a:moveTo>
                    <a:pt x="85725" y="0"/>
                  </a:moveTo>
                  <a:lnTo>
                    <a:pt x="0" y="171450"/>
                  </a:lnTo>
                  <a:lnTo>
                    <a:pt x="57150" y="171450"/>
                  </a:lnTo>
                  <a:lnTo>
                    <a:pt x="57150" y="142875"/>
                  </a:lnTo>
                  <a:lnTo>
                    <a:pt x="157162" y="142875"/>
                  </a:lnTo>
                  <a:lnTo>
                    <a:pt x="85725" y="0"/>
                  </a:lnTo>
                  <a:close/>
                </a:path>
                <a:path w="171450" h="5093335">
                  <a:moveTo>
                    <a:pt x="157162" y="142875"/>
                  </a:moveTo>
                  <a:lnTo>
                    <a:pt x="114300" y="142875"/>
                  </a:lnTo>
                  <a:lnTo>
                    <a:pt x="114300" y="171450"/>
                  </a:lnTo>
                  <a:lnTo>
                    <a:pt x="171450" y="171450"/>
                  </a:lnTo>
                  <a:lnTo>
                    <a:pt x="157162" y="142875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933187" y="5053202"/>
              <a:ext cx="2772410" cy="171450"/>
            </a:xfrm>
            <a:custGeom>
              <a:avLst/>
              <a:gdLst/>
              <a:ahLst/>
              <a:cxnLst/>
              <a:rect l="l" t="t" r="r" b="b"/>
              <a:pathLst>
                <a:path w="2772409" h="171450">
                  <a:moveTo>
                    <a:pt x="171450" y="0"/>
                  </a:moveTo>
                  <a:lnTo>
                    <a:pt x="0" y="85725"/>
                  </a:lnTo>
                  <a:lnTo>
                    <a:pt x="171450" y="171450"/>
                  </a:lnTo>
                  <a:lnTo>
                    <a:pt x="171450" y="114300"/>
                  </a:lnTo>
                  <a:lnTo>
                    <a:pt x="142875" y="114300"/>
                  </a:lnTo>
                  <a:lnTo>
                    <a:pt x="142875" y="57150"/>
                  </a:lnTo>
                  <a:lnTo>
                    <a:pt x="171450" y="57150"/>
                  </a:lnTo>
                  <a:lnTo>
                    <a:pt x="171450" y="0"/>
                  </a:lnTo>
                  <a:close/>
                </a:path>
                <a:path w="2772409" h="171450">
                  <a:moveTo>
                    <a:pt x="2600579" y="0"/>
                  </a:moveTo>
                  <a:lnTo>
                    <a:pt x="2600579" y="171450"/>
                  </a:lnTo>
                  <a:lnTo>
                    <a:pt x="2714879" y="114300"/>
                  </a:lnTo>
                  <a:lnTo>
                    <a:pt x="2629154" y="114300"/>
                  </a:lnTo>
                  <a:lnTo>
                    <a:pt x="2629154" y="57150"/>
                  </a:lnTo>
                  <a:lnTo>
                    <a:pt x="2714879" y="57150"/>
                  </a:lnTo>
                  <a:lnTo>
                    <a:pt x="2600579" y="0"/>
                  </a:lnTo>
                  <a:close/>
                </a:path>
                <a:path w="2772409" h="171450">
                  <a:moveTo>
                    <a:pt x="171450" y="57150"/>
                  </a:moveTo>
                  <a:lnTo>
                    <a:pt x="142875" y="57150"/>
                  </a:lnTo>
                  <a:lnTo>
                    <a:pt x="142875" y="114300"/>
                  </a:lnTo>
                  <a:lnTo>
                    <a:pt x="171450" y="114300"/>
                  </a:lnTo>
                  <a:lnTo>
                    <a:pt x="171450" y="57150"/>
                  </a:lnTo>
                  <a:close/>
                </a:path>
                <a:path w="2772409" h="171450">
                  <a:moveTo>
                    <a:pt x="2600579" y="57150"/>
                  </a:moveTo>
                  <a:lnTo>
                    <a:pt x="171450" y="57150"/>
                  </a:lnTo>
                  <a:lnTo>
                    <a:pt x="171450" y="114300"/>
                  </a:lnTo>
                  <a:lnTo>
                    <a:pt x="2600579" y="114300"/>
                  </a:lnTo>
                  <a:lnTo>
                    <a:pt x="2600579" y="57150"/>
                  </a:lnTo>
                  <a:close/>
                </a:path>
                <a:path w="2772409" h="171450">
                  <a:moveTo>
                    <a:pt x="2714879" y="57150"/>
                  </a:moveTo>
                  <a:lnTo>
                    <a:pt x="2629154" y="57150"/>
                  </a:lnTo>
                  <a:lnTo>
                    <a:pt x="2629154" y="114300"/>
                  </a:lnTo>
                  <a:lnTo>
                    <a:pt x="2714879" y="114300"/>
                  </a:lnTo>
                  <a:lnTo>
                    <a:pt x="2772029" y="85725"/>
                  </a:lnTo>
                  <a:lnTo>
                    <a:pt x="2714879" y="57150"/>
                  </a:lnTo>
                  <a:close/>
                </a:path>
              </a:pathLst>
            </a:custGeom>
            <a:solidFill>
              <a:srgbClr val="9EC3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70648" y="3494532"/>
              <a:ext cx="586740" cy="28955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26351" y="4672583"/>
              <a:ext cx="586740" cy="28956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46875" y="2446019"/>
              <a:ext cx="585216" cy="28956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398507" y="4102607"/>
              <a:ext cx="731520" cy="28956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682227" y="1825752"/>
              <a:ext cx="586740" cy="28956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403467" y="1030223"/>
              <a:ext cx="3489325" cy="4968240"/>
            </a:xfrm>
            <a:custGeom>
              <a:avLst/>
              <a:gdLst/>
              <a:ahLst/>
              <a:cxnLst/>
              <a:rect l="l" t="t" r="r" b="b"/>
              <a:pathLst>
                <a:path w="3489325" h="4968240">
                  <a:moveTo>
                    <a:pt x="171450" y="171450"/>
                  </a:moveTo>
                  <a:lnTo>
                    <a:pt x="157162" y="142875"/>
                  </a:lnTo>
                  <a:lnTo>
                    <a:pt x="85725" y="0"/>
                  </a:lnTo>
                  <a:lnTo>
                    <a:pt x="0" y="171450"/>
                  </a:lnTo>
                  <a:lnTo>
                    <a:pt x="57150" y="171450"/>
                  </a:lnTo>
                  <a:lnTo>
                    <a:pt x="57150" y="3935857"/>
                  </a:lnTo>
                  <a:lnTo>
                    <a:pt x="0" y="3935857"/>
                  </a:lnTo>
                  <a:lnTo>
                    <a:pt x="85725" y="4107307"/>
                  </a:lnTo>
                  <a:lnTo>
                    <a:pt x="157162" y="3964432"/>
                  </a:lnTo>
                  <a:lnTo>
                    <a:pt x="171450" y="3935857"/>
                  </a:lnTo>
                  <a:lnTo>
                    <a:pt x="114300" y="3935857"/>
                  </a:lnTo>
                  <a:lnTo>
                    <a:pt x="114300" y="171450"/>
                  </a:lnTo>
                  <a:lnTo>
                    <a:pt x="171450" y="171450"/>
                  </a:lnTo>
                  <a:close/>
                </a:path>
                <a:path w="3489325" h="4968240">
                  <a:moveTo>
                    <a:pt x="2658618" y="279654"/>
                  </a:moveTo>
                  <a:lnTo>
                    <a:pt x="2644330" y="251079"/>
                  </a:lnTo>
                  <a:lnTo>
                    <a:pt x="2572893" y="108204"/>
                  </a:lnTo>
                  <a:lnTo>
                    <a:pt x="2487168" y="279654"/>
                  </a:lnTo>
                  <a:lnTo>
                    <a:pt x="2544318" y="279654"/>
                  </a:lnTo>
                  <a:lnTo>
                    <a:pt x="2544318" y="2797810"/>
                  </a:lnTo>
                  <a:lnTo>
                    <a:pt x="2487168" y="2797810"/>
                  </a:lnTo>
                  <a:lnTo>
                    <a:pt x="2572893" y="2969260"/>
                  </a:lnTo>
                  <a:lnTo>
                    <a:pt x="2644330" y="2826385"/>
                  </a:lnTo>
                  <a:lnTo>
                    <a:pt x="2658618" y="2797810"/>
                  </a:lnTo>
                  <a:lnTo>
                    <a:pt x="2601468" y="2797810"/>
                  </a:lnTo>
                  <a:lnTo>
                    <a:pt x="2601468" y="279654"/>
                  </a:lnTo>
                  <a:lnTo>
                    <a:pt x="2658618" y="279654"/>
                  </a:lnTo>
                  <a:close/>
                </a:path>
                <a:path w="3489325" h="4968240">
                  <a:moveTo>
                    <a:pt x="3489198" y="3140202"/>
                  </a:moveTo>
                  <a:lnTo>
                    <a:pt x="3474910" y="3111627"/>
                  </a:lnTo>
                  <a:lnTo>
                    <a:pt x="3403473" y="2968752"/>
                  </a:lnTo>
                  <a:lnTo>
                    <a:pt x="3317748" y="3140202"/>
                  </a:lnTo>
                  <a:lnTo>
                    <a:pt x="3374898" y="3140202"/>
                  </a:lnTo>
                  <a:lnTo>
                    <a:pt x="3374898" y="4796396"/>
                  </a:lnTo>
                  <a:lnTo>
                    <a:pt x="3317748" y="4796396"/>
                  </a:lnTo>
                  <a:lnTo>
                    <a:pt x="3403473" y="4967846"/>
                  </a:lnTo>
                  <a:lnTo>
                    <a:pt x="3474910" y="4824971"/>
                  </a:lnTo>
                  <a:lnTo>
                    <a:pt x="3489198" y="4796396"/>
                  </a:lnTo>
                  <a:lnTo>
                    <a:pt x="3432048" y="4796396"/>
                  </a:lnTo>
                  <a:lnTo>
                    <a:pt x="3432048" y="3140202"/>
                  </a:lnTo>
                  <a:lnTo>
                    <a:pt x="3489198" y="3140202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764779" y="3913251"/>
              <a:ext cx="3903345" cy="171450"/>
            </a:xfrm>
            <a:custGeom>
              <a:avLst/>
              <a:gdLst/>
              <a:ahLst/>
              <a:cxnLst/>
              <a:rect l="l" t="t" r="r" b="b"/>
              <a:pathLst>
                <a:path w="3903345" h="171450">
                  <a:moveTo>
                    <a:pt x="171450" y="0"/>
                  </a:moveTo>
                  <a:lnTo>
                    <a:pt x="0" y="85725"/>
                  </a:lnTo>
                  <a:lnTo>
                    <a:pt x="171450" y="171450"/>
                  </a:lnTo>
                  <a:lnTo>
                    <a:pt x="171450" y="114300"/>
                  </a:lnTo>
                  <a:lnTo>
                    <a:pt x="142875" y="114300"/>
                  </a:lnTo>
                  <a:lnTo>
                    <a:pt x="142875" y="57150"/>
                  </a:lnTo>
                  <a:lnTo>
                    <a:pt x="171450" y="57150"/>
                  </a:lnTo>
                  <a:lnTo>
                    <a:pt x="171450" y="0"/>
                  </a:lnTo>
                  <a:close/>
                </a:path>
                <a:path w="3903345" h="171450">
                  <a:moveTo>
                    <a:pt x="3731514" y="0"/>
                  </a:moveTo>
                  <a:lnTo>
                    <a:pt x="3731514" y="171450"/>
                  </a:lnTo>
                  <a:lnTo>
                    <a:pt x="3845814" y="114300"/>
                  </a:lnTo>
                  <a:lnTo>
                    <a:pt x="3760089" y="114300"/>
                  </a:lnTo>
                  <a:lnTo>
                    <a:pt x="3760089" y="57150"/>
                  </a:lnTo>
                  <a:lnTo>
                    <a:pt x="3845814" y="57150"/>
                  </a:lnTo>
                  <a:lnTo>
                    <a:pt x="3731514" y="0"/>
                  </a:lnTo>
                  <a:close/>
                </a:path>
                <a:path w="3903345" h="171450">
                  <a:moveTo>
                    <a:pt x="171450" y="57150"/>
                  </a:moveTo>
                  <a:lnTo>
                    <a:pt x="142875" y="57150"/>
                  </a:lnTo>
                  <a:lnTo>
                    <a:pt x="142875" y="114300"/>
                  </a:lnTo>
                  <a:lnTo>
                    <a:pt x="171450" y="114300"/>
                  </a:lnTo>
                  <a:lnTo>
                    <a:pt x="171450" y="57150"/>
                  </a:lnTo>
                  <a:close/>
                </a:path>
                <a:path w="3903345" h="171450">
                  <a:moveTo>
                    <a:pt x="3731514" y="57150"/>
                  </a:moveTo>
                  <a:lnTo>
                    <a:pt x="171450" y="57150"/>
                  </a:lnTo>
                  <a:lnTo>
                    <a:pt x="171450" y="114300"/>
                  </a:lnTo>
                  <a:lnTo>
                    <a:pt x="3731514" y="114300"/>
                  </a:lnTo>
                  <a:lnTo>
                    <a:pt x="3731514" y="57150"/>
                  </a:lnTo>
                  <a:close/>
                </a:path>
                <a:path w="3903345" h="171450">
                  <a:moveTo>
                    <a:pt x="3845814" y="57150"/>
                  </a:moveTo>
                  <a:lnTo>
                    <a:pt x="3760089" y="57150"/>
                  </a:lnTo>
                  <a:lnTo>
                    <a:pt x="3760089" y="114300"/>
                  </a:lnTo>
                  <a:lnTo>
                    <a:pt x="3845814" y="114300"/>
                  </a:lnTo>
                  <a:lnTo>
                    <a:pt x="3902964" y="85725"/>
                  </a:lnTo>
                  <a:lnTo>
                    <a:pt x="3845814" y="57150"/>
                  </a:lnTo>
                  <a:close/>
                </a:path>
              </a:pathLst>
            </a:custGeom>
            <a:solidFill>
              <a:srgbClr val="9EC3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9184" y="2331719"/>
              <a:ext cx="4905756" cy="2630423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258876" y="378967"/>
            <a:ext cx="1184275" cy="1164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5700"/>
              </a:lnSpc>
              <a:spcBef>
                <a:spcPts val="95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</a:t>
            </a:r>
            <a:r>
              <a:rPr sz="2400" b="1" u="sng" spc="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Tree: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68" name="object 6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0700004" y="3540252"/>
            <a:ext cx="731520" cy="289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56716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88671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20627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52582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84538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16493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48450" y="1131361"/>
            <a:ext cx="0" cy="4595495"/>
          </a:xfrm>
          <a:custGeom>
            <a:avLst/>
            <a:gdLst/>
            <a:ahLst/>
            <a:cxnLst/>
            <a:rect l="l" t="t" r="r" b="b"/>
            <a:pathLst>
              <a:path h="4595495">
                <a:moveTo>
                  <a:pt x="0" y="4595477"/>
                </a:moveTo>
                <a:lnTo>
                  <a:pt x="0" y="0"/>
                </a:lnTo>
              </a:path>
            </a:pathLst>
          </a:custGeom>
          <a:ln w="894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652243" y="1126889"/>
            <a:ext cx="5833110" cy="4605020"/>
            <a:chOff x="5652243" y="1126889"/>
            <a:chExt cx="5833110" cy="4605020"/>
          </a:xfrm>
        </p:grpSpPr>
        <p:sp>
          <p:nvSpPr>
            <p:cNvPr id="10" name="object 10"/>
            <p:cNvSpPr/>
            <p:nvPr/>
          </p:nvSpPr>
          <p:spPr>
            <a:xfrm>
              <a:off x="5656716" y="1131361"/>
              <a:ext cx="5824220" cy="4595495"/>
            </a:xfrm>
            <a:custGeom>
              <a:avLst/>
              <a:gdLst/>
              <a:ahLst/>
              <a:cxnLst/>
              <a:rect l="l" t="t" r="r" b="b"/>
              <a:pathLst>
                <a:path w="5824220" h="4595495">
                  <a:moveTo>
                    <a:pt x="5823689" y="4595477"/>
                  </a:moveTo>
                  <a:lnTo>
                    <a:pt x="5823689" y="0"/>
                  </a:lnTo>
                </a:path>
                <a:path w="5824220" h="4595495">
                  <a:moveTo>
                    <a:pt x="5823689" y="4595477"/>
                  </a:moveTo>
                  <a:lnTo>
                    <a:pt x="0" y="4595477"/>
                  </a:lnTo>
                </a:path>
                <a:path w="5824220" h="4595495">
                  <a:moveTo>
                    <a:pt x="5823689" y="4021038"/>
                  </a:moveTo>
                  <a:lnTo>
                    <a:pt x="0" y="4021038"/>
                  </a:lnTo>
                </a:path>
                <a:path w="5824220" h="4595495">
                  <a:moveTo>
                    <a:pt x="5823689" y="3446599"/>
                  </a:moveTo>
                  <a:lnTo>
                    <a:pt x="0" y="3446599"/>
                  </a:lnTo>
                </a:path>
                <a:path w="5824220" h="4595495">
                  <a:moveTo>
                    <a:pt x="5823689" y="2872106"/>
                  </a:moveTo>
                  <a:lnTo>
                    <a:pt x="0" y="2872106"/>
                  </a:lnTo>
                </a:path>
                <a:path w="5824220" h="4595495">
                  <a:moveTo>
                    <a:pt x="5823689" y="2297649"/>
                  </a:moveTo>
                  <a:lnTo>
                    <a:pt x="0" y="2297649"/>
                  </a:lnTo>
                </a:path>
                <a:path w="5824220" h="4595495">
                  <a:moveTo>
                    <a:pt x="5823689" y="1723192"/>
                  </a:moveTo>
                  <a:lnTo>
                    <a:pt x="0" y="1723192"/>
                  </a:lnTo>
                </a:path>
                <a:path w="5824220" h="4595495">
                  <a:moveTo>
                    <a:pt x="5823689" y="1148735"/>
                  </a:moveTo>
                  <a:lnTo>
                    <a:pt x="0" y="1148735"/>
                  </a:lnTo>
                </a:path>
                <a:path w="5824220" h="4595495">
                  <a:moveTo>
                    <a:pt x="5823689" y="574278"/>
                  </a:moveTo>
                  <a:lnTo>
                    <a:pt x="0" y="574278"/>
                  </a:lnTo>
                </a:path>
                <a:path w="5824220" h="4595495">
                  <a:moveTo>
                    <a:pt x="5823689" y="0"/>
                  </a:moveTo>
                  <a:lnTo>
                    <a:pt x="0" y="0"/>
                  </a:lnTo>
                </a:path>
              </a:pathLst>
            </a:custGeom>
            <a:ln w="894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52236" y="1126896"/>
              <a:ext cx="5833110" cy="4605020"/>
            </a:xfrm>
            <a:custGeom>
              <a:avLst/>
              <a:gdLst/>
              <a:ahLst/>
              <a:cxnLst/>
              <a:rect l="l" t="t" r="r" b="b"/>
              <a:pathLst>
                <a:path w="5833109" h="4605020">
                  <a:moveTo>
                    <a:pt x="5832640" y="4537240"/>
                  </a:moveTo>
                  <a:lnTo>
                    <a:pt x="5823686" y="4537240"/>
                  </a:lnTo>
                  <a:lnTo>
                    <a:pt x="5823686" y="4595482"/>
                  </a:lnTo>
                  <a:lnTo>
                    <a:pt x="5000676" y="4595482"/>
                  </a:lnTo>
                  <a:lnTo>
                    <a:pt x="5000676" y="4537240"/>
                  </a:lnTo>
                  <a:lnTo>
                    <a:pt x="4991735" y="4537240"/>
                  </a:lnTo>
                  <a:lnTo>
                    <a:pt x="4991735" y="4595482"/>
                  </a:lnTo>
                  <a:lnTo>
                    <a:pt x="4168724" y="4595482"/>
                  </a:lnTo>
                  <a:lnTo>
                    <a:pt x="4168724" y="4537240"/>
                  </a:lnTo>
                  <a:lnTo>
                    <a:pt x="4159783" y="4537240"/>
                  </a:lnTo>
                  <a:lnTo>
                    <a:pt x="4159783" y="4595482"/>
                  </a:lnTo>
                  <a:lnTo>
                    <a:pt x="3336772" y="4595482"/>
                  </a:lnTo>
                  <a:lnTo>
                    <a:pt x="3336772" y="4537240"/>
                  </a:lnTo>
                  <a:lnTo>
                    <a:pt x="3327819" y="4537240"/>
                  </a:lnTo>
                  <a:lnTo>
                    <a:pt x="3327819" y="4595482"/>
                  </a:lnTo>
                  <a:lnTo>
                    <a:pt x="2504808" y="4595482"/>
                  </a:lnTo>
                  <a:lnTo>
                    <a:pt x="2504808" y="4537240"/>
                  </a:lnTo>
                  <a:lnTo>
                    <a:pt x="2495867" y="4537240"/>
                  </a:lnTo>
                  <a:lnTo>
                    <a:pt x="2495867" y="4595482"/>
                  </a:lnTo>
                  <a:lnTo>
                    <a:pt x="1672856" y="4595482"/>
                  </a:lnTo>
                  <a:lnTo>
                    <a:pt x="1672856" y="4537240"/>
                  </a:lnTo>
                  <a:lnTo>
                    <a:pt x="1663915" y="4537240"/>
                  </a:lnTo>
                  <a:lnTo>
                    <a:pt x="1663915" y="4595482"/>
                  </a:lnTo>
                  <a:lnTo>
                    <a:pt x="840905" y="4595482"/>
                  </a:lnTo>
                  <a:lnTo>
                    <a:pt x="840905" y="4537240"/>
                  </a:lnTo>
                  <a:lnTo>
                    <a:pt x="831951" y="4537240"/>
                  </a:lnTo>
                  <a:lnTo>
                    <a:pt x="831951" y="4595482"/>
                  </a:lnTo>
                  <a:lnTo>
                    <a:pt x="8940" y="4595482"/>
                  </a:lnTo>
                  <a:lnTo>
                    <a:pt x="8940" y="4537240"/>
                  </a:lnTo>
                  <a:lnTo>
                    <a:pt x="0" y="4537240"/>
                  </a:lnTo>
                  <a:lnTo>
                    <a:pt x="0" y="4599952"/>
                  </a:lnTo>
                  <a:lnTo>
                    <a:pt x="4470" y="4599952"/>
                  </a:lnTo>
                  <a:lnTo>
                    <a:pt x="4470" y="4604423"/>
                  </a:lnTo>
                  <a:lnTo>
                    <a:pt x="5832640" y="4604423"/>
                  </a:lnTo>
                  <a:lnTo>
                    <a:pt x="5832640" y="4599952"/>
                  </a:lnTo>
                  <a:lnTo>
                    <a:pt x="5832640" y="4595482"/>
                  </a:lnTo>
                  <a:lnTo>
                    <a:pt x="5832640" y="4537240"/>
                  </a:lnTo>
                  <a:close/>
                </a:path>
                <a:path w="5833109" h="4605020">
                  <a:moveTo>
                    <a:pt x="5832640" y="0"/>
                  </a:moveTo>
                  <a:lnTo>
                    <a:pt x="4470" y="0"/>
                  </a:lnTo>
                  <a:lnTo>
                    <a:pt x="4470" y="4381"/>
                  </a:lnTo>
                  <a:lnTo>
                    <a:pt x="0" y="4381"/>
                  </a:lnTo>
                  <a:lnTo>
                    <a:pt x="0" y="67094"/>
                  </a:lnTo>
                  <a:lnTo>
                    <a:pt x="8940" y="67094"/>
                  </a:lnTo>
                  <a:lnTo>
                    <a:pt x="8940" y="8940"/>
                  </a:lnTo>
                  <a:lnTo>
                    <a:pt x="831951" y="8940"/>
                  </a:lnTo>
                  <a:lnTo>
                    <a:pt x="831951" y="67094"/>
                  </a:lnTo>
                  <a:lnTo>
                    <a:pt x="840905" y="67094"/>
                  </a:lnTo>
                  <a:lnTo>
                    <a:pt x="840905" y="8940"/>
                  </a:lnTo>
                  <a:lnTo>
                    <a:pt x="1663915" y="8940"/>
                  </a:lnTo>
                  <a:lnTo>
                    <a:pt x="1663915" y="67094"/>
                  </a:lnTo>
                  <a:lnTo>
                    <a:pt x="1672856" y="67094"/>
                  </a:lnTo>
                  <a:lnTo>
                    <a:pt x="1672856" y="8940"/>
                  </a:lnTo>
                  <a:lnTo>
                    <a:pt x="2495867" y="8940"/>
                  </a:lnTo>
                  <a:lnTo>
                    <a:pt x="2495867" y="67094"/>
                  </a:lnTo>
                  <a:lnTo>
                    <a:pt x="2504808" y="67094"/>
                  </a:lnTo>
                  <a:lnTo>
                    <a:pt x="2504808" y="8940"/>
                  </a:lnTo>
                  <a:lnTo>
                    <a:pt x="3327819" y="8940"/>
                  </a:lnTo>
                  <a:lnTo>
                    <a:pt x="3327819" y="67094"/>
                  </a:lnTo>
                  <a:lnTo>
                    <a:pt x="3336772" y="67094"/>
                  </a:lnTo>
                  <a:lnTo>
                    <a:pt x="3336772" y="8940"/>
                  </a:lnTo>
                  <a:lnTo>
                    <a:pt x="4159783" y="8940"/>
                  </a:lnTo>
                  <a:lnTo>
                    <a:pt x="4159783" y="67094"/>
                  </a:lnTo>
                  <a:lnTo>
                    <a:pt x="4168724" y="67094"/>
                  </a:lnTo>
                  <a:lnTo>
                    <a:pt x="4168724" y="8940"/>
                  </a:lnTo>
                  <a:lnTo>
                    <a:pt x="4991735" y="8940"/>
                  </a:lnTo>
                  <a:lnTo>
                    <a:pt x="4991735" y="67094"/>
                  </a:lnTo>
                  <a:lnTo>
                    <a:pt x="5000676" y="67094"/>
                  </a:lnTo>
                  <a:lnTo>
                    <a:pt x="5000676" y="8940"/>
                  </a:lnTo>
                  <a:lnTo>
                    <a:pt x="5823686" y="8940"/>
                  </a:lnTo>
                  <a:lnTo>
                    <a:pt x="5823686" y="67094"/>
                  </a:lnTo>
                  <a:lnTo>
                    <a:pt x="5832640" y="67094"/>
                  </a:lnTo>
                  <a:lnTo>
                    <a:pt x="5832640" y="8940"/>
                  </a:lnTo>
                  <a:lnTo>
                    <a:pt x="5832640" y="4381"/>
                  </a:lnTo>
                  <a:lnTo>
                    <a:pt x="583264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3580" y="5849978"/>
            <a:ext cx="81084" cy="12696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3478" y="5849978"/>
            <a:ext cx="82229" cy="1248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2499" y="5850497"/>
            <a:ext cx="86058" cy="12433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08827" y="5849978"/>
            <a:ext cx="82043" cy="12696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41241" y="5849978"/>
            <a:ext cx="81943" cy="12696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34729" y="5849978"/>
            <a:ext cx="168895" cy="12696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66686" y="5849978"/>
            <a:ext cx="168001" cy="12485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98641" y="5849978"/>
            <a:ext cx="168717" cy="124856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5652243" y="1126889"/>
            <a:ext cx="9525" cy="4600575"/>
          </a:xfrm>
          <a:custGeom>
            <a:avLst/>
            <a:gdLst/>
            <a:ahLst/>
            <a:cxnLst/>
            <a:rect l="l" t="t" r="r" b="b"/>
            <a:pathLst>
              <a:path w="9525" h="4600575">
                <a:moveTo>
                  <a:pt x="8945" y="0"/>
                </a:moveTo>
                <a:lnTo>
                  <a:pt x="0" y="0"/>
                </a:lnTo>
                <a:lnTo>
                  <a:pt x="0" y="4599950"/>
                </a:lnTo>
                <a:lnTo>
                  <a:pt x="8946" y="4599950"/>
                </a:lnTo>
                <a:lnTo>
                  <a:pt x="894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475932" y="1126889"/>
            <a:ext cx="9525" cy="4600575"/>
          </a:xfrm>
          <a:custGeom>
            <a:avLst/>
            <a:gdLst/>
            <a:ahLst/>
            <a:cxnLst/>
            <a:rect l="l" t="t" r="r" b="b"/>
            <a:pathLst>
              <a:path w="9525" h="4600575">
                <a:moveTo>
                  <a:pt x="8945" y="0"/>
                </a:moveTo>
                <a:lnTo>
                  <a:pt x="0" y="0"/>
                </a:lnTo>
                <a:lnTo>
                  <a:pt x="0" y="4599950"/>
                </a:lnTo>
                <a:lnTo>
                  <a:pt x="8946" y="4599950"/>
                </a:lnTo>
                <a:lnTo>
                  <a:pt x="894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56716" y="5722366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56716" y="5147927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56716" y="4573470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4"/>
                </a:lnTo>
                <a:lnTo>
                  <a:pt x="62709" y="8944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56716" y="3998995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56716" y="3424538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56716" y="2850081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56716" y="2275624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56716" y="1701167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56716" y="1126889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4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417606" y="5722366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417606" y="5147927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417606" y="4573470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4"/>
                </a:lnTo>
                <a:lnTo>
                  <a:pt x="62709" y="8944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1417606" y="3998995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417606" y="3424538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417606" y="2850081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417606" y="2275624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417606" y="1701167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417606" y="1126889"/>
            <a:ext cx="62865" cy="9525"/>
          </a:xfrm>
          <a:custGeom>
            <a:avLst/>
            <a:gdLst/>
            <a:ahLst/>
            <a:cxnLst/>
            <a:rect l="l" t="t" r="r" b="b"/>
            <a:pathLst>
              <a:path w="62865" h="9525">
                <a:moveTo>
                  <a:pt x="62709" y="0"/>
                </a:moveTo>
                <a:lnTo>
                  <a:pt x="0" y="0"/>
                </a:lnTo>
                <a:lnTo>
                  <a:pt x="0" y="8945"/>
                </a:lnTo>
                <a:lnTo>
                  <a:pt x="62709" y="8945"/>
                </a:lnTo>
                <a:lnTo>
                  <a:pt x="6270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91685" y="5667730"/>
            <a:ext cx="81084" cy="126967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503404" y="5093290"/>
            <a:ext cx="46355" cy="125095"/>
          </a:xfrm>
          <a:custGeom>
            <a:avLst/>
            <a:gdLst/>
            <a:ahLst/>
            <a:cxnLst/>
            <a:rect l="l" t="t" r="r" b="b"/>
            <a:pathLst>
              <a:path w="46354" h="125095">
                <a:moveTo>
                  <a:pt x="45784" y="0"/>
                </a:moveTo>
                <a:lnTo>
                  <a:pt x="35961" y="0"/>
                </a:lnTo>
                <a:lnTo>
                  <a:pt x="33296" y="5367"/>
                </a:lnTo>
                <a:lnTo>
                  <a:pt x="28769" y="10913"/>
                </a:lnTo>
                <a:lnTo>
                  <a:pt x="0" y="31200"/>
                </a:lnTo>
                <a:lnTo>
                  <a:pt x="0" y="45960"/>
                </a:lnTo>
                <a:lnTo>
                  <a:pt x="30522" y="27551"/>
                </a:lnTo>
                <a:lnTo>
                  <a:pt x="30522" y="124838"/>
                </a:lnTo>
                <a:lnTo>
                  <a:pt x="45784" y="124838"/>
                </a:lnTo>
                <a:lnTo>
                  <a:pt x="4578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89627" y="4518887"/>
            <a:ext cx="82300" cy="12478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491774" y="3944430"/>
            <a:ext cx="81424" cy="127021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86693" y="3370510"/>
            <a:ext cx="86004" cy="12433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91684" y="2797662"/>
            <a:ext cx="82444" cy="124874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91084" y="2221059"/>
            <a:ext cx="82024" cy="12702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92704" y="1648748"/>
            <a:ext cx="80493" cy="12272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491523" y="1072145"/>
            <a:ext cx="81925" cy="12702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811256" y="5058977"/>
            <a:ext cx="186787" cy="186846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643211" y="3335623"/>
            <a:ext cx="186787" cy="18677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395242" y="2186709"/>
            <a:ext cx="186823" cy="18695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23100" y="4484537"/>
            <a:ext cx="186787" cy="186846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971034" y="3910081"/>
            <a:ext cx="186787" cy="186774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329184" y="947927"/>
            <a:ext cx="11338560" cy="5093335"/>
            <a:chOff x="329184" y="947927"/>
            <a:chExt cx="11338560" cy="5093335"/>
          </a:xfrm>
        </p:grpSpPr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891145" y="1612252"/>
              <a:ext cx="186787" cy="18695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627239" y="947927"/>
              <a:ext cx="171450" cy="5093335"/>
            </a:xfrm>
            <a:custGeom>
              <a:avLst/>
              <a:gdLst/>
              <a:ahLst/>
              <a:cxnLst/>
              <a:rect l="l" t="t" r="r" b="b"/>
              <a:pathLst>
                <a:path w="171450" h="5093335">
                  <a:moveTo>
                    <a:pt x="57150" y="4921529"/>
                  </a:moveTo>
                  <a:lnTo>
                    <a:pt x="0" y="4921529"/>
                  </a:lnTo>
                  <a:lnTo>
                    <a:pt x="85725" y="5092979"/>
                  </a:lnTo>
                  <a:lnTo>
                    <a:pt x="157162" y="4950104"/>
                  </a:lnTo>
                  <a:lnTo>
                    <a:pt x="57150" y="4950104"/>
                  </a:lnTo>
                  <a:lnTo>
                    <a:pt x="57150" y="4921529"/>
                  </a:lnTo>
                  <a:close/>
                </a:path>
                <a:path w="171450" h="5093335">
                  <a:moveTo>
                    <a:pt x="114300" y="142875"/>
                  </a:moveTo>
                  <a:lnTo>
                    <a:pt x="57150" y="142875"/>
                  </a:lnTo>
                  <a:lnTo>
                    <a:pt x="57150" y="4950104"/>
                  </a:lnTo>
                  <a:lnTo>
                    <a:pt x="114300" y="4950104"/>
                  </a:lnTo>
                  <a:lnTo>
                    <a:pt x="114300" y="142875"/>
                  </a:lnTo>
                  <a:close/>
                </a:path>
                <a:path w="171450" h="5093335">
                  <a:moveTo>
                    <a:pt x="171450" y="4921529"/>
                  </a:moveTo>
                  <a:lnTo>
                    <a:pt x="114300" y="4921529"/>
                  </a:lnTo>
                  <a:lnTo>
                    <a:pt x="114300" y="4950104"/>
                  </a:lnTo>
                  <a:lnTo>
                    <a:pt x="157162" y="4950104"/>
                  </a:lnTo>
                  <a:lnTo>
                    <a:pt x="171450" y="4921529"/>
                  </a:lnTo>
                  <a:close/>
                </a:path>
                <a:path w="171450" h="5093335">
                  <a:moveTo>
                    <a:pt x="85725" y="0"/>
                  </a:moveTo>
                  <a:lnTo>
                    <a:pt x="0" y="171450"/>
                  </a:lnTo>
                  <a:lnTo>
                    <a:pt x="57150" y="171450"/>
                  </a:lnTo>
                  <a:lnTo>
                    <a:pt x="57150" y="142875"/>
                  </a:lnTo>
                  <a:lnTo>
                    <a:pt x="157162" y="142875"/>
                  </a:lnTo>
                  <a:lnTo>
                    <a:pt x="85725" y="0"/>
                  </a:lnTo>
                  <a:close/>
                </a:path>
                <a:path w="171450" h="5093335">
                  <a:moveTo>
                    <a:pt x="157162" y="142875"/>
                  </a:moveTo>
                  <a:lnTo>
                    <a:pt x="114300" y="142875"/>
                  </a:lnTo>
                  <a:lnTo>
                    <a:pt x="114300" y="171450"/>
                  </a:lnTo>
                  <a:lnTo>
                    <a:pt x="171450" y="171450"/>
                  </a:lnTo>
                  <a:lnTo>
                    <a:pt x="157162" y="142875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28260" y="5053202"/>
              <a:ext cx="2585720" cy="171450"/>
            </a:xfrm>
            <a:custGeom>
              <a:avLst/>
              <a:gdLst/>
              <a:ahLst/>
              <a:cxnLst/>
              <a:rect l="l" t="t" r="r" b="b"/>
              <a:pathLst>
                <a:path w="2585720" h="171450">
                  <a:moveTo>
                    <a:pt x="171450" y="0"/>
                  </a:moveTo>
                  <a:lnTo>
                    <a:pt x="0" y="85725"/>
                  </a:lnTo>
                  <a:lnTo>
                    <a:pt x="171450" y="171450"/>
                  </a:lnTo>
                  <a:lnTo>
                    <a:pt x="171450" y="114300"/>
                  </a:lnTo>
                  <a:lnTo>
                    <a:pt x="142875" y="114300"/>
                  </a:lnTo>
                  <a:lnTo>
                    <a:pt x="142875" y="57150"/>
                  </a:lnTo>
                  <a:lnTo>
                    <a:pt x="171450" y="57150"/>
                  </a:lnTo>
                  <a:lnTo>
                    <a:pt x="171450" y="0"/>
                  </a:lnTo>
                  <a:close/>
                </a:path>
                <a:path w="2585720" h="171450">
                  <a:moveTo>
                    <a:pt x="2414269" y="0"/>
                  </a:moveTo>
                  <a:lnTo>
                    <a:pt x="2414269" y="171450"/>
                  </a:lnTo>
                  <a:lnTo>
                    <a:pt x="2528569" y="114300"/>
                  </a:lnTo>
                  <a:lnTo>
                    <a:pt x="2442844" y="114300"/>
                  </a:lnTo>
                  <a:lnTo>
                    <a:pt x="2442844" y="57150"/>
                  </a:lnTo>
                  <a:lnTo>
                    <a:pt x="2528569" y="57150"/>
                  </a:lnTo>
                  <a:lnTo>
                    <a:pt x="2414269" y="0"/>
                  </a:lnTo>
                  <a:close/>
                </a:path>
                <a:path w="2585720" h="171450">
                  <a:moveTo>
                    <a:pt x="171450" y="57150"/>
                  </a:moveTo>
                  <a:lnTo>
                    <a:pt x="142875" y="57150"/>
                  </a:lnTo>
                  <a:lnTo>
                    <a:pt x="142875" y="114300"/>
                  </a:lnTo>
                  <a:lnTo>
                    <a:pt x="171450" y="114300"/>
                  </a:lnTo>
                  <a:lnTo>
                    <a:pt x="171450" y="57150"/>
                  </a:lnTo>
                  <a:close/>
                </a:path>
                <a:path w="2585720" h="171450">
                  <a:moveTo>
                    <a:pt x="2414269" y="57150"/>
                  </a:moveTo>
                  <a:lnTo>
                    <a:pt x="171450" y="57150"/>
                  </a:lnTo>
                  <a:lnTo>
                    <a:pt x="171450" y="114300"/>
                  </a:lnTo>
                  <a:lnTo>
                    <a:pt x="2414269" y="114300"/>
                  </a:lnTo>
                  <a:lnTo>
                    <a:pt x="2414269" y="57150"/>
                  </a:lnTo>
                  <a:close/>
                </a:path>
                <a:path w="2585720" h="171450">
                  <a:moveTo>
                    <a:pt x="2528569" y="57150"/>
                  </a:moveTo>
                  <a:lnTo>
                    <a:pt x="2442844" y="57150"/>
                  </a:lnTo>
                  <a:lnTo>
                    <a:pt x="2442844" y="114300"/>
                  </a:lnTo>
                  <a:lnTo>
                    <a:pt x="2528569" y="114300"/>
                  </a:lnTo>
                  <a:lnTo>
                    <a:pt x="2585719" y="85725"/>
                  </a:lnTo>
                  <a:lnTo>
                    <a:pt x="2528569" y="57150"/>
                  </a:lnTo>
                  <a:close/>
                </a:path>
              </a:pathLst>
            </a:custGeom>
            <a:solidFill>
              <a:srgbClr val="9EC3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70648" y="3494532"/>
              <a:ext cx="586740" cy="28955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26351" y="4672583"/>
              <a:ext cx="586740" cy="28956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46875" y="2446019"/>
              <a:ext cx="585216" cy="28956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700003" y="3540251"/>
              <a:ext cx="731520" cy="28956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98507" y="4102607"/>
              <a:ext cx="731520" cy="28956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682227" y="1825752"/>
              <a:ext cx="586740" cy="28956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403467" y="1115567"/>
              <a:ext cx="3489325" cy="4882515"/>
            </a:xfrm>
            <a:custGeom>
              <a:avLst/>
              <a:gdLst/>
              <a:ahLst/>
              <a:cxnLst/>
              <a:rect l="l" t="t" r="r" b="b"/>
              <a:pathLst>
                <a:path w="3489325" h="4882515">
                  <a:moveTo>
                    <a:pt x="171450" y="171450"/>
                  </a:moveTo>
                  <a:lnTo>
                    <a:pt x="157162" y="142875"/>
                  </a:lnTo>
                  <a:lnTo>
                    <a:pt x="85725" y="0"/>
                  </a:lnTo>
                  <a:lnTo>
                    <a:pt x="0" y="171450"/>
                  </a:lnTo>
                  <a:lnTo>
                    <a:pt x="57150" y="171450"/>
                  </a:lnTo>
                  <a:lnTo>
                    <a:pt x="57150" y="3850652"/>
                  </a:lnTo>
                  <a:lnTo>
                    <a:pt x="0" y="3850652"/>
                  </a:lnTo>
                  <a:lnTo>
                    <a:pt x="85725" y="4022090"/>
                  </a:lnTo>
                  <a:lnTo>
                    <a:pt x="157162" y="3879215"/>
                  </a:lnTo>
                  <a:lnTo>
                    <a:pt x="171450" y="3850652"/>
                  </a:lnTo>
                  <a:lnTo>
                    <a:pt x="114300" y="3850652"/>
                  </a:lnTo>
                  <a:lnTo>
                    <a:pt x="114300" y="171450"/>
                  </a:lnTo>
                  <a:lnTo>
                    <a:pt x="171450" y="171450"/>
                  </a:lnTo>
                  <a:close/>
                </a:path>
                <a:path w="3489325" h="4882515">
                  <a:moveTo>
                    <a:pt x="2658618" y="194310"/>
                  </a:moveTo>
                  <a:lnTo>
                    <a:pt x="2644330" y="165735"/>
                  </a:lnTo>
                  <a:lnTo>
                    <a:pt x="2572893" y="22860"/>
                  </a:lnTo>
                  <a:lnTo>
                    <a:pt x="2487168" y="194310"/>
                  </a:lnTo>
                  <a:lnTo>
                    <a:pt x="2544318" y="194310"/>
                  </a:lnTo>
                  <a:lnTo>
                    <a:pt x="2544318" y="2712466"/>
                  </a:lnTo>
                  <a:lnTo>
                    <a:pt x="2487168" y="2712466"/>
                  </a:lnTo>
                  <a:lnTo>
                    <a:pt x="2572893" y="2883916"/>
                  </a:lnTo>
                  <a:lnTo>
                    <a:pt x="2644330" y="2741041"/>
                  </a:lnTo>
                  <a:lnTo>
                    <a:pt x="2658618" y="2712466"/>
                  </a:lnTo>
                  <a:lnTo>
                    <a:pt x="2601468" y="2712466"/>
                  </a:lnTo>
                  <a:lnTo>
                    <a:pt x="2601468" y="194310"/>
                  </a:lnTo>
                  <a:lnTo>
                    <a:pt x="2658618" y="194310"/>
                  </a:lnTo>
                  <a:close/>
                </a:path>
                <a:path w="3489325" h="4882515">
                  <a:moveTo>
                    <a:pt x="3489198" y="3054858"/>
                  </a:moveTo>
                  <a:lnTo>
                    <a:pt x="3474910" y="3026283"/>
                  </a:lnTo>
                  <a:lnTo>
                    <a:pt x="3403473" y="2883408"/>
                  </a:lnTo>
                  <a:lnTo>
                    <a:pt x="3317748" y="3054858"/>
                  </a:lnTo>
                  <a:lnTo>
                    <a:pt x="3374898" y="3054858"/>
                  </a:lnTo>
                  <a:lnTo>
                    <a:pt x="3374898" y="4711052"/>
                  </a:lnTo>
                  <a:lnTo>
                    <a:pt x="3317748" y="4711052"/>
                  </a:lnTo>
                  <a:lnTo>
                    <a:pt x="3403473" y="4882502"/>
                  </a:lnTo>
                  <a:lnTo>
                    <a:pt x="3474910" y="4739627"/>
                  </a:lnTo>
                  <a:lnTo>
                    <a:pt x="3489198" y="4711052"/>
                  </a:lnTo>
                  <a:lnTo>
                    <a:pt x="3432048" y="4711052"/>
                  </a:lnTo>
                  <a:lnTo>
                    <a:pt x="3432048" y="3054858"/>
                  </a:lnTo>
                  <a:lnTo>
                    <a:pt x="3489198" y="3054858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64779" y="3913251"/>
              <a:ext cx="3903345" cy="171450"/>
            </a:xfrm>
            <a:custGeom>
              <a:avLst/>
              <a:gdLst/>
              <a:ahLst/>
              <a:cxnLst/>
              <a:rect l="l" t="t" r="r" b="b"/>
              <a:pathLst>
                <a:path w="3903345" h="171450">
                  <a:moveTo>
                    <a:pt x="171450" y="0"/>
                  </a:moveTo>
                  <a:lnTo>
                    <a:pt x="0" y="85725"/>
                  </a:lnTo>
                  <a:lnTo>
                    <a:pt x="171450" y="171450"/>
                  </a:lnTo>
                  <a:lnTo>
                    <a:pt x="171450" y="114300"/>
                  </a:lnTo>
                  <a:lnTo>
                    <a:pt x="142875" y="114300"/>
                  </a:lnTo>
                  <a:lnTo>
                    <a:pt x="142875" y="57150"/>
                  </a:lnTo>
                  <a:lnTo>
                    <a:pt x="171450" y="57150"/>
                  </a:lnTo>
                  <a:lnTo>
                    <a:pt x="171450" y="0"/>
                  </a:lnTo>
                  <a:close/>
                </a:path>
                <a:path w="3903345" h="171450">
                  <a:moveTo>
                    <a:pt x="3731514" y="0"/>
                  </a:moveTo>
                  <a:lnTo>
                    <a:pt x="3731514" y="171450"/>
                  </a:lnTo>
                  <a:lnTo>
                    <a:pt x="3845814" y="114300"/>
                  </a:lnTo>
                  <a:lnTo>
                    <a:pt x="3760089" y="114300"/>
                  </a:lnTo>
                  <a:lnTo>
                    <a:pt x="3760089" y="57150"/>
                  </a:lnTo>
                  <a:lnTo>
                    <a:pt x="3845814" y="57150"/>
                  </a:lnTo>
                  <a:lnTo>
                    <a:pt x="3731514" y="0"/>
                  </a:lnTo>
                  <a:close/>
                </a:path>
                <a:path w="3903345" h="171450">
                  <a:moveTo>
                    <a:pt x="171450" y="57150"/>
                  </a:moveTo>
                  <a:lnTo>
                    <a:pt x="142875" y="57150"/>
                  </a:lnTo>
                  <a:lnTo>
                    <a:pt x="142875" y="114300"/>
                  </a:lnTo>
                  <a:lnTo>
                    <a:pt x="171450" y="114300"/>
                  </a:lnTo>
                  <a:lnTo>
                    <a:pt x="171450" y="57150"/>
                  </a:lnTo>
                  <a:close/>
                </a:path>
                <a:path w="3903345" h="171450">
                  <a:moveTo>
                    <a:pt x="3731514" y="57150"/>
                  </a:moveTo>
                  <a:lnTo>
                    <a:pt x="171450" y="57150"/>
                  </a:lnTo>
                  <a:lnTo>
                    <a:pt x="171450" y="114300"/>
                  </a:lnTo>
                  <a:lnTo>
                    <a:pt x="3731514" y="114300"/>
                  </a:lnTo>
                  <a:lnTo>
                    <a:pt x="3731514" y="57150"/>
                  </a:lnTo>
                  <a:close/>
                </a:path>
                <a:path w="3903345" h="171450">
                  <a:moveTo>
                    <a:pt x="3845814" y="57150"/>
                  </a:moveTo>
                  <a:lnTo>
                    <a:pt x="3760089" y="57150"/>
                  </a:lnTo>
                  <a:lnTo>
                    <a:pt x="3760089" y="114300"/>
                  </a:lnTo>
                  <a:lnTo>
                    <a:pt x="3845814" y="114300"/>
                  </a:lnTo>
                  <a:lnTo>
                    <a:pt x="3902964" y="85725"/>
                  </a:lnTo>
                  <a:lnTo>
                    <a:pt x="3845814" y="57150"/>
                  </a:lnTo>
                  <a:close/>
                </a:path>
              </a:pathLst>
            </a:custGeom>
            <a:solidFill>
              <a:srgbClr val="9EC3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442703" y="3086100"/>
              <a:ext cx="585216" cy="29108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287002" y="3314445"/>
              <a:ext cx="227583" cy="22758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712964" y="1115567"/>
              <a:ext cx="3903345" cy="2822575"/>
            </a:xfrm>
            <a:custGeom>
              <a:avLst/>
              <a:gdLst/>
              <a:ahLst/>
              <a:cxnLst/>
              <a:rect l="l" t="t" r="r" b="b"/>
              <a:pathLst>
                <a:path w="3903345" h="2822575">
                  <a:moveTo>
                    <a:pt x="3902964" y="0"/>
                  </a:moveTo>
                  <a:lnTo>
                    <a:pt x="0" y="0"/>
                  </a:lnTo>
                  <a:lnTo>
                    <a:pt x="0" y="2822447"/>
                  </a:lnTo>
                  <a:lnTo>
                    <a:pt x="3902964" y="2822447"/>
                  </a:lnTo>
                  <a:lnTo>
                    <a:pt x="3902964" y="0"/>
                  </a:lnTo>
                  <a:close/>
                </a:path>
              </a:pathLst>
            </a:custGeom>
            <a:solidFill>
              <a:srgbClr val="F4B083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712964" y="1115567"/>
              <a:ext cx="3903345" cy="2822575"/>
            </a:xfrm>
            <a:custGeom>
              <a:avLst/>
              <a:gdLst/>
              <a:ahLst/>
              <a:cxnLst/>
              <a:rect l="l" t="t" r="r" b="b"/>
              <a:pathLst>
                <a:path w="3903345" h="2822575">
                  <a:moveTo>
                    <a:pt x="0" y="2822447"/>
                  </a:moveTo>
                  <a:lnTo>
                    <a:pt x="3902964" y="2822447"/>
                  </a:lnTo>
                  <a:lnTo>
                    <a:pt x="3902964" y="0"/>
                  </a:lnTo>
                  <a:lnTo>
                    <a:pt x="0" y="0"/>
                  </a:lnTo>
                  <a:lnTo>
                    <a:pt x="0" y="2822447"/>
                  </a:lnTo>
                  <a:close/>
                </a:path>
              </a:pathLst>
            </a:custGeom>
            <a:ln w="12700">
              <a:solidFill>
                <a:srgbClr val="F4B0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29184" y="2331719"/>
              <a:ext cx="4905756" cy="2630423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2624708" y="3759"/>
            <a:ext cx="69424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258876" y="378967"/>
            <a:ext cx="3173730" cy="1530350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</a:t>
            </a:r>
            <a:r>
              <a:rPr sz="2400" b="1" u="sng" spc="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Tree: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60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Connection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24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kNN: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Finding</a:t>
            </a:r>
            <a:r>
              <a:rPr sz="2400" b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nearest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neighbor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968754" y="6160414"/>
            <a:ext cx="7230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Segoe Print"/>
                <a:cs typeface="Segoe Print"/>
              </a:rPr>
              <a:t>Issue:</a:t>
            </a:r>
            <a:r>
              <a:rPr sz="2400" b="1" spc="-4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C00000"/>
                </a:solidFill>
                <a:latin typeface="Segoe Print"/>
                <a:cs typeface="Segoe Print"/>
              </a:rPr>
              <a:t>May</a:t>
            </a:r>
            <a:r>
              <a:rPr sz="2400" b="1" spc="-5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C00000"/>
                </a:solidFill>
                <a:latin typeface="Segoe Print"/>
                <a:cs typeface="Segoe Print"/>
              </a:rPr>
              <a:t>miss</a:t>
            </a:r>
            <a:r>
              <a:rPr sz="2400" b="1" spc="-4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C00000"/>
                </a:solidFill>
                <a:latin typeface="Segoe Print"/>
                <a:cs typeface="Segoe Print"/>
              </a:rPr>
              <a:t>neighbors!</a:t>
            </a:r>
            <a:r>
              <a:rPr sz="2400" b="1" spc="-4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C00000"/>
                </a:solidFill>
                <a:latin typeface="Segoe Print"/>
                <a:cs typeface="Segoe Print"/>
              </a:rPr>
              <a:t>Trick</a:t>
            </a:r>
            <a:r>
              <a:rPr sz="2400" b="1" spc="-3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C00000"/>
                </a:solidFill>
                <a:latin typeface="Segoe Print"/>
                <a:cs typeface="Segoe Print"/>
              </a:rPr>
              <a:t>to</a:t>
            </a:r>
            <a:r>
              <a:rPr sz="2400" b="1" spc="-4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C00000"/>
                </a:solidFill>
                <a:latin typeface="Segoe Print"/>
                <a:cs typeface="Segoe Print"/>
              </a:rPr>
              <a:t>handle</a:t>
            </a:r>
            <a:r>
              <a:rPr sz="2400" b="1" spc="-3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Segoe Print"/>
                <a:cs typeface="Segoe Print"/>
              </a:rPr>
              <a:t>this.</a:t>
            </a:r>
            <a:endParaRPr sz="2400">
              <a:latin typeface="Segoe Print"/>
              <a:cs typeface="Segoe Prin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787" y="582548"/>
            <a:ext cx="10586085" cy="569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</a:t>
            </a:r>
            <a:r>
              <a:rPr sz="24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Tree</a:t>
            </a:r>
            <a:r>
              <a:rPr sz="2400" b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-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Summary:</a:t>
            </a:r>
            <a:endParaRPr sz="2400">
              <a:latin typeface="Calibri"/>
              <a:cs typeface="Calibri"/>
            </a:endParaRPr>
          </a:p>
          <a:p>
            <a:pPr marL="355600" marR="445770" indent="-343535">
              <a:lnSpc>
                <a:spcPct val="150000"/>
              </a:lnSpc>
              <a:spcBef>
                <a:spcPts val="70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Enables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significant</a:t>
            </a:r>
            <a:r>
              <a:rPr sz="2400" b="1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reduction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time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complexity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support </a:t>
            </a:r>
            <a:r>
              <a:rPr sz="2400" dirty="0">
                <a:latin typeface="Segoe Print"/>
                <a:cs typeface="Segoe Print"/>
              </a:rPr>
              <a:t>nearest</a:t>
            </a:r>
            <a:r>
              <a:rPr sz="2400" spc="-1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neighbor</a:t>
            </a:r>
            <a:r>
              <a:rPr sz="2400" spc="-10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algorithm.</a:t>
            </a: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Search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O(logn).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3600"/>
              </a:spcBef>
              <a:buChar char="-"/>
              <a:tabLst>
                <a:tab pos="355600" algn="l"/>
              </a:tabLst>
            </a:pPr>
            <a:r>
              <a:rPr sz="2400" spc="-25" dirty="0">
                <a:latin typeface="Segoe Print"/>
                <a:cs typeface="Segoe Print"/>
              </a:rPr>
              <a:t>Trade-</a:t>
            </a:r>
            <a:r>
              <a:rPr sz="2400" spc="-10" dirty="0">
                <a:latin typeface="Segoe Print"/>
                <a:cs typeface="Segoe Print"/>
              </a:rPr>
              <a:t>offs:</a:t>
            </a: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Computational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overhead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construct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tree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O(n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logn).</a:t>
            </a: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Space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complexity: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O(n).</a:t>
            </a: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May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miss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neighbors.</a:t>
            </a:r>
            <a:endParaRPr sz="2400">
              <a:latin typeface="Segoe Print"/>
              <a:cs typeface="Segoe Print"/>
            </a:endParaRPr>
          </a:p>
          <a:p>
            <a:pPr marL="812800" marR="5080" lvl="1" indent="-342900">
              <a:lnSpc>
                <a:spcPct val="150000"/>
              </a:lnSpc>
              <a:spcBef>
                <a:spcPts val="5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Performance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is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degraded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with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increase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dimension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of </a:t>
            </a:r>
            <a:r>
              <a:rPr sz="2400" dirty="0">
                <a:latin typeface="Segoe Print"/>
                <a:cs typeface="Segoe Print"/>
              </a:rPr>
              <a:t>future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space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</a:t>
            </a:r>
            <a:r>
              <a:rPr sz="2400" b="1" dirty="0">
                <a:latin typeface="Segoe Print"/>
                <a:cs typeface="Segoe Print"/>
              </a:rPr>
              <a:t>Curse</a:t>
            </a:r>
            <a:r>
              <a:rPr sz="2400" b="1" spc="-3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of</a:t>
            </a:r>
            <a:r>
              <a:rPr sz="2400" b="1" spc="-30" dirty="0">
                <a:latin typeface="Segoe Print"/>
                <a:cs typeface="Segoe Print"/>
              </a:rPr>
              <a:t> </a:t>
            </a:r>
            <a:r>
              <a:rPr sz="2400" b="1" spc="-10" dirty="0">
                <a:latin typeface="Segoe Print"/>
                <a:cs typeface="Segoe Print"/>
              </a:rPr>
              <a:t>Dimensionality</a:t>
            </a:r>
            <a:r>
              <a:rPr sz="2400" spc="-10" dirty="0">
                <a:latin typeface="Segoe Print"/>
                <a:cs typeface="Segoe Print"/>
              </a:rPr>
              <a:t>).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35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Char char="-"/>
              <a:tabLst>
                <a:tab pos="355600" algn="l"/>
              </a:tabLst>
            </a:pPr>
            <a:r>
              <a:rPr spc="-20" dirty="0"/>
              <a:t>k-</a:t>
            </a:r>
            <a:r>
              <a:rPr dirty="0"/>
              <a:t>Nearest</a:t>
            </a:r>
            <a:r>
              <a:rPr spc="-75" dirty="0"/>
              <a:t> </a:t>
            </a:r>
            <a:r>
              <a:rPr dirty="0"/>
              <a:t>Neighbor</a:t>
            </a:r>
            <a:r>
              <a:rPr spc="-80" dirty="0"/>
              <a:t> </a:t>
            </a:r>
            <a:r>
              <a:rPr dirty="0"/>
              <a:t>(kNN)</a:t>
            </a:r>
            <a:r>
              <a:rPr spc="-90" dirty="0"/>
              <a:t> </a:t>
            </a:r>
            <a:r>
              <a:rPr dirty="0"/>
              <a:t>Algroithm</a:t>
            </a:r>
            <a:r>
              <a:rPr spc="-85" dirty="0"/>
              <a:t> </a:t>
            </a:r>
            <a:r>
              <a:rPr spc="-10" dirty="0"/>
              <a:t>Overview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Algorithm</a:t>
            </a:r>
            <a:r>
              <a:rPr spc="-70" dirty="0"/>
              <a:t> </a:t>
            </a:r>
            <a:r>
              <a:rPr spc="-10" dirty="0"/>
              <a:t>Formulation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Distance</a:t>
            </a:r>
            <a:r>
              <a:rPr spc="-45" dirty="0"/>
              <a:t> </a:t>
            </a:r>
            <a:r>
              <a:rPr spc="-10" dirty="0"/>
              <a:t>Metrics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Choice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k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Algorithm</a:t>
            </a:r>
            <a:r>
              <a:rPr spc="-15" dirty="0"/>
              <a:t> </a:t>
            </a:r>
            <a:r>
              <a:rPr spc="-10" dirty="0"/>
              <a:t>Convergence</a:t>
            </a: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355600" algn="l"/>
              </a:tabLst>
            </a:pPr>
            <a:r>
              <a:rPr dirty="0"/>
              <a:t>Storage,</a:t>
            </a:r>
            <a:r>
              <a:rPr spc="-35" dirty="0"/>
              <a:t> </a:t>
            </a:r>
            <a:r>
              <a:rPr dirty="0"/>
              <a:t>Time</a:t>
            </a:r>
            <a:r>
              <a:rPr spc="-55" dirty="0"/>
              <a:t> </a:t>
            </a:r>
            <a:r>
              <a:rPr dirty="0"/>
              <a:t>Complexity</a:t>
            </a:r>
            <a:r>
              <a:rPr spc="-65" dirty="0"/>
              <a:t> </a:t>
            </a:r>
            <a:r>
              <a:rPr spc="-10" dirty="0"/>
              <a:t>Analysis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dirty="0"/>
              <a:t>Fast </a:t>
            </a:r>
            <a:r>
              <a:rPr spc="-25" dirty="0"/>
              <a:t>kNN</a:t>
            </a: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Segoe Print"/>
              <a:buChar char="-"/>
              <a:tabLst>
                <a:tab pos="355600" algn="l"/>
              </a:tabLst>
            </a:pP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The</a:t>
            </a:r>
            <a:r>
              <a:rPr b="1" spc="-1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Curse</a:t>
            </a:r>
            <a:r>
              <a:rPr b="1" spc="-1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b="1" dirty="0">
                <a:solidFill>
                  <a:srgbClr val="C00000"/>
                </a:solidFill>
                <a:latin typeface="Segoe Print"/>
                <a:cs typeface="Segoe Print"/>
              </a:rPr>
              <a:t>of</a:t>
            </a:r>
            <a:r>
              <a:rPr b="1" spc="-10" dirty="0">
                <a:solidFill>
                  <a:srgbClr val="C00000"/>
                </a:solidFill>
                <a:latin typeface="Segoe Print"/>
                <a:cs typeface="Segoe Print"/>
              </a:rPr>
              <a:t> Dimensionality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586485"/>
            <a:ext cx="10941050" cy="545782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Curse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Dimensionality:</a:t>
            </a:r>
            <a:endParaRPr sz="2400">
              <a:latin typeface="Calibri"/>
              <a:cs typeface="Calibri"/>
            </a:endParaRPr>
          </a:p>
          <a:p>
            <a:pPr marL="355600" marR="231140" indent="-342900">
              <a:lnSpc>
                <a:spcPct val="100000"/>
              </a:lnSpc>
              <a:spcBef>
                <a:spcPts val="122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Refers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problems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or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phenomena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associated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with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classifying, </a:t>
            </a:r>
            <a:r>
              <a:rPr sz="2400" dirty="0">
                <a:latin typeface="Segoe Print"/>
                <a:cs typeface="Segoe Print"/>
              </a:rPr>
              <a:t>analyzing</a:t>
            </a:r>
            <a:r>
              <a:rPr sz="2400" spc="-7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and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organizing</a:t>
            </a:r>
            <a:r>
              <a:rPr sz="2400" spc="-7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high-</a:t>
            </a:r>
            <a:r>
              <a:rPr sz="2400" dirty="0">
                <a:latin typeface="Segoe Print"/>
                <a:cs typeface="Segoe Print"/>
              </a:rPr>
              <a:t>dimensional</a:t>
            </a:r>
            <a:r>
              <a:rPr sz="2400" spc="-7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spaces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that </a:t>
            </a:r>
            <a:r>
              <a:rPr sz="2400" dirty="0">
                <a:latin typeface="Segoe Print"/>
                <a:cs typeface="Segoe Print"/>
              </a:rPr>
              <a:t>do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not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arise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low-</a:t>
            </a:r>
            <a:r>
              <a:rPr sz="2400" dirty="0">
                <a:latin typeface="Segoe Print"/>
                <a:cs typeface="Segoe Print"/>
              </a:rPr>
              <a:t>dimensional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settings.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288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For</a:t>
            </a:r>
            <a:r>
              <a:rPr sz="24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high-dimensional</a:t>
            </a:r>
            <a:r>
              <a:rPr sz="2400" spc="-5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datasets,</a:t>
            </a:r>
            <a:r>
              <a:rPr sz="2400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the</a:t>
            </a:r>
            <a:r>
              <a:rPr sz="24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size</a:t>
            </a:r>
            <a:r>
              <a:rPr sz="2400" b="1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of</a:t>
            </a:r>
            <a:r>
              <a:rPr sz="2400" spc="-3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data</a:t>
            </a:r>
            <a:r>
              <a:rPr sz="2400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space</a:t>
            </a:r>
            <a:r>
              <a:rPr sz="2400" b="1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is</a:t>
            </a:r>
            <a:r>
              <a:rPr sz="2400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Segoe Print"/>
                <a:cs typeface="Segoe Print"/>
              </a:rPr>
              <a:t>huge</a:t>
            </a:r>
            <a:r>
              <a:rPr sz="2400" spc="-10" dirty="0">
                <a:solidFill>
                  <a:srgbClr val="00AF50"/>
                </a:solidFill>
                <a:latin typeface="Segoe Print"/>
                <a:cs typeface="Segoe Print"/>
              </a:rPr>
              <a:t>.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288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other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words,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size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feature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space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grows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exponentially</a:t>
            </a:r>
            <a:endParaRPr sz="2400">
              <a:latin typeface="Segoe Print"/>
              <a:cs typeface="Segoe Prin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Segoe Print"/>
                <a:cs typeface="Segoe Print"/>
              </a:rPr>
              <a:t>with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number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dimensions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(d)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sets.</a:t>
            </a:r>
            <a:endParaRPr sz="2400">
              <a:latin typeface="Segoe Print"/>
              <a:cs typeface="Segoe Print"/>
            </a:endParaRPr>
          </a:p>
          <a:p>
            <a:pPr marL="355600" marR="5080" indent="-342900">
              <a:lnSpc>
                <a:spcPct val="100000"/>
              </a:lnSpc>
              <a:spcBef>
                <a:spcPts val="288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ensure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points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stay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close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each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other,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size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(n)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the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set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must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also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have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exponential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growth.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That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means,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need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50" dirty="0">
                <a:latin typeface="Segoe Print"/>
                <a:cs typeface="Segoe Print"/>
              </a:rPr>
              <a:t>a </a:t>
            </a:r>
            <a:r>
              <a:rPr sz="2400" dirty="0">
                <a:latin typeface="Segoe Print"/>
                <a:cs typeface="Segoe Print"/>
              </a:rPr>
              <a:t>very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large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dataset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maintain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density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high </a:t>
            </a:r>
            <a:r>
              <a:rPr sz="2400" dirty="0">
                <a:latin typeface="Segoe Print"/>
                <a:cs typeface="Segoe Print"/>
              </a:rPr>
              <a:t>dimensional</a:t>
            </a:r>
            <a:r>
              <a:rPr sz="2400" spc="-18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space.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708" y="3759"/>
            <a:ext cx="69424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9928" y="2821206"/>
            <a:ext cx="1699260" cy="17633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876" y="556005"/>
            <a:ext cx="10144760" cy="343979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Curse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Dimensionality:</a:t>
            </a:r>
            <a:endParaRPr sz="24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465"/>
              </a:spcBef>
            </a:pP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-</a:t>
            </a:r>
            <a:r>
              <a:rPr sz="2400" spc="15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For</a:t>
            </a:r>
            <a:r>
              <a:rPr sz="2400" spc="-3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high-dimensional</a:t>
            </a:r>
            <a:r>
              <a:rPr sz="2400" spc="-5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datasets,</a:t>
            </a:r>
            <a:r>
              <a:rPr sz="2400" spc="-3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the</a:t>
            </a:r>
            <a:r>
              <a:rPr sz="2400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size</a:t>
            </a:r>
            <a:r>
              <a:rPr sz="2400" b="1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of</a:t>
            </a:r>
            <a:r>
              <a:rPr sz="2400" spc="-2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data</a:t>
            </a:r>
            <a:r>
              <a:rPr sz="2400" spc="-3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space</a:t>
            </a:r>
            <a:r>
              <a:rPr sz="2400" b="1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is</a:t>
            </a:r>
            <a:r>
              <a:rPr sz="24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Segoe Print"/>
                <a:cs typeface="Segoe Print"/>
              </a:rPr>
              <a:t>huge</a:t>
            </a:r>
            <a:r>
              <a:rPr sz="2400" spc="-10" dirty="0">
                <a:solidFill>
                  <a:srgbClr val="00AF50"/>
                </a:solidFill>
                <a:latin typeface="Segoe Print"/>
                <a:cs typeface="Segoe Print"/>
              </a:rPr>
              <a:t>.</a:t>
            </a:r>
            <a:endParaRPr sz="2400">
              <a:latin typeface="Segoe Print"/>
              <a:cs typeface="Segoe Print"/>
            </a:endParaRPr>
          </a:p>
          <a:p>
            <a:pPr marL="12700" marR="4777105">
              <a:lnSpc>
                <a:spcPct val="100000"/>
              </a:lnSpc>
              <a:spcBef>
                <a:spcPts val="3795"/>
              </a:spcBef>
            </a:pP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exponentially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large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number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cells,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need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</a:t>
            </a:r>
            <a:r>
              <a:rPr sz="2400" spc="-10" dirty="0">
                <a:latin typeface="Segoe Print"/>
                <a:cs typeface="Segoe Print"/>
              </a:rPr>
              <a:t> exponentially </a:t>
            </a:r>
            <a:r>
              <a:rPr sz="2400" dirty="0">
                <a:latin typeface="Segoe Print"/>
                <a:cs typeface="Segoe Print"/>
              </a:rPr>
              <a:t>large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amount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to </a:t>
            </a:r>
            <a:r>
              <a:rPr sz="2400" dirty="0">
                <a:latin typeface="Segoe Print"/>
                <a:cs typeface="Segoe Print"/>
              </a:rPr>
              <a:t>ensure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that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cells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are</a:t>
            </a:r>
            <a:r>
              <a:rPr sz="2400" spc="-25" dirty="0">
                <a:latin typeface="Segoe Print"/>
                <a:cs typeface="Segoe Print"/>
              </a:rPr>
              <a:t> not </a:t>
            </a:r>
            <a:r>
              <a:rPr sz="2400" spc="-10" dirty="0">
                <a:latin typeface="Segoe Print"/>
                <a:cs typeface="Segoe Print"/>
              </a:rPr>
              <a:t>empty.</a:t>
            </a:r>
            <a:endParaRPr sz="2400">
              <a:latin typeface="Segoe Print"/>
              <a:cs typeface="Segoe Prin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5992" y="2854827"/>
            <a:ext cx="1447800" cy="18226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45297" y="5188458"/>
            <a:ext cx="885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Print"/>
                <a:cs typeface="Segoe Print"/>
              </a:rPr>
              <a:t>Ref:</a:t>
            </a:r>
            <a:r>
              <a:rPr sz="1800" spc="-25" dirty="0">
                <a:latin typeface="Segoe Print"/>
                <a:cs typeface="Segoe Print"/>
              </a:rPr>
              <a:t> CB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0595" y="2159662"/>
            <a:ext cx="2367847" cy="25093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876" y="741679"/>
            <a:ext cx="3655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Curse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Dimensionality: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64423" y="899160"/>
            <a:ext cx="3618865" cy="3618865"/>
            <a:chOff x="7964423" y="899160"/>
            <a:chExt cx="3618865" cy="3618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9" y="1257300"/>
              <a:ext cx="2897886" cy="28978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64423" y="899160"/>
              <a:ext cx="3618737" cy="36187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78669" y="2656077"/>
              <a:ext cx="102615" cy="1026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503158" y="1437893"/>
              <a:ext cx="2410460" cy="1322705"/>
            </a:xfrm>
            <a:custGeom>
              <a:avLst/>
              <a:gdLst/>
              <a:ahLst/>
              <a:cxnLst/>
              <a:rect l="l" t="t" r="r" b="b"/>
              <a:pathLst>
                <a:path w="2410459" h="1322705">
                  <a:moveTo>
                    <a:pt x="2410460" y="384048"/>
                  </a:moveTo>
                  <a:lnTo>
                    <a:pt x="2326640" y="399669"/>
                  </a:lnTo>
                  <a:lnTo>
                    <a:pt x="2343912" y="422478"/>
                  </a:lnTo>
                  <a:lnTo>
                    <a:pt x="1234617" y="1263700"/>
                  </a:lnTo>
                  <a:lnTo>
                    <a:pt x="59804" y="48183"/>
                  </a:lnTo>
                  <a:lnTo>
                    <a:pt x="69329" y="38989"/>
                  </a:lnTo>
                  <a:lnTo>
                    <a:pt x="80391" y="28321"/>
                  </a:lnTo>
                  <a:lnTo>
                    <a:pt x="0" y="0"/>
                  </a:lnTo>
                  <a:lnTo>
                    <a:pt x="25527" y="81280"/>
                  </a:lnTo>
                  <a:lnTo>
                    <a:pt x="46113" y="61417"/>
                  </a:lnTo>
                  <a:lnTo>
                    <a:pt x="1219327" y="1275295"/>
                  </a:lnTo>
                  <a:lnTo>
                    <a:pt x="1176909" y="1307465"/>
                  </a:lnTo>
                  <a:lnTo>
                    <a:pt x="1188339" y="1322705"/>
                  </a:lnTo>
                  <a:lnTo>
                    <a:pt x="2355469" y="437730"/>
                  </a:lnTo>
                  <a:lnTo>
                    <a:pt x="2372741" y="460502"/>
                  </a:lnTo>
                  <a:lnTo>
                    <a:pt x="2395296" y="414782"/>
                  </a:lnTo>
                  <a:lnTo>
                    <a:pt x="2410460" y="384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26623" y="2324100"/>
              <a:ext cx="612648" cy="2057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63227" y="1764792"/>
              <a:ext cx="102107" cy="201167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6240" y="3075432"/>
            <a:ext cx="5687568" cy="9570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6240" y="4698491"/>
            <a:ext cx="7313676" cy="13517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0895" y="1543811"/>
            <a:ext cx="4905756" cy="22097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7780" y="1991867"/>
            <a:ext cx="3587496" cy="34747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98380" y="5818632"/>
            <a:ext cx="2080260" cy="7863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876" y="741679"/>
            <a:ext cx="3655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Curse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Dimensionality: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0916" y="1518791"/>
            <a:ext cx="11154410" cy="4333875"/>
            <a:chOff x="470916" y="1518791"/>
            <a:chExt cx="11154410" cy="4333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0218" y="1518791"/>
              <a:ext cx="5444898" cy="43334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532" y="2068068"/>
              <a:ext cx="2897886" cy="28978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916" y="1709928"/>
              <a:ext cx="3618738" cy="36187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5161" y="3466845"/>
              <a:ext cx="102615" cy="10261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09650" y="2248661"/>
              <a:ext cx="2410460" cy="1322705"/>
            </a:xfrm>
            <a:custGeom>
              <a:avLst/>
              <a:gdLst/>
              <a:ahLst/>
              <a:cxnLst/>
              <a:rect l="l" t="t" r="r" b="b"/>
              <a:pathLst>
                <a:path w="2410460" h="1322704">
                  <a:moveTo>
                    <a:pt x="2410460" y="384048"/>
                  </a:moveTo>
                  <a:lnTo>
                    <a:pt x="2326640" y="399669"/>
                  </a:lnTo>
                  <a:lnTo>
                    <a:pt x="2343912" y="422478"/>
                  </a:lnTo>
                  <a:lnTo>
                    <a:pt x="1234617" y="1263700"/>
                  </a:lnTo>
                  <a:lnTo>
                    <a:pt x="59829" y="48158"/>
                  </a:lnTo>
                  <a:lnTo>
                    <a:pt x="69303" y="38989"/>
                  </a:lnTo>
                  <a:lnTo>
                    <a:pt x="80352" y="28321"/>
                  </a:lnTo>
                  <a:lnTo>
                    <a:pt x="0" y="0"/>
                  </a:lnTo>
                  <a:lnTo>
                    <a:pt x="25565" y="81280"/>
                  </a:lnTo>
                  <a:lnTo>
                    <a:pt x="46075" y="61442"/>
                  </a:lnTo>
                  <a:lnTo>
                    <a:pt x="1219327" y="1275295"/>
                  </a:lnTo>
                  <a:lnTo>
                    <a:pt x="1176909" y="1307465"/>
                  </a:lnTo>
                  <a:lnTo>
                    <a:pt x="1188339" y="1322705"/>
                  </a:lnTo>
                  <a:lnTo>
                    <a:pt x="2355469" y="437730"/>
                  </a:lnTo>
                  <a:lnTo>
                    <a:pt x="2372741" y="460502"/>
                  </a:lnTo>
                  <a:lnTo>
                    <a:pt x="2395296" y="414782"/>
                  </a:lnTo>
                  <a:lnTo>
                    <a:pt x="2410460" y="384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3116" y="3136391"/>
              <a:ext cx="612647" cy="2042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9719" y="2577083"/>
              <a:ext cx="102107" cy="1996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50614" y="2055876"/>
              <a:ext cx="2625725" cy="519430"/>
            </a:xfrm>
            <a:custGeom>
              <a:avLst/>
              <a:gdLst/>
              <a:ahLst/>
              <a:cxnLst/>
              <a:rect l="l" t="t" r="r" b="b"/>
              <a:pathLst>
                <a:path w="2625725" h="519430">
                  <a:moveTo>
                    <a:pt x="2488184" y="349758"/>
                  </a:moveTo>
                  <a:lnTo>
                    <a:pt x="2471547" y="384048"/>
                  </a:lnTo>
                  <a:lnTo>
                    <a:pt x="2608453" y="450850"/>
                  </a:lnTo>
                  <a:lnTo>
                    <a:pt x="2625217" y="416687"/>
                  </a:lnTo>
                  <a:lnTo>
                    <a:pt x="2488184" y="349758"/>
                  </a:lnTo>
                  <a:close/>
                </a:path>
                <a:path w="2625725" h="519430">
                  <a:moveTo>
                    <a:pt x="2526817" y="410792"/>
                  </a:moveTo>
                  <a:lnTo>
                    <a:pt x="2526684" y="410792"/>
                  </a:lnTo>
                  <a:lnTo>
                    <a:pt x="2538289" y="416422"/>
                  </a:lnTo>
                  <a:lnTo>
                    <a:pt x="2526817" y="410792"/>
                  </a:lnTo>
                  <a:close/>
                </a:path>
                <a:path w="2625725" h="519430">
                  <a:moveTo>
                    <a:pt x="2246249" y="236347"/>
                  </a:moveTo>
                  <a:lnTo>
                    <a:pt x="2230628" y="271018"/>
                  </a:lnTo>
                  <a:lnTo>
                    <a:pt x="2282548" y="294407"/>
                  </a:lnTo>
                  <a:lnTo>
                    <a:pt x="2363343" y="331977"/>
                  </a:lnTo>
                  <a:lnTo>
                    <a:pt x="2368677" y="334518"/>
                  </a:lnTo>
                  <a:lnTo>
                    <a:pt x="2385060" y="300227"/>
                  </a:lnTo>
                  <a:lnTo>
                    <a:pt x="2379726" y="297561"/>
                  </a:lnTo>
                  <a:lnTo>
                    <a:pt x="2297684" y="259334"/>
                  </a:lnTo>
                  <a:lnTo>
                    <a:pt x="2246249" y="236347"/>
                  </a:lnTo>
                  <a:close/>
                </a:path>
                <a:path w="2625725" h="519430">
                  <a:moveTo>
                    <a:pt x="1998472" y="133985"/>
                  </a:moveTo>
                  <a:lnTo>
                    <a:pt x="1985390" y="169799"/>
                  </a:lnTo>
                  <a:lnTo>
                    <a:pt x="1999627" y="175060"/>
                  </a:lnTo>
                  <a:lnTo>
                    <a:pt x="2039125" y="190149"/>
                  </a:lnTo>
                  <a:lnTo>
                    <a:pt x="2119825" y="222844"/>
                  </a:lnTo>
                  <a:lnTo>
                    <a:pt x="2126107" y="225551"/>
                  </a:lnTo>
                  <a:lnTo>
                    <a:pt x="2141093" y="190626"/>
                  </a:lnTo>
                  <a:lnTo>
                    <a:pt x="2133600" y="187325"/>
                  </a:lnTo>
                  <a:lnTo>
                    <a:pt x="2092452" y="170434"/>
                  </a:lnTo>
                  <a:lnTo>
                    <a:pt x="2051431" y="154050"/>
                  </a:lnTo>
                  <a:lnTo>
                    <a:pt x="1998472" y="133985"/>
                  </a:lnTo>
                  <a:close/>
                </a:path>
                <a:path w="2625725" h="519430">
                  <a:moveTo>
                    <a:pt x="1887493" y="95197"/>
                  </a:moveTo>
                  <a:lnTo>
                    <a:pt x="1753503" y="95197"/>
                  </a:lnTo>
                  <a:lnTo>
                    <a:pt x="1794001" y="106378"/>
                  </a:lnTo>
                  <a:lnTo>
                    <a:pt x="1834959" y="118457"/>
                  </a:lnTo>
                  <a:lnTo>
                    <a:pt x="1875146" y="131159"/>
                  </a:lnTo>
                  <a:lnTo>
                    <a:pt x="1878076" y="132207"/>
                  </a:lnTo>
                  <a:lnTo>
                    <a:pt x="1890140" y="96012"/>
                  </a:lnTo>
                  <a:lnTo>
                    <a:pt x="1887493" y="95197"/>
                  </a:lnTo>
                  <a:close/>
                </a:path>
                <a:path w="2625725" h="519430">
                  <a:moveTo>
                    <a:pt x="1794016" y="106378"/>
                  </a:moveTo>
                  <a:lnTo>
                    <a:pt x="1793829" y="106378"/>
                  </a:lnTo>
                  <a:lnTo>
                    <a:pt x="1796959" y="107245"/>
                  </a:lnTo>
                  <a:lnTo>
                    <a:pt x="1794016" y="106378"/>
                  </a:lnTo>
                  <a:close/>
                </a:path>
                <a:path w="2625725" h="519430">
                  <a:moveTo>
                    <a:pt x="1742567" y="53086"/>
                  </a:moveTo>
                  <a:lnTo>
                    <a:pt x="1733042" y="90043"/>
                  </a:lnTo>
                  <a:lnTo>
                    <a:pt x="1756481" y="96012"/>
                  </a:lnTo>
                  <a:lnTo>
                    <a:pt x="1753503" y="95197"/>
                  </a:lnTo>
                  <a:lnTo>
                    <a:pt x="1887493" y="95197"/>
                  </a:lnTo>
                  <a:lnTo>
                    <a:pt x="1845690" y="81914"/>
                  </a:lnTo>
                  <a:lnTo>
                    <a:pt x="1804289" y="69723"/>
                  </a:lnTo>
                  <a:lnTo>
                    <a:pt x="1763140" y="58420"/>
                  </a:lnTo>
                  <a:lnTo>
                    <a:pt x="1742567" y="53086"/>
                  </a:lnTo>
                  <a:close/>
                </a:path>
                <a:path w="2625725" h="519430">
                  <a:moveTo>
                    <a:pt x="1588628" y="59076"/>
                  </a:moveTo>
                  <a:lnTo>
                    <a:pt x="1622806" y="65277"/>
                  </a:lnTo>
                  <a:lnTo>
                    <a:pt x="1623859" y="59629"/>
                  </a:lnTo>
                  <a:lnTo>
                    <a:pt x="1592112" y="59629"/>
                  </a:lnTo>
                  <a:lnTo>
                    <a:pt x="1588628" y="59076"/>
                  </a:lnTo>
                  <a:close/>
                </a:path>
                <a:path w="2625725" h="519430">
                  <a:moveTo>
                    <a:pt x="1508271" y="47600"/>
                  </a:moveTo>
                  <a:lnTo>
                    <a:pt x="1551378" y="53167"/>
                  </a:lnTo>
                  <a:lnTo>
                    <a:pt x="1592112" y="59629"/>
                  </a:lnTo>
                  <a:lnTo>
                    <a:pt x="1623859" y="59629"/>
                  </a:lnTo>
                  <a:lnTo>
                    <a:pt x="1626037" y="47943"/>
                  </a:lnTo>
                  <a:lnTo>
                    <a:pt x="1511537" y="47943"/>
                  </a:lnTo>
                  <a:lnTo>
                    <a:pt x="1508271" y="47600"/>
                  </a:lnTo>
                  <a:close/>
                </a:path>
                <a:path w="2625725" h="519430">
                  <a:moveTo>
                    <a:pt x="1551439" y="53167"/>
                  </a:moveTo>
                  <a:lnTo>
                    <a:pt x="1551084" y="53167"/>
                  </a:lnTo>
                  <a:lnTo>
                    <a:pt x="1553036" y="53421"/>
                  </a:lnTo>
                  <a:lnTo>
                    <a:pt x="1551439" y="53167"/>
                  </a:lnTo>
                  <a:close/>
                </a:path>
                <a:path w="2625725" h="519430">
                  <a:moveTo>
                    <a:pt x="1508252" y="47600"/>
                  </a:moveTo>
                  <a:lnTo>
                    <a:pt x="1510776" y="47943"/>
                  </a:lnTo>
                  <a:lnTo>
                    <a:pt x="1510914" y="47943"/>
                  </a:lnTo>
                  <a:lnTo>
                    <a:pt x="1508252" y="47600"/>
                  </a:lnTo>
                  <a:close/>
                </a:path>
                <a:path w="2625725" h="519430">
                  <a:moveTo>
                    <a:pt x="1477518" y="6096"/>
                  </a:moveTo>
                  <a:lnTo>
                    <a:pt x="1473454" y="43941"/>
                  </a:lnTo>
                  <a:lnTo>
                    <a:pt x="1511537" y="47943"/>
                  </a:lnTo>
                  <a:lnTo>
                    <a:pt x="1626037" y="47943"/>
                  </a:lnTo>
                  <a:lnTo>
                    <a:pt x="1629790" y="27812"/>
                  </a:lnTo>
                  <a:lnTo>
                    <a:pt x="1597914" y="21971"/>
                  </a:lnTo>
                  <a:lnTo>
                    <a:pt x="1556512" y="15494"/>
                  </a:lnTo>
                  <a:lnTo>
                    <a:pt x="1515110" y="10033"/>
                  </a:lnTo>
                  <a:lnTo>
                    <a:pt x="1477518" y="6096"/>
                  </a:lnTo>
                  <a:close/>
                </a:path>
                <a:path w="2625725" h="519430">
                  <a:moveTo>
                    <a:pt x="1349375" y="0"/>
                  </a:moveTo>
                  <a:lnTo>
                    <a:pt x="1307719" y="635"/>
                  </a:lnTo>
                  <a:lnTo>
                    <a:pt x="1265174" y="3048"/>
                  </a:lnTo>
                  <a:lnTo>
                    <a:pt x="1220724" y="7620"/>
                  </a:lnTo>
                  <a:lnTo>
                    <a:pt x="1206754" y="9525"/>
                  </a:lnTo>
                  <a:lnTo>
                    <a:pt x="1211961" y="47244"/>
                  </a:lnTo>
                  <a:lnTo>
                    <a:pt x="1224345" y="45523"/>
                  </a:lnTo>
                  <a:lnTo>
                    <a:pt x="1266829" y="41274"/>
                  </a:lnTo>
                  <a:lnTo>
                    <a:pt x="1265531" y="41274"/>
                  </a:lnTo>
                  <a:lnTo>
                    <a:pt x="1308504" y="38786"/>
                  </a:lnTo>
                  <a:lnTo>
                    <a:pt x="1305449" y="38786"/>
                  </a:lnTo>
                  <a:lnTo>
                    <a:pt x="1349263" y="38105"/>
                  </a:lnTo>
                  <a:lnTo>
                    <a:pt x="1361063" y="38105"/>
                  </a:lnTo>
                  <a:lnTo>
                    <a:pt x="1361539" y="9525"/>
                  </a:lnTo>
                  <a:lnTo>
                    <a:pt x="1361647" y="3048"/>
                  </a:lnTo>
                  <a:lnTo>
                    <a:pt x="1361694" y="253"/>
                  </a:lnTo>
                  <a:lnTo>
                    <a:pt x="1349375" y="0"/>
                  </a:lnTo>
                  <a:close/>
                </a:path>
                <a:path w="2625725" h="519430">
                  <a:moveTo>
                    <a:pt x="1361063" y="38105"/>
                  </a:moveTo>
                  <a:lnTo>
                    <a:pt x="1349263" y="38105"/>
                  </a:lnTo>
                  <a:lnTo>
                    <a:pt x="1361059" y="38353"/>
                  </a:lnTo>
                  <a:lnTo>
                    <a:pt x="1361063" y="38105"/>
                  </a:lnTo>
                  <a:close/>
                </a:path>
                <a:path w="2625725" h="519430">
                  <a:moveTo>
                    <a:pt x="1092962" y="29210"/>
                  </a:moveTo>
                  <a:lnTo>
                    <a:pt x="1079500" y="32003"/>
                  </a:lnTo>
                  <a:lnTo>
                    <a:pt x="1030097" y="43434"/>
                  </a:lnTo>
                  <a:lnTo>
                    <a:pt x="980059" y="56134"/>
                  </a:lnTo>
                  <a:lnTo>
                    <a:pt x="943863" y="66294"/>
                  </a:lnTo>
                  <a:lnTo>
                    <a:pt x="954024" y="102997"/>
                  </a:lnTo>
                  <a:lnTo>
                    <a:pt x="988725" y="93309"/>
                  </a:lnTo>
                  <a:lnTo>
                    <a:pt x="1037548" y="80855"/>
                  </a:lnTo>
                  <a:lnTo>
                    <a:pt x="1087016" y="69261"/>
                  </a:lnTo>
                  <a:lnTo>
                    <a:pt x="1100582" y="66548"/>
                  </a:lnTo>
                  <a:lnTo>
                    <a:pt x="1092962" y="29210"/>
                  </a:lnTo>
                  <a:close/>
                </a:path>
                <a:path w="2625725" h="519430">
                  <a:moveTo>
                    <a:pt x="833755" y="99822"/>
                  </a:moveTo>
                  <a:lnTo>
                    <a:pt x="826643" y="102108"/>
                  </a:lnTo>
                  <a:lnTo>
                    <a:pt x="775081" y="119379"/>
                  </a:lnTo>
                  <a:lnTo>
                    <a:pt x="723519" y="137668"/>
                  </a:lnTo>
                  <a:lnTo>
                    <a:pt x="689101" y="150368"/>
                  </a:lnTo>
                  <a:lnTo>
                    <a:pt x="702437" y="186182"/>
                  </a:lnTo>
                  <a:lnTo>
                    <a:pt x="736743" y="173348"/>
                  </a:lnTo>
                  <a:lnTo>
                    <a:pt x="786956" y="155567"/>
                  </a:lnTo>
                  <a:lnTo>
                    <a:pt x="838244" y="138379"/>
                  </a:lnTo>
                  <a:lnTo>
                    <a:pt x="845438" y="136144"/>
                  </a:lnTo>
                  <a:lnTo>
                    <a:pt x="833755" y="99822"/>
                  </a:lnTo>
                  <a:close/>
                </a:path>
                <a:path w="2625725" h="519430">
                  <a:moveTo>
                    <a:pt x="794650" y="152988"/>
                  </a:moveTo>
                  <a:lnTo>
                    <a:pt x="786936" y="155567"/>
                  </a:lnTo>
                  <a:lnTo>
                    <a:pt x="787314" y="155567"/>
                  </a:lnTo>
                  <a:lnTo>
                    <a:pt x="794650" y="152988"/>
                  </a:lnTo>
                  <a:close/>
                </a:path>
                <a:path w="2625725" h="519430">
                  <a:moveTo>
                    <a:pt x="840612" y="137668"/>
                  </a:moveTo>
                  <a:lnTo>
                    <a:pt x="838226" y="138379"/>
                  </a:lnTo>
                  <a:lnTo>
                    <a:pt x="838479" y="138379"/>
                  </a:lnTo>
                  <a:lnTo>
                    <a:pt x="840612" y="137668"/>
                  </a:lnTo>
                  <a:close/>
                </a:path>
                <a:path w="2625725" h="519430">
                  <a:moveTo>
                    <a:pt x="582168" y="192024"/>
                  </a:moveTo>
                  <a:lnTo>
                    <a:pt x="571373" y="196341"/>
                  </a:lnTo>
                  <a:lnTo>
                    <a:pt x="521970" y="216788"/>
                  </a:lnTo>
                  <a:lnTo>
                    <a:pt x="473583" y="237489"/>
                  </a:lnTo>
                  <a:lnTo>
                    <a:pt x="440945" y="251952"/>
                  </a:lnTo>
                  <a:lnTo>
                    <a:pt x="441247" y="251952"/>
                  </a:lnTo>
                  <a:lnTo>
                    <a:pt x="456692" y="286765"/>
                  </a:lnTo>
                  <a:lnTo>
                    <a:pt x="487817" y="272918"/>
                  </a:lnTo>
                  <a:lnTo>
                    <a:pt x="535452" y="252486"/>
                  </a:lnTo>
                  <a:lnTo>
                    <a:pt x="596264" y="227329"/>
                  </a:lnTo>
                  <a:lnTo>
                    <a:pt x="582168" y="192024"/>
                  </a:lnTo>
                  <a:close/>
                </a:path>
                <a:path w="2625725" h="519430">
                  <a:moveTo>
                    <a:pt x="337058" y="299847"/>
                  </a:moveTo>
                  <a:lnTo>
                    <a:pt x="293624" y="320928"/>
                  </a:lnTo>
                  <a:lnTo>
                    <a:pt x="252730" y="341375"/>
                  </a:lnTo>
                  <a:lnTo>
                    <a:pt x="214122" y="361314"/>
                  </a:lnTo>
                  <a:lnTo>
                    <a:pt x="200151" y="368681"/>
                  </a:lnTo>
                  <a:lnTo>
                    <a:pt x="217932" y="402463"/>
                  </a:lnTo>
                  <a:lnTo>
                    <a:pt x="231648" y="395097"/>
                  </a:lnTo>
                  <a:lnTo>
                    <a:pt x="269882" y="375412"/>
                  </a:lnTo>
                  <a:lnTo>
                    <a:pt x="310514" y="355091"/>
                  </a:lnTo>
                  <a:lnTo>
                    <a:pt x="352418" y="334744"/>
                  </a:lnTo>
                  <a:lnTo>
                    <a:pt x="352253" y="334744"/>
                  </a:lnTo>
                  <a:lnTo>
                    <a:pt x="353314" y="334390"/>
                  </a:lnTo>
                  <a:lnTo>
                    <a:pt x="337058" y="299847"/>
                  </a:lnTo>
                  <a:close/>
                </a:path>
                <a:path w="2625725" h="519430">
                  <a:moveTo>
                    <a:pt x="353313" y="334390"/>
                  </a:moveTo>
                  <a:lnTo>
                    <a:pt x="352351" y="334744"/>
                  </a:lnTo>
                  <a:lnTo>
                    <a:pt x="352600" y="334744"/>
                  </a:lnTo>
                  <a:lnTo>
                    <a:pt x="353313" y="334390"/>
                  </a:lnTo>
                  <a:close/>
                </a:path>
                <a:path w="2625725" h="519430">
                  <a:moveTo>
                    <a:pt x="70889" y="350341"/>
                  </a:moveTo>
                  <a:lnTo>
                    <a:pt x="63849" y="352202"/>
                  </a:lnTo>
                  <a:lnTo>
                    <a:pt x="57999" y="356588"/>
                  </a:lnTo>
                  <a:lnTo>
                    <a:pt x="54101" y="363093"/>
                  </a:lnTo>
                  <a:lnTo>
                    <a:pt x="0" y="518922"/>
                  </a:lnTo>
                  <a:lnTo>
                    <a:pt x="50851" y="509650"/>
                  </a:lnTo>
                  <a:lnTo>
                    <a:pt x="40005" y="509650"/>
                  </a:lnTo>
                  <a:lnTo>
                    <a:pt x="17399" y="479044"/>
                  </a:lnTo>
                  <a:lnTo>
                    <a:pt x="24892" y="473583"/>
                  </a:lnTo>
                  <a:lnTo>
                    <a:pt x="35235" y="466254"/>
                  </a:lnTo>
                  <a:lnTo>
                    <a:pt x="45791" y="458889"/>
                  </a:lnTo>
                  <a:lnTo>
                    <a:pt x="65702" y="446064"/>
                  </a:lnTo>
                  <a:lnTo>
                    <a:pt x="90170" y="375665"/>
                  </a:lnTo>
                  <a:lnTo>
                    <a:pt x="91182" y="368125"/>
                  </a:lnTo>
                  <a:lnTo>
                    <a:pt x="89312" y="361061"/>
                  </a:lnTo>
                  <a:lnTo>
                    <a:pt x="84919" y="355234"/>
                  </a:lnTo>
                  <a:lnTo>
                    <a:pt x="78359" y="351409"/>
                  </a:lnTo>
                  <a:lnTo>
                    <a:pt x="70889" y="350341"/>
                  </a:lnTo>
                  <a:close/>
                </a:path>
                <a:path w="2625725" h="519430">
                  <a:moveTo>
                    <a:pt x="65702" y="446064"/>
                  </a:moveTo>
                  <a:lnTo>
                    <a:pt x="45791" y="458889"/>
                  </a:lnTo>
                  <a:lnTo>
                    <a:pt x="35235" y="466254"/>
                  </a:lnTo>
                  <a:lnTo>
                    <a:pt x="24892" y="473583"/>
                  </a:lnTo>
                  <a:lnTo>
                    <a:pt x="17399" y="479044"/>
                  </a:lnTo>
                  <a:lnTo>
                    <a:pt x="40005" y="509650"/>
                  </a:lnTo>
                  <a:lnTo>
                    <a:pt x="47350" y="504316"/>
                  </a:lnTo>
                  <a:lnTo>
                    <a:pt x="52573" y="500634"/>
                  </a:lnTo>
                  <a:lnTo>
                    <a:pt x="46736" y="500634"/>
                  </a:lnTo>
                  <a:lnTo>
                    <a:pt x="25400" y="475614"/>
                  </a:lnTo>
                  <a:lnTo>
                    <a:pt x="57464" y="469765"/>
                  </a:lnTo>
                  <a:lnTo>
                    <a:pt x="65702" y="446064"/>
                  </a:lnTo>
                  <a:close/>
                </a:path>
                <a:path w="2625725" h="519430">
                  <a:moveTo>
                    <a:pt x="173617" y="458889"/>
                  </a:moveTo>
                  <a:lnTo>
                    <a:pt x="117271" y="458889"/>
                  </a:lnTo>
                  <a:lnTo>
                    <a:pt x="116725" y="459104"/>
                  </a:lnTo>
                  <a:lnTo>
                    <a:pt x="103466" y="467233"/>
                  </a:lnTo>
                  <a:lnTo>
                    <a:pt x="103266" y="467383"/>
                  </a:lnTo>
                  <a:lnTo>
                    <a:pt x="91581" y="474757"/>
                  </a:lnTo>
                  <a:lnTo>
                    <a:pt x="90280" y="475614"/>
                  </a:lnTo>
                  <a:lnTo>
                    <a:pt x="78359" y="483235"/>
                  </a:lnTo>
                  <a:lnTo>
                    <a:pt x="67126" y="490598"/>
                  </a:lnTo>
                  <a:lnTo>
                    <a:pt x="56874" y="497554"/>
                  </a:lnTo>
                  <a:lnTo>
                    <a:pt x="56666" y="497747"/>
                  </a:lnTo>
                  <a:lnTo>
                    <a:pt x="47371" y="504316"/>
                  </a:lnTo>
                  <a:lnTo>
                    <a:pt x="40005" y="509650"/>
                  </a:lnTo>
                  <a:lnTo>
                    <a:pt x="50851" y="509650"/>
                  </a:lnTo>
                  <a:lnTo>
                    <a:pt x="162306" y="489331"/>
                  </a:lnTo>
                  <a:lnTo>
                    <a:pt x="177628" y="469765"/>
                  </a:lnTo>
                  <a:lnTo>
                    <a:pt x="177673" y="467233"/>
                  </a:lnTo>
                  <a:lnTo>
                    <a:pt x="174863" y="460170"/>
                  </a:lnTo>
                  <a:lnTo>
                    <a:pt x="173617" y="458889"/>
                  </a:lnTo>
                  <a:close/>
                </a:path>
                <a:path w="2625725" h="519430">
                  <a:moveTo>
                    <a:pt x="57464" y="469765"/>
                  </a:moveTo>
                  <a:lnTo>
                    <a:pt x="25400" y="475614"/>
                  </a:lnTo>
                  <a:lnTo>
                    <a:pt x="46736" y="500634"/>
                  </a:lnTo>
                  <a:lnTo>
                    <a:pt x="57464" y="469765"/>
                  </a:lnTo>
                  <a:close/>
                </a:path>
                <a:path w="2625725" h="519430">
                  <a:moveTo>
                    <a:pt x="117077" y="458889"/>
                  </a:moveTo>
                  <a:lnTo>
                    <a:pt x="57464" y="469765"/>
                  </a:lnTo>
                  <a:lnTo>
                    <a:pt x="46736" y="500634"/>
                  </a:lnTo>
                  <a:lnTo>
                    <a:pt x="52573" y="500634"/>
                  </a:lnTo>
                  <a:lnTo>
                    <a:pt x="58603" y="496381"/>
                  </a:lnTo>
                  <a:lnTo>
                    <a:pt x="67126" y="490598"/>
                  </a:lnTo>
                  <a:lnTo>
                    <a:pt x="78359" y="483235"/>
                  </a:lnTo>
                  <a:lnTo>
                    <a:pt x="90280" y="475614"/>
                  </a:lnTo>
                  <a:lnTo>
                    <a:pt x="91581" y="474757"/>
                  </a:lnTo>
                  <a:lnTo>
                    <a:pt x="105055" y="466254"/>
                  </a:lnTo>
                  <a:lnTo>
                    <a:pt x="117077" y="458889"/>
                  </a:lnTo>
                  <a:close/>
                </a:path>
                <a:path w="2625725" h="519430">
                  <a:moveTo>
                    <a:pt x="99695" y="425069"/>
                  </a:moveTo>
                  <a:lnTo>
                    <a:pt x="97409" y="426338"/>
                  </a:lnTo>
                  <a:lnTo>
                    <a:pt x="83312" y="434848"/>
                  </a:lnTo>
                  <a:lnTo>
                    <a:pt x="65702" y="446064"/>
                  </a:lnTo>
                  <a:lnTo>
                    <a:pt x="57464" y="469765"/>
                  </a:lnTo>
                  <a:lnTo>
                    <a:pt x="117077" y="458889"/>
                  </a:lnTo>
                  <a:lnTo>
                    <a:pt x="117206" y="458889"/>
                  </a:lnTo>
                  <a:lnTo>
                    <a:pt x="118999" y="457835"/>
                  </a:lnTo>
                  <a:lnTo>
                    <a:pt x="99695" y="425069"/>
                  </a:lnTo>
                  <a:close/>
                </a:path>
                <a:path w="2625725" h="519430">
                  <a:moveTo>
                    <a:pt x="155575" y="451865"/>
                  </a:moveTo>
                  <a:lnTo>
                    <a:pt x="117077" y="458889"/>
                  </a:lnTo>
                  <a:lnTo>
                    <a:pt x="116725" y="459104"/>
                  </a:lnTo>
                  <a:lnTo>
                    <a:pt x="117206" y="458889"/>
                  </a:lnTo>
                  <a:lnTo>
                    <a:pt x="173617" y="458889"/>
                  </a:lnTo>
                  <a:lnTo>
                    <a:pt x="169767" y="454929"/>
                  </a:lnTo>
                  <a:lnTo>
                    <a:pt x="163099" y="451998"/>
                  </a:lnTo>
                  <a:lnTo>
                    <a:pt x="155575" y="451865"/>
                  </a:lnTo>
                  <a:close/>
                </a:path>
              </a:pathLst>
            </a:custGeom>
            <a:solidFill>
              <a:srgbClr val="417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80331" y="1546860"/>
              <a:ext cx="1571243" cy="34747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876" y="3759"/>
            <a:ext cx="9307830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80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The</a:t>
            </a:r>
            <a:r>
              <a:rPr sz="24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Curse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of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Dimensionality</a:t>
            </a:r>
            <a:r>
              <a:rPr sz="2400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(Another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viewpoint):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2752344"/>
            <a:ext cx="1840992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831" y="2171700"/>
            <a:ext cx="1167384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26792" y="2104644"/>
            <a:ext cx="1571244" cy="3474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212" y="1071372"/>
            <a:ext cx="8807196" cy="2758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0507" y="2688335"/>
            <a:ext cx="1043940" cy="347472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445761" y="1744726"/>
          <a:ext cx="5135878" cy="1266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/>
                <a:gridCol w="855980"/>
                <a:gridCol w="855980"/>
                <a:gridCol w="855980"/>
                <a:gridCol w="855979"/>
                <a:gridCol w="855979"/>
              </a:tblGrid>
              <a:tr h="4749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784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0.1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0.19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0.65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0.995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1.000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1.000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0.9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0.81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0.35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0.005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0979" y="1595627"/>
            <a:ext cx="879347" cy="20878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4191" y="3619500"/>
            <a:ext cx="9147048" cy="27279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4191" y="4155947"/>
            <a:ext cx="10457688" cy="62179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47852" y="361892"/>
            <a:ext cx="2016366" cy="201636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0287" y="5068823"/>
            <a:ext cx="10451592" cy="669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876" y="3759"/>
            <a:ext cx="9307830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80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The</a:t>
            </a:r>
            <a:r>
              <a:rPr sz="24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Curse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of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Dimensionality</a:t>
            </a:r>
            <a:r>
              <a:rPr sz="2400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(Another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viewpoint):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2752344"/>
            <a:ext cx="1840992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831" y="2171700"/>
            <a:ext cx="1167384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26792" y="2104644"/>
            <a:ext cx="1571244" cy="3474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212" y="1071372"/>
            <a:ext cx="8807196" cy="2758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0507" y="2688335"/>
            <a:ext cx="1043940" cy="347472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327144" y="1744726"/>
          <a:ext cx="5585459" cy="1266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0910"/>
                <a:gridCol w="930910"/>
                <a:gridCol w="930909"/>
                <a:gridCol w="930910"/>
                <a:gridCol w="930910"/>
                <a:gridCol w="930910"/>
              </a:tblGrid>
              <a:tr h="4749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784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0.01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0.02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0.096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0.395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0.982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0.999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0.99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0.98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0.904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0.605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0.018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0.0004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0979" y="1595627"/>
            <a:ext cx="1030224" cy="20878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47852" y="361892"/>
            <a:ext cx="2016366" cy="20163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41679"/>
            <a:ext cx="11361420" cy="464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Curse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Dimensionality: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6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Connection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24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kNN: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15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With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increase</a:t>
            </a:r>
            <a:r>
              <a:rPr sz="2400" spc="-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number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features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or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number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dimensions</a:t>
            </a:r>
            <a:endParaRPr sz="2400">
              <a:latin typeface="Segoe Print"/>
              <a:cs typeface="Segoe Prin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feature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space,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data-</a:t>
            </a:r>
            <a:r>
              <a:rPr sz="2400" dirty="0">
                <a:latin typeface="Segoe Print"/>
                <a:cs typeface="Segoe Print"/>
              </a:rPr>
              <a:t>points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are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never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near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one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another.</a:t>
            </a:r>
            <a:endParaRPr sz="2400">
              <a:latin typeface="Segoe Print"/>
              <a:cs typeface="Segoe Print"/>
            </a:endParaRPr>
          </a:p>
          <a:p>
            <a:pPr marL="355600" marR="5080" indent="-342900">
              <a:lnSpc>
                <a:spcPct val="100000"/>
              </a:lnSpc>
              <a:spcBef>
                <a:spcPts val="288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kNN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algorithm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carries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out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predictions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about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test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assuming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have </a:t>
            </a:r>
            <a:r>
              <a:rPr sz="2400" spc="-25" dirty="0">
                <a:latin typeface="Segoe Print"/>
                <a:cs typeface="Segoe Print"/>
              </a:rPr>
              <a:t>data-</a:t>
            </a:r>
            <a:r>
              <a:rPr sz="2400" dirty="0">
                <a:latin typeface="Segoe Print"/>
                <a:cs typeface="Segoe Print"/>
              </a:rPr>
              <a:t>points</a:t>
            </a:r>
            <a:r>
              <a:rPr sz="2400" spc="-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near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test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that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are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0" dirty="0">
                <a:latin typeface="Segoe Print"/>
                <a:cs typeface="Segoe Print"/>
              </a:rPr>
              <a:t> test </a:t>
            </a:r>
            <a:r>
              <a:rPr sz="2400" spc="-10" dirty="0">
                <a:latin typeface="Segoe Print"/>
                <a:cs typeface="Segoe Print"/>
              </a:rPr>
              <a:t>point.</a:t>
            </a:r>
            <a:endParaRPr sz="2400">
              <a:latin typeface="Segoe Print"/>
              <a:cs typeface="Segoe Print"/>
            </a:endParaRPr>
          </a:p>
          <a:p>
            <a:pPr marL="355600" marR="978535" indent="-342900">
              <a:lnSpc>
                <a:spcPct val="100000"/>
              </a:lnSpc>
              <a:spcBef>
                <a:spcPts val="288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As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do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not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have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neighbors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high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dimensional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space,</a:t>
            </a:r>
            <a:r>
              <a:rPr sz="2400" spc="-5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kNN </a:t>
            </a:r>
            <a:r>
              <a:rPr sz="2400" dirty="0">
                <a:latin typeface="Segoe Print"/>
                <a:cs typeface="Segoe Print"/>
              </a:rPr>
              <a:t>becomes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vulnerable</a:t>
            </a:r>
            <a:r>
              <a:rPr sz="2400" spc="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and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sensitive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Curse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Dimensionality.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08151"/>
            <a:ext cx="11543665" cy="55803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3862704" algn="l"/>
              </a:tabLst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Curse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Dimensionality: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Why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does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kNN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work?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Two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related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explanations;</a:t>
            </a:r>
            <a:endParaRPr sz="2400">
              <a:latin typeface="Segoe Print"/>
              <a:cs typeface="Segoe Print"/>
            </a:endParaRPr>
          </a:p>
          <a:p>
            <a:pPr marL="355600" marR="66040" indent="-342900">
              <a:lnSpc>
                <a:spcPct val="100000"/>
              </a:lnSpc>
              <a:spcBef>
                <a:spcPts val="5"/>
              </a:spcBef>
              <a:buChar char="-"/>
              <a:tabLst>
                <a:tab pos="355600" algn="l"/>
              </a:tabLst>
            </a:pPr>
            <a:r>
              <a:rPr sz="2400" spc="-25" dirty="0">
                <a:latin typeface="Segoe Print"/>
                <a:cs typeface="Segoe Print"/>
              </a:rPr>
              <a:t>Real-</a:t>
            </a:r>
            <a:r>
              <a:rPr sz="2400" dirty="0">
                <a:latin typeface="Segoe Print"/>
                <a:cs typeface="Segoe Print"/>
              </a:rPr>
              <a:t>world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higher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dimensional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space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is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confined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region </a:t>
            </a:r>
            <a:r>
              <a:rPr sz="2400" dirty="0">
                <a:latin typeface="Segoe Print"/>
                <a:cs typeface="Segoe Print"/>
              </a:rPr>
              <a:t>with</a:t>
            </a:r>
            <a:r>
              <a:rPr sz="2400" spc="-8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effective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lower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dimensionality.</a:t>
            </a: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buFont typeface="Segoe Print"/>
              <a:buChar char="-"/>
              <a:tabLst>
                <a:tab pos="812800" algn="l"/>
              </a:tabLst>
            </a:pP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Dimensionality</a:t>
            </a:r>
            <a:r>
              <a:rPr sz="2400" b="1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Reduction</a:t>
            </a:r>
            <a:r>
              <a:rPr sz="2400" b="1" spc="-2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(to</a:t>
            </a:r>
            <a:r>
              <a:rPr sz="2400" b="1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be</a:t>
            </a:r>
            <a:r>
              <a:rPr sz="2400" b="1" spc="-5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covered</a:t>
            </a:r>
            <a:r>
              <a:rPr sz="2400" b="1" spc="-6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later</a:t>
            </a:r>
            <a:r>
              <a:rPr sz="2400" b="1" spc="-5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in</a:t>
            </a:r>
            <a:r>
              <a:rPr sz="2400" b="1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dirty="0">
                <a:solidFill>
                  <a:srgbClr val="00AF50"/>
                </a:solidFill>
                <a:latin typeface="Segoe Print"/>
                <a:cs typeface="Segoe Print"/>
              </a:rPr>
              <a:t>the</a:t>
            </a:r>
            <a:r>
              <a:rPr sz="2400" b="1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Segoe Print"/>
                <a:cs typeface="Segoe Print"/>
              </a:rPr>
              <a:t>course)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2880"/>
              </a:spcBef>
              <a:buChar char="-"/>
              <a:tabLst>
                <a:tab pos="355600" algn="l"/>
              </a:tabLst>
            </a:pPr>
            <a:r>
              <a:rPr sz="2400" spc="-25" dirty="0">
                <a:latin typeface="Segoe Print"/>
                <a:cs typeface="Segoe Print"/>
              </a:rPr>
              <a:t>Real-</a:t>
            </a:r>
            <a:r>
              <a:rPr sz="2400" dirty="0">
                <a:latin typeface="Segoe Print"/>
                <a:cs typeface="Segoe Print"/>
              </a:rPr>
              <a:t>world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exhibits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smoothness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that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enables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us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make</a:t>
            </a:r>
            <a:endParaRPr sz="2400">
              <a:latin typeface="Segoe Print"/>
              <a:cs typeface="Segoe Prin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Segoe Print"/>
                <a:cs typeface="Segoe Print"/>
              </a:rPr>
              <a:t>predictions</a:t>
            </a:r>
            <a:r>
              <a:rPr sz="2400" spc="-1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exploiting</a:t>
            </a:r>
            <a:r>
              <a:rPr sz="2400" spc="-18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interpolation</a:t>
            </a:r>
            <a:r>
              <a:rPr sz="2400" spc="-16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techniques.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288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example,</a:t>
            </a: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along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line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or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plane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higher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dimensional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space</a:t>
            </a:r>
            <a:endParaRPr sz="2400">
              <a:latin typeface="Segoe Print"/>
              <a:cs typeface="Segoe Print"/>
            </a:endParaRPr>
          </a:p>
          <a:p>
            <a:pPr marL="812800" marR="5080" lvl="1" indent="-342900">
              <a:lnSpc>
                <a:spcPct val="100000"/>
              </a:lnSpc>
              <a:spcBef>
                <a:spcPts val="5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detection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orientation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object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image;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lies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on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effectively </a:t>
            </a:r>
            <a:r>
              <a:rPr sz="2400" dirty="0">
                <a:latin typeface="Segoe Print"/>
                <a:cs typeface="Segoe Print"/>
              </a:rPr>
              <a:t>1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dimensional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manifold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probably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1million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dimensional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space.</a:t>
            </a: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Face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recognition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image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(50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or</a:t>
            </a:r>
            <a:r>
              <a:rPr sz="2400" spc="-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71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features).</a:t>
            </a:r>
            <a:endParaRPr sz="240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Spam </a:t>
            </a:r>
            <a:r>
              <a:rPr sz="2400" spc="-10" dirty="0">
                <a:latin typeface="Segoe Print"/>
                <a:cs typeface="Segoe Print"/>
              </a:rPr>
              <a:t>filter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329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TEMPLATE_THUMBS_INDEX" val="1、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9_1*f*4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1417</Words>
  <Application>Microsoft Office PowerPoint</Application>
  <PresentationFormat>Custom</PresentationFormat>
  <Paragraphs>302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k-Nearest Neighbor (kNN)</vt:lpstr>
      <vt:lpstr>Outline</vt:lpstr>
      <vt:lpstr>Supervised Learning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Outline</vt:lpstr>
      <vt:lpstr>k-Nearest Neighbor (kNN) Algorithm</vt:lpstr>
      <vt:lpstr>k-Nearest Neighbor (kNN) Algorithm</vt:lpstr>
      <vt:lpstr>Outline</vt:lpstr>
      <vt:lpstr>k-Nearest Neighbor (kNN) Algorithm Error Convergence:</vt:lpstr>
      <vt:lpstr>k-Nearest Neighbor (kNN) Algorithm</vt:lpstr>
      <vt:lpstr>PowerPoint Presentation</vt:lpstr>
      <vt:lpstr>k-Nearest Neighbor (kNN) Algorithm Error Convergence:</vt:lpstr>
      <vt:lpstr>PowerPoint Presentation</vt:lpstr>
      <vt:lpstr>k-Nearest Neighbor (kNN) Algorithm</vt:lpstr>
      <vt:lpstr>Outline</vt:lpstr>
      <vt:lpstr>k-Nearest Neighbor (kNN) Algorithm</vt:lpstr>
      <vt:lpstr>k-Nearest Neighbor (kNN) Algorithm</vt:lpstr>
      <vt:lpstr>Outline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Outline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 The Curse of Dimensionality (Another viewpoint):</vt:lpstr>
      <vt:lpstr>k-Nearest Neighbor (kNN) Algorithm The Curse of Dimensionality (Another viewpoint):</vt:lpstr>
      <vt:lpstr>k-Nearest Neighbor (kNN) Algorithm</vt:lpstr>
      <vt:lpstr>k-Nearest Neighbor (kNN) Algorithm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Zubair Khalid</dc:creator>
  <cp:lastModifiedBy>Shahid</cp:lastModifiedBy>
  <cp:revision>6</cp:revision>
  <dcterms:created xsi:type="dcterms:W3CDTF">2026-02-19T04:07:47Z</dcterms:created>
  <dcterms:modified xsi:type="dcterms:W3CDTF">2026-02-19T04:59:22Z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2023-01-23T00:00:00Z</vt:filetime>
  </property>
  <property fmtid="{D5CDD505-2E9C-101B-9397-08002B2CF9AE}" pid="3" name="Creator">
    <vt:lpwstr>Adobe Acrobat Pro 9.0.0</vt:lpwstr>
  </property>
  <property fmtid="{D5CDD505-2E9C-101B-9397-08002B2CF9AE}" pid="4" name="LastSaved">
    <vt:filetime>2026-02-19T00:00:00Z</vt:filetime>
  </property>
  <property fmtid="{D5CDD505-2E9C-101B-9397-08002B2CF9AE}" pid="5" name="Producer">
    <vt:lpwstr>Adobe Acrobat Pro 9.0.0</vt:lpwstr>
  </property>
</Properties>
</file>